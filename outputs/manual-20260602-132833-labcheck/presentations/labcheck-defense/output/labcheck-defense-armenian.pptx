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58dd1c7d454bad" /><Relationship Type="http://schemas.openxmlformats.org/officeDocument/2006/relationships/extended-properties" Target="/docProps/app.xml" Id="R19a04922326e479e" /><Relationship Type="http://schemas.openxmlformats.org/officeDocument/2006/relationships/officeDocument" Target="/ppt/presentation.xml" Id="Rfeb07d76d02444db" /></Relationships>
</file>

<file path=ppt/presentation.xml><?xml version="1.0" encoding="utf-8"?>
<p:presentation xmlns:p="http://schemas.openxmlformats.org/presentationml/2006/main">
  <p:sldMasterIdLst>
    <p:sldMasterId xmlns:r="http://schemas.openxmlformats.org/officeDocument/2006/relationships" id="2147483648" r:id="Rfe534c0ae687403f"/>
  </p:sldMasterIdLst>
  <p:notesMasterIdLst>
    <p:notesMasterId xmlns:r="http://schemas.openxmlformats.org/officeDocument/2006/relationships" r:id="R2989550fcf9a4225"/>
  </p:notesMasterIdLst>
  <p:sldIdLst>
    <p:sldId xmlns:r="http://schemas.openxmlformats.org/officeDocument/2006/relationships" id="256" r:id="Rdc5db5b822a94b27"/>
    <p:sldId xmlns:r="http://schemas.openxmlformats.org/officeDocument/2006/relationships" id="257" r:id="Rb5281793f0a049e7"/>
    <p:sldId xmlns:r="http://schemas.openxmlformats.org/officeDocument/2006/relationships" id="258" r:id="Rfb7efaa132fc4f3b"/>
    <p:sldId xmlns:r="http://schemas.openxmlformats.org/officeDocument/2006/relationships" id="259" r:id="R4eaa8d8db9ae427a"/>
    <p:sldId xmlns:r="http://schemas.openxmlformats.org/officeDocument/2006/relationships" id="260" r:id="Rd8bbd1b34e924d87"/>
    <p:sldId xmlns:r="http://schemas.openxmlformats.org/officeDocument/2006/relationships" id="261" r:id="R1e58ec88d520436b"/>
    <p:sldId xmlns:r="http://schemas.openxmlformats.org/officeDocument/2006/relationships" id="262" r:id="R34928bc34bf1494a"/>
    <p:sldId xmlns:r="http://schemas.openxmlformats.org/officeDocument/2006/relationships" id="263" r:id="R5de8ded0de4b4d17"/>
    <p:sldId xmlns:r="http://schemas.openxmlformats.org/officeDocument/2006/relationships" id="264" r:id="Rbe2d54aee2284518"/>
    <p:sldId xmlns:r="http://schemas.openxmlformats.org/officeDocument/2006/relationships" id="265" r:id="Rf3642c32481e4092"/>
    <p:sldId xmlns:r="http://schemas.openxmlformats.org/officeDocument/2006/relationships" id="266" r:id="Re862e27378ca4c6f"/>
    <p:sldId xmlns:r="http://schemas.openxmlformats.org/officeDocument/2006/relationships" id="267" r:id="R2ac94ae20e8c4733"/>
    <p:sldId xmlns:r="http://schemas.openxmlformats.org/officeDocument/2006/relationships" id="268" r:id="Rddd33a4c7e6b43e0"/>
    <p:sldId xmlns:r="http://schemas.openxmlformats.org/officeDocument/2006/relationships" id="269" r:id="Rd62211d62d994d5e"/>
    <p:sldId xmlns:r="http://schemas.openxmlformats.org/officeDocument/2006/relationships" id="270" r:id="Rcd17d5577cf84e25"/>
    <p:sldId xmlns:r="http://schemas.openxmlformats.org/officeDocument/2006/relationships" id="271" r:id="Rd040ed458d9d4c58"/>
    <p:sldId xmlns:r="http://schemas.openxmlformats.org/officeDocument/2006/relationships" id="272" r:id="Rcf3ff1c728774c79"/>
    <p:sldId xmlns:r="http://schemas.openxmlformats.org/officeDocument/2006/relationships" id="273" r:id="R2ffddde16286446e"/>
    <p:sldId xmlns:r="http://schemas.openxmlformats.org/officeDocument/2006/relationships" id="274" r:id="R0df8cbc0ac9343b0"/>
    <p:sldId xmlns:r="http://schemas.openxmlformats.org/officeDocument/2006/relationships" id="275" r:id="R993e00eb6355482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8d3b24390274ebf" /><Relationship Type="http://schemas.openxmlformats.org/officeDocument/2006/relationships/slideMaster" Target="/ppt/slideMasters/slideMaster1.xml" Id="Rfe534c0ae687403f" /><Relationship Type="http://schemas.openxmlformats.org/officeDocument/2006/relationships/notesMaster" Target="/ppt/notesMasters/notesMaster1.xml" Id="R2989550fcf9a4225" /><Relationship Type="http://schemas.openxmlformats.org/officeDocument/2006/relationships/presProps" Target="/ppt/presProps.xml" Id="R6b26ec3910b94902" /><Relationship Type="http://schemas.openxmlformats.org/officeDocument/2006/relationships/viewProps" Target="/ppt/viewProps.xml" Id="R58cc1379eca1448e" /><Relationship Type="http://schemas.openxmlformats.org/officeDocument/2006/relationships/tableStyles" Target="/ppt/tableStyles.xml" Id="R24b735b6798e44bc" /><Relationship Type="http://schemas.openxmlformats.org/officeDocument/2006/relationships/slide" Target="/ppt/slides/slide1.xml" Id="Rdc5db5b822a94b27" /><Relationship Type="http://schemas.openxmlformats.org/officeDocument/2006/relationships/slide" Target="/ppt/slides/slide2.xml" Id="Rb5281793f0a049e7" /><Relationship Type="http://schemas.openxmlformats.org/officeDocument/2006/relationships/slide" Target="/ppt/slides/slide3.xml" Id="Rfb7efaa132fc4f3b" /><Relationship Type="http://schemas.openxmlformats.org/officeDocument/2006/relationships/slide" Target="/ppt/slides/slide4.xml" Id="R4eaa8d8db9ae427a" /><Relationship Type="http://schemas.openxmlformats.org/officeDocument/2006/relationships/slide" Target="/ppt/slides/slide5.xml" Id="Rd8bbd1b34e924d87" /><Relationship Type="http://schemas.openxmlformats.org/officeDocument/2006/relationships/slide" Target="/ppt/slides/slide6.xml" Id="R1e58ec88d520436b" /><Relationship Type="http://schemas.openxmlformats.org/officeDocument/2006/relationships/slide" Target="/ppt/slides/slide7.xml" Id="R34928bc34bf1494a" /><Relationship Type="http://schemas.openxmlformats.org/officeDocument/2006/relationships/slide" Target="/ppt/slides/slide8.xml" Id="R5de8ded0de4b4d17" /><Relationship Type="http://schemas.openxmlformats.org/officeDocument/2006/relationships/slide" Target="/ppt/slides/slide9.xml" Id="Rbe2d54aee2284518" /><Relationship Type="http://schemas.openxmlformats.org/officeDocument/2006/relationships/slide" Target="/ppt/slides/slide10.xml" Id="Rf3642c32481e4092" /><Relationship Type="http://schemas.openxmlformats.org/officeDocument/2006/relationships/slide" Target="/ppt/slides/slide11.xml" Id="Re862e27378ca4c6f" /><Relationship Type="http://schemas.openxmlformats.org/officeDocument/2006/relationships/slide" Target="/ppt/slides/slide12.xml" Id="R2ac94ae20e8c4733" /><Relationship Type="http://schemas.openxmlformats.org/officeDocument/2006/relationships/slide" Target="/ppt/slides/slide13.xml" Id="Rddd33a4c7e6b43e0" /><Relationship Type="http://schemas.openxmlformats.org/officeDocument/2006/relationships/slide" Target="/ppt/slides/slide14.xml" Id="Rd62211d62d994d5e" /><Relationship Type="http://schemas.openxmlformats.org/officeDocument/2006/relationships/slide" Target="/ppt/slides/slide15.xml" Id="Rcd17d5577cf84e25" /><Relationship Type="http://schemas.openxmlformats.org/officeDocument/2006/relationships/slide" Target="/ppt/slides/slide16.xml" Id="Rd040ed458d9d4c58" /><Relationship Type="http://schemas.openxmlformats.org/officeDocument/2006/relationships/slide" Target="/ppt/slides/slide17.xml" Id="Rcf3ff1c728774c79" /><Relationship Type="http://schemas.openxmlformats.org/officeDocument/2006/relationships/slide" Target="/ppt/slides/slide18.xml" Id="R2ffddde16286446e" /><Relationship Type="http://schemas.openxmlformats.org/officeDocument/2006/relationships/slide" Target="/ppt/slides/slide19.xml" Id="R0df8cbc0ac9343b0" /><Relationship Type="http://schemas.openxmlformats.org/officeDocument/2006/relationships/slide" Target="/ppt/slides/slide20.xml" Id="R993e00eb635548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64355f133549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615675dd074ae3" /><Relationship Type="http://schemas.openxmlformats.org/officeDocument/2006/relationships/notesMaster" Target="/ppt/notesMasters/notesMaster1.xml" Id="R1f5d79bdf88f46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32a73933534621" /><Relationship Type="http://schemas.openxmlformats.org/officeDocument/2006/relationships/notesMaster" Target="/ppt/notesMasters/notesMaster1.xml" Id="Rc149278fa9534a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59acc943d4423e" /><Relationship Type="http://schemas.openxmlformats.org/officeDocument/2006/relationships/notesMaster" Target="/ppt/notesMasters/notesMaster1.xml" Id="R0c82155dabe548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21fb2a5fa74608" /><Relationship Type="http://schemas.openxmlformats.org/officeDocument/2006/relationships/notesMaster" Target="/ppt/notesMasters/notesMaster1.xml" Id="R681d9bbfe49148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72ab37cd574276" /><Relationship Type="http://schemas.openxmlformats.org/officeDocument/2006/relationships/notesMaster" Target="/ppt/notesMasters/notesMaster1.xml" Id="R7c36eb65fa674c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e2873e14f74509" /><Relationship Type="http://schemas.openxmlformats.org/officeDocument/2006/relationships/notesMaster" Target="/ppt/notesMasters/notesMaster1.xml" Id="R73072b6b4ed74e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ff58cfff85458f" /><Relationship Type="http://schemas.openxmlformats.org/officeDocument/2006/relationships/notesMaster" Target="/ppt/notesMasters/notesMaster1.xml" Id="R316843c828fb42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c611b619d94c40" /><Relationship Type="http://schemas.openxmlformats.org/officeDocument/2006/relationships/notesMaster" Target="/ppt/notesMasters/notesMaster1.xml" Id="Rf3263102de4b40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b72108202b4f26" /><Relationship Type="http://schemas.openxmlformats.org/officeDocument/2006/relationships/notesMaster" Target="/ppt/notesMasters/notesMaster1.xml" Id="Rc107a2ca296742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31aaa403ad459e" /><Relationship Type="http://schemas.openxmlformats.org/officeDocument/2006/relationships/notesMaster" Target="/ppt/notesMasters/notesMaster1.xml" Id="R223e666f6d234f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3199a230fd4971" /><Relationship Type="http://schemas.openxmlformats.org/officeDocument/2006/relationships/notesMaster" Target="/ppt/notesMasters/notesMaster1.xml" Id="Rcf4f6ef5e22f49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0cda2542ce4532" /><Relationship Type="http://schemas.openxmlformats.org/officeDocument/2006/relationships/notesMaster" Target="/ppt/notesMasters/notesMaster1.xml" Id="Rbb0e43b81c8f4a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a48a9b2a0a4a03" /><Relationship Type="http://schemas.openxmlformats.org/officeDocument/2006/relationships/notesMaster" Target="/ppt/notesMasters/notesMaster1.xml" Id="Rc721b6933e1e47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e1e60f2ca34593" /><Relationship Type="http://schemas.openxmlformats.org/officeDocument/2006/relationships/notesMaster" Target="/ppt/notesMasters/notesMaster1.xml" Id="Reead6803059140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1bafc5a83d4274" /><Relationship Type="http://schemas.openxmlformats.org/officeDocument/2006/relationships/notesMaster" Target="/ppt/notesMasters/notesMaster1.xml" Id="R7efb127a10134a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20d802763c4a01" /><Relationship Type="http://schemas.openxmlformats.org/officeDocument/2006/relationships/notesMaster" Target="/ppt/notesMasters/notesMaster1.xml" Id="R698a08aba72f4e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3192918bc64118" /><Relationship Type="http://schemas.openxmlformats.org/officeDocument/2006/relationships/notesMaster" Target="/ppt/notesMasters/notesMaster1.xml" Id="R541fdd39d4ae45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4085e79a134e4b" /><Relationship Type="http://schemas.openxmlformats.org/officeDocument/2006/relationships/notesMaster" Target="/ppt/notesMasters/notesMaster1.xml" Id="R37e8a73d0d7b46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c0dde2be1a4446" /><Relationship Type="http://schemas.openxmlformats.org/officeDocument/2006/relationships/notesMaster" Target="/ppt/notesMasters/notesMaster1.xml" Id="Rbda080892c6c4a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9376d47ecb45a1" /><Relationship Type="http://schemas.openxmlformats.org/officeDocument/2006/relationships/notesMaster" Target="/ppt/notesMasters/notesMaster1.xml" Id="R2c72d09e276f43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տարբերակում ներկայացումը անմիջապես կենտրոնանում է տվյալների բազայի կառուցվածքի վրա։ Շեշտը դրվում է ոչ թե ընդհանուր նպատակի կամ տեխնիկական մեխանիզմների, այլ աղյուսակների դերի և դրանց միջև բիզնես կապերի վրա։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սլայդը տալիս է ամբողջ մոդելի ընթերցման տրամաբանությունը։ Նախ ունենք հաշիվներ և դերեր, հետո համալսարանական կառուցվածքը, և վերջում այն աղյուսակները, որոնք իրականում նկարագրում են առարկայի անցկացումը, ուսանողի գրանցումը և լաբորատոր աշխատանքի արդյունքը։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Մոդելը սկսվում է `user_accounts` աղյուսակից, որովհետև յուրաքանչյուր մարդ նախ ունի հաշիվ։ Դրանից հետո տվյալ հաշիվը դառնում է ադմինիստրատոր, դասախոս կամ ուսանող՝ համապատասխան դերային աղյուսակի միջոցով։ Այս մոտեցումը օգնում է չկրկնել նույնականացման տվյալները բոլոր դերերում առանձին։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Ադմինիստրատորը բազայում դիտարկվում է որպես առանձին բիզնես դեր։ Նա կապված է հաշվի հետ, բայց ունի նաև իր կառավարման տիրույթը։ Եթե ադմինը պատասխանատու է կոնկրետ ակադեմիական միավորի համար, դա պահվում է հենց այս աղյուսակում։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երկու աղյուսակները դեռ չեն ասում, թե ով ինչ է դասավանդում կամ ինչի է մասնակցում։ Դրանք պահում են միայն դերային ինքնությունը։ Իրական ուսումնական մասնակցությունը գալիս է հետո՝ նշանակումների և գրանցումների միջոցով։ Սա շատ կարևոր բաժանում է բիզնես տեսանկյունից։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Առաջին կառուցվածքային մակարդակում ունենք ինստիտուտներ կամ ֆակուլտետներ, իսկ դրանց ներսում՝ մասնագիտություններ։ Այս աղյուսակները պետք են, որպեսզի ուսումնական ամբողջ գործընթացը կապված լինի իրական համալսարանական կառուցվածքի հետ, ոչ թե լինի վերացական խմբերի հավաքածու։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Սա մոդելի ամենակարևոր բիզնես բաժանումներից մեկն է։ Մի ակադեմիական խումբ կարող է բաժանվել մի քանի լաբորատոր խմբերի։ Հենց այստեղից է գալիս այն հնարավորությունը, որ նույն ակադեմիական խմբի տարբեր լաբորատոր ենթախմբերը կարող են աշխատել տարբեր դասախոսների հետ։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աղյուսակում առարկան դեռ անկախ է խմբից, տարուց կամ կիսամյակից։ Այսպիսով մեկ անգամ սահմանված առարկան կարելի է հետո օգտագործել տարբեր ուսումնական իրավիճակներում։ Այս բաժանումը թույլ է տալիս չկրկնել նույն առարկան ամեն կիսամյակի կամ ամեն խմբի համար։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Եթե `subjects` աղյուսակը ասում է «ինչ առարկա է», ապա `subject_group_offerings`-ը ասում է «որտեղ և երբ է այդ առարկան անցկացվում»։ Սա արդեն իրական ուսումնական դեպքն է, որի շուրջ հետո կկառուցվեն թե՛ դասախոսի նշանակումը, թե՛ ուսանողի գրանցումը, թե՛ լաբորատոր աշխատանքները։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աղյուսակը կարևոր է, որովհետև հենց այստեղ է արտահայտվում քո նշած բիզնես կանոնը՝ նույն ակադեմիական խմբի ներսում տարբեր լաբորատոր խմբեր կարող են դասավանդվել տարբեր դասախոսների կողմից։ Այսպիսով դասախոսի նշանակումը կապված է ոչ միայն առարկայի, այլ նաև ենթախմբի հետ։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Ուսանողը պարզապես խմբի անդամ լինելը դեռ բավարար չէ, որովհետև յուրաքանչյուր առարկայի դեպքում նրա լաբորատոր ենթախումբը կարևոր է։ Այս աղյուսակն ասում է, թե կոնկրետ այդ առարկայի համար ուսանողը որ ենթախմբում է հաշվառված, և հենց դա է որոշում նրա տեսանելի լաբորատորները։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Լաբորատոր աշխատանքը համակարգում դիտարկվում է որպես առանձին միավոր, որը պատկանում է առարկայի կոնկրետ առաջարկին։ Այստեղ պահվում է աշխատանքի համարը և առավելագույն գնահատականը։ Այս աղյուսակը պետք է, որպեսզի հետո արդյունքները գրանցվեն ոչ թե ընդհանուր առարկայի, այլ կոնկրետ լաբորատոր աշխատանքի մակարդակով։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Սա ամբողջ մոդելի վերջնական բիզնես արդյունքն է։ Այստեղ արդեն մեկ կոնկրետ ուսանողի համար մեկ կոնկրետ լաբորատոր աշխատանքի կատարողականն է պահվում։ Այս աղյուսակն ունի իմաստ միայն այն պատճառով, որ նախորդ բոլոր աղյուսակները ճիշտ նկարագրել են ուսանողի տեղը, դասախոսի նշանակումը և առարկայի առաջարկը։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Սա հենց այն սցենարն է, որը պետք է հատկապես շեշտել պաշտպանության ժամանակ։ Օրինակ՝ մեկ ակադեմիական խումբ կարող է բաժանվել 319-1 և 319-2 լաբորատոր խմբերի, և այդ երկու ենթախմբերը կարող են ունենալ տարբեր դասախոսներ նույն առարկայի շրջանակում։ Այդ տրամաբանությունը մաքուր ձևով արտահայտվում է `teacher_subject_assignments` աղյուսակում։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սլայդը բացատրում է, թե ինչու `student_subject_enrollments` աղյուսակը պարտադիր է։ Եթե ուսանողը պարզապես լինի ընդհանուր խմբի անդամ, համակարգը չի հասկանա տվյալ առարկայի համար նա որ ենթախմբում է աշխատում։ Այդ պատճառով enrollment-ը առանձին բիզնես փաստ 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բաժանումը շատ կարևոր է բացատրել, որովհետև այն ցույց է տալիս մոդելի հասունությունը։ Եթե ամեն անգամ առարկան պահվեր խմբի կամ կիսամյակի հետ միասին, նույն առարկան բազմիցս կկրկնվեր։ Offering-ի առանձին աղյուսակը թույլ է տալիս պահել իրական դասավանդման դեպքը առանց կատալոգը կրկնելու։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Դասախոսն ու ուսանողը նույն առարկայի առաջարկի մեջ տարբեր դերերով են մասնակցում։ Դասախոսը նշանակվում է դասավանդելու, իսկ ուսանողը գրանցվում է սովորելու։ Այս պատճառով մոդելը դրանք միավորում չէ մեկ ընդհանուր աղյուսակում, այլ պահում է որպես երկու առանձին հարաբերություն։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Քո խնդրանքով այս հատվածում կարելի է ոչ թե գեներացնել սխեմաներ, այլ հստակ գրել ինչ screenshot կամ կապ ցույց տալ։ Այդպես դու կարող ես ավելացնել սեփական ERD կամ phpMyAdmin / Workbench screenshot-ները և պահել տեխնիկական ճշգրտությունը։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Այս սլայդում պետք է շեշտել ոչ թե trigger-ները, այլ հենց կանոնների բիզնես իմաստը։ Համակարգը պահանջում է համալսարանական հաշիվ, կապում է դասախոսին ճիշտ ենթախմբի հետ, կապում է ուսանողին ճիշտ enrollment-ի հետ, և պահում է գնահատականները կոնկրետ լաբորատոր աշխատանքի մակարդակում։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Վերջին սլայդը փակման համար է։ Այստեղ կարելի է քննարկումը տեղափոխել կոնկրետ աղյուսակների ընտրության, բիզնես կապերի և մոդելի հիմնավորման վրա։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1fe3989a2549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eeb423559a4028" /><Relationship Type="http://schemas.openxmlformats.org/officeDocument/2006/relationships/slideLayout" Target="/ppt/slideLayouts/slideLayout1.xml" Id="Raa91366d9e7248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91366d9e7248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934f4188ac4d36" /><Relationship Type="http://schemas.openxmlformats.org/officeDocument/2006/relationships/notesSlide" Target="/ppt/notesSlides/notesSlide1.xml" Id="Rc25c8a2ba68941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718baf8b144754" /><Relationship Type="http://schemas.openxmlformats.org/officeDocument/2006/relationships/notesSlide" Target="/ppt/notesSlides/notesSlide2.xml" Id="Rb36880891c9c4c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d3c5fbb03c413d" /><Relationship Type="http://schemas.openxmlformats.org/officeDocument/2006/relationships/notesSlide" Target="/ppt/notesSlides/notesSlide3.xml" Id="R6322221423044b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e45c3d7b194a76" /><Relationship Type="http://schemas.openxmlformats.org/officeDocument/2006/relationships/notesSlide" Target="/ppt/notesSlides/notesSlide4.xml" Id="Rcefdf2485b5f4f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1e49ae3ad944bf" /><Relationship Type="http://schemas.openxmlformats.org/officeDocument/2006/relationships/notesSlide" Target="/ppt/notesSlides/notesSlide5.xml" Id="R5b44981fb1e041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3d9f948e694285" /><Relationship Type="http://schemas.openxmlformats.org/officeDocument/2006/relationships/notesSlide" Target="/ppt/notesSlides/notesSlide6.xml" Id="R882f315a6e524c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d5a4cf17c34191" /><Relationship Type="http://schemas.openxmlformats.org/officeDocument/2006/relationships/notesSlide" Target="/ppt/notesSlides/notesSlide7.xml" Id="R6d828acf313d49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849b04ea294953" /><Relationship Type="http://schemas.openxmlformats.org/officeDocument/2006/relationships/notesSlide" Target="/ppt/notesSlides/notesSlide8.xml" Id="Rb6065786a40147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9a09ff0d534e3f" /><Relationship Type="http://schemas.openxmlformats.org/officeDocument/2006/relationships/notesSlide" Target="/ppt/notesSlides/notesSlide9.xml" Id="Rf32b1170f86d47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23d3db7fc464f7e" /><Relationship Type="http://schemas.openxmlformats.org/officeDocument/2006/relationships/notesSlide" Target="/ppt/notesSlides/notesSlide10.xml" Id="Ra6bc5c4cd8fc45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f5faad01f54d4a" /><Relationship Type="http://schemas.openxmlformats.org/officeDocument/2006/relationships/notesSlide" Target="/ppt/notesSlides/notesSlide11.xml" Id="Rf1b574827bca43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8f47c017b24284" /><Relationship Type="http://schemas.openxmlformats.org/officeDocument/2006/relationships/notesSlide" Target="/ppt/notesSlides/notesSlide12.xml" Id="R951fdec9226147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44a24e0c0e4448" /><Relationship Type="http://schemas.openxmlformats.org/officeDocument/2006/relationships/notesSlide" Target="/ppt/notesSlides/notesSlide13.xml" Id="Rd660e47e076d4c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a0cb62ad8942a7" /><Relationship Type="http://schemas.openxmlformats.org/officeDocument/2006/relationships/notesSlide" Target="/ppt/notesSlides/notesSlide14.xml" Id="R13641ac6498f4a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f18b01eea44ac6" /><Relationship Type="http://schemas.openxmlformats.org/officeDocument/2006/relationships/notesSlide" Target="/ppt/notesSlides/notesSlide15.xml" Id="R7a8fef07490142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78edb058cf94204" /><Relationship Type="http://schemas.openxmlformats.org/officeDocument/2006/relationships/notesSlide" Target="/ppt/notesSlides/notesSlide16.xml" Id="R5cd5a9d7406b4d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6b2740e6ed48e8" /><Relationship Type="http://schemas.openxmlformats.org/officeDocument/2006/relationships/notesSlide" Target="/ppt/notesSlides/notesSlide17.xml" Id="Rfe62957769c347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646aa1347f14a84" /><Relationship Type="http://schemas.openxmlformats.org/officeDocument/2006/relationships/notesSlide" Target="/ppt/notesSlides/notesSlide18.xml" Id="Rb65950838a6c49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6e449d76394d61" /><Relationship Type="http://schemas.openxmlformats.org/officeDocument/2006/relationships/notesSlide" Target="/ppt/notesSlides/notesSlide19.xml" Id="Redad71b8e9aa46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fb2fc591b464d7c" /><Relationship Type="http://schemas.openxmlformats.org/officeDocument/2006/relationships/notesSlide" Target="/ppt/notesSlides/notesSlide20.xml" Id="R29daf5788e8042e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5345F0-148C-4C44-8597-9C6D260363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B0B1F509-AFC5-4C9D-9647-EC7AD9D1A758}"/>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6B6C64F8-AC3F-4F06-AFDA-89CF03AE1A5F}"/>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E12EBAF3-90CD-4D81-B6AD-CFDD1C0E8C4B}"/>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C5FAB796-97BA-4166-83D1-188E32CC07AA}"/>
              </a:ext>
            </a:extLst>
          </p:cNvPr>
          <p:cNvSpPr>
            <a:spLocks xmlns:a="http://schemas.openxmlformats.org/drawingml/2006/main" noGrp="1"/>
          </p:cNvSpPr>
          <p:nvPr/>
        </p:nvSpPr>
        <p:spPr>
          <a:xfrm xmlns:a="http://schemas.openxmlformats.org/drawingml/2006/main">
            <a:off x="819150" y="952500"/>
            <a:ext cx="421576"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Շապիկ</a:t>
            </a:r>
          </a:p>
        </p:txBody>
      </p:sp>
      <p:sp>
        <p:nvSpPr>
          <p:cNvPr id="6" name="">
            <a:extLst xmlns:a="http://schemas.openxmlformats.org/drawingml/2006/main">
              <a:ext uri="{FF2B5EF4-FFF2-40B4-BE49-F238E27FC236}">
                <a16:creationId xmlns:a16="http://schemas.microsoft.com/office/drawing/2014/main" id="{33563D22-9B10-4164-A0AA-1A9500916B0F}"/>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Լաբորատոր աշխատանքների կատարողականի գրանցման և վերահսկման համակարգ</a:t>
            </a:r>
          </a:p>
        </p:txBody>
      </p:sp>
      <p:sp>
        <p:nvSpPr>
          <p:cNvPr id="7" name="">
            <a:extLst xmlns:a="http://schemas.openxmlformats.org/drawingml/2006/main">
              <a:ext uri="{FF2B5EF4-FFF2-40B4-BE49-F238E27FC236}">
                <a16:creationId xmlns:a16="http://schemas.microsoft.com/office/drawing/2014/main" id="{FF2CAFF6-974D-43A4-B234-931A52B48266}"/>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Տվյալների բազայի կառուցվածք և բիզնես տրամաբանություն</a:t>
            </a:r>
          </a:p>
        </p:txBody>
      </p:sp>
      <p:sp>
        <p:nvSpPr>
          <p:cNvPr id="8" name="">
            <a:extLst xmlns:a="http://schemas.openxmlformats.org/drawingml/2006/main">
              <a:ext uri="{FF2B5EF4-FFF2-40B4-BE49-F238E27FC236}">
                <a16:creationId xmlns:a16="http://schemas.microsoft.com/office/drawing/2014/main" id="{D80352FF-DB62-4EA8-B88C-8C8C0E961B20}"/>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57EE7B96-AAD5-4A4B-8FEC-343CE12C0334}"/>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01</a:t>
            </a:r>
          </a:p>
        </p:txBody>
      </p:sp>
      <p:sp>
        <p:nvSpPr>
          <p:cNvPr id="10" name="">
            <a:extLst xmlns:a="http://schemas.openxmlformats.org/drawingml/2006/main">
              <a:ext uri="{FF2B5EF4-FFF2-40B4-BE49-F238E27FC236}">
                <a16:creationId xmlns:a16="http://schemas.microsoft.com/office/drawing/2014/main" id="{35E72635-938A-43A6-8D7A-66FD7F410D0B}"/>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22EE4D8F-CC71-4161-98A3-3395BA03DA40}"/>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52CB31F4-CD16-4EB2-A657-AA10A7670FEF}"/>
              </a:ext>
            </a:extLst>
          </p:cNvPr>
          <p:cNvSpPr>
            <a:spLocks xmlns:a="http://schemas.openxmlformats.org/drawingml/2006/main" noGrp="1"/>
          </p:cNvSpPr>
          <p:nvPr/>
        </p:nvSpPr>
        <p:spPr>
          <a:xfrm xmlns:a="http://schemas.openxmlformats.org/drawingml/2006/main">
            <a:off x="742950" y="2249043"/>
            <a:ext cx="7124700" cy="1974494"/>
          </a:xfrm>
          <a:prstGeom xmlns:a="http://schemas.openxmlformats.org/drawingml/2006/main" prst="roundRect">
            <a:avLst>
              <a:gd name="adj" fmla="val 8683"/>
            </a:avLst>
          </a:prstGeom>
          <a:solidFill xmlns:a="http://schemas.openxmlformats.org/drawingml/2006/main">
            <a:srgbClr val="EDF5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EC996DD8-1A4A-4069-BF4B-0209EE536B88}"/>
              </a:ext>
            </a:extLst>
          </p:cNvPr>
          <p:cNvSpPr>
            <a:spLocks xmlns:a="http://schemas.openxmlformats.org/drawingml/2006/main" noGrp="1"/>
          </p:cNvSpPr>
          <p:nvPr/>
        </p:nvSpPr>
        <p:spPr>
          <a:xfrm xmlns:a="http://schemas.openxmlformats.org/drawingml/2006/main">
            <a:off x="971550" y="24776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90450007-D304-4BD5-9C11-EC553D711F23}"/>
              </a:ext>
            </a:extLst>
          </p:cNvPr>
          <p:cNvSpPr>
            <a:spLocks xmlns:a="http://schemas.openxmlformats.org/drawingml/2006/main" noGrp="1"/>
          </p:cNvSpPr>
          <p:nvPr/>
        </p:nvSpPr>
        <p:spPr>
          <a:xfrm xmlns:a="http://schemas.openxmlformats.org/drawingml/2006/main">
            <a:off x="1200150" y="2477643"/>
            <a:ext cx="64389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Նախագծի առանցքը</a:t>
            </a:r>
          </a:p>
        </p:txBody>
      </p:sp>
      <p:sp>
        <p:nvSpPr>
          <p:cNvPr id="15" name="">
            <a:extLst xmlns:a="http://schemas.openxmlformats.org/drawingml/2006/main">
              <a:ext uri="{FF2B5EF4-FFF2-40B4-BE49-F238E27FC236}">
                <a16:creationId xmlns:a16="http://schemas.microsoft.com/office/drawing/2014/main" id="{3969DAE7-60FE-4128-BE14-846B8C63F15A}"/>
              </a:ext>
            </a:extLst>
          </p:cNvPr>
          <p:cNvSpPr>
            <a:spLocks xmlns:a="http://schemas.openxmlformats.org/drawingml/2006/main" noGrp="1"/>
          </p:cNvSpPr>
          <p:nvPr/>
        </p:nvSpPr>
        <p:spPr>
          <a:xfrm xmlns:a="http://schemas.openxmlformats.org/drawingml/2006/main">
            <a:off x="971550" y="2838831"/>
            <a:ext cx="666750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Տվյալների բազայի կառուցվածքը նկարագրում է ամբողջ լաբորատոր ուսումնական հոսքը</a:t>
            </a:r>
          </a:p>
        </p:txBody>
      </p:sp>
      <p:sp>
        <p:nvSpPr>
          <p:cNvPr id="16" name="">
            <a:extLst xmlns:a="http://schemas.openxmlformats.org/drawingml/2006/main">
              <a:ext uri="{FF2B5EF4-FFF2-40B4-BE49-F238E27FC236}">
                <a16:creationId xmlns:a16="http://schemas.microsoft.com/office/drawing/2014/main" id="{42917BA4-3E69-483A-9F38-D19C54E17037}"/>
              </a:ext>
            </a:extLst>
          </p:cNvPr>
          <p:cNvSpPr>
            <a:spLocks xmlns:a="http://schemas.openxmlformats.org/drawingml/2006/main" noGrp="1"/>
          </p:cNvSpPr>
          <p:nvPr/>
        </p:nvSpPr>
        <p:spPr>
          <a:xfrm xmlns:a="http://schemas.openxmlformats.org/drawingml/2006/main">
            <a:off x="971550" y="3416884"/>
            <a:ext cx="66675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Շեշտը դրված է աղյուսակների դերի և դրանց միջև բիզնես կապերի վրա</a:t>
            </a:r>
          </a:p>
        </p:txBody>
      </p:sp>
      <p:sp>
        <p:nvSpPr>
          <p:cNvPr id="17" name="">
            <a:extLst xmlns:a="http://schemas.openxmlformats.org/drawingml/2006/main">
              <a:ext uri="{FF2B5EF4-FFF2-40B4-BE49-F238E27FC236}">
                <a16:creationId xmlns:a16="http://schemas.microsoft.com/office/drawing/2014/main" id="{4118FF26-3CB0-48FC-BDD9-55A5CD51741B}"/>
              </a:ext>
            </a:extLst>
          </p:cNvPr>
          <p:cNvSpPr>
            <a:spLocks xmlns:a="http://schemas.openxmlformats.org/drawingml/2006/main" noGrp="1"/>
          </p:cNvSpPr>
          <p:nvPr/>
        </p:nvSpPr>
        <p:spPr>
          <a:xfrm xmlns:a="http://schemas.openxmlformats.org/drawingml/2006/main">
            <a:off x="971550" y="3753536"/>
            <a:ext cx="66675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Հատուկ ուշադրություն է դարձված academic group / lab group բաժանմանը</a:t>
            </a:r>
          </a:p>
        </p:txBody>
      </p:sp>
      <p:sp>
        <p:nvSpPr>
          <p:cNvPr id="18" name="">
            <a:extLst xmlns:a="http://schemas.openxmlformats.org/drawingml/2006/main">
              <a:ext uri="{FF2B5EF4-FFF2-40B4-BE49-F238E27FC236}">
                <a16:creationId xmlns:a16="http://schemas.microsoft.com/office/drawing/2014/main" id="{127461EF-BB43-4D3B-A583-EC9C3B673474}"/>
              </a:ext>
            </a:extLst>
          </p:cNvPr>
          <p:cNvSpPr>
            <a:spLocks xmlns:a="http://schemas.openxmlformats.org/drawingml/2006/main" noGrp="1"/>
          </p:cNvSpPr>
          <p:nvPr/>
        </p:nvSpPr>
        <p:spPr>
          <a:xfrm xmlns:a="http://schemas.openxmlformats.org/drawingml/2006/main">
            <a:off x="742950" y="4414037"/>
            <a:ext cx="2298700" cy="1323594"/>
          </a:xfrm>
          <a:prstGeom xmlns:a="http://schemas.openxmlformats.org/drawingml/2006/main" prst="roundRect">
            <a:avLst>
              <a:gd name="adj" fmla="val 12953"/>
            </a:avLst>
          </a:prstGeom>
          <a:solidFill xmlns:a="http://schemas.openxmlformats.org/drawingml/2006/main">
            <a:srgbClr val="F5FA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24ACA84D-8207-425C-8F41-E000947F7F32}"/>
              </a:ext>
            </a:extLst>
          </p:cNvPr>
          <p:cNvSpPr>
            <a:spLocks xmlns:a="http://schemas.openxmlformats.org/drawingml/2006/main" noGrp="1"/>
          </p:cNvSpPr>
          <p:nvPr/>
        </p:nvSpPr>
        <p:spPr>
          <a:xfrm xmlns:a="http://schemas.openxmlformats.org/drawingml/2006/main">
            <a:off x="914400" y="4585487"/>
            <a:ext cx="83543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3 շերտ</a:t>
            </a:r>
          </a:p>
        </p:txBody>
      </p:sp>
      <p:sp>
        <p:nvSpPr>
          <p:cNvPr id="20" name="">
            <a:extLst xmlns:a="http://schemas.openxmlformats.org/drawingml/2006/main">
              <a:ext uri="{FF2B5EF4-FFF2-40B4-BE49-F238E27FC236}">
                <a16:creationId xmlns:a16="http://schemas.microsoft.com/office/drawing/2014/main" id="{506B25B3-410B-4D7E-A256-CEAB728F5E6B}"/>
              </a:ext>
            </a:extLst>
          </p:cNvPr>
          <p:cNvSpPr>
            <a:spLocks xmlns:a="http://schemas.openxmlformats.org/drawingml/2006/main" noGrp="1"/>
          </p:cNvSpPr>
          <p:nvPr/>
        </p:nvSpPr>
        <p:spPr>
          <a:xfrm xmlns:a="http://schemas.openxmlformats.org/drawingml/2006/main">
            <a:off x="914400" y="4939817"/>
            <a:ext cx="835438" cy="49377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Հաշիվներ, կառուցվածք, գործընթաց</a:t>
            </a:r>
          </a:p>
        </p:txBody>
      </p:sp>
      <p:sp>
        <p:nvSpPr>
          <p:cNvPr id="21" name="">
            <a:extLst xmlns:a="http://schemas.openxmlformats.org/drawingml/2006/main">
              <a:ext uri="{FF2B5EF4-FFF2-40B4-BE49-F238E27FC236}">
                <a16:creationId xmlns:a16="http://schemas.microsoft.com/office/drawing/2014/main" id="{A28C78C6-BE66-4ADD-8CF1-69A07C075F97}"/>
              </a:ext>
            </a:extLst>
          </p:cNvPr>
          <p:cNvSpPr>
            <a:spLocks xmlns:a="http://schemas.openxmlformats.org/drawingml/2006/main" noGrp="1"/>
          </p:cNvSpPr>
          <p:nvPr/>
        </p:nvSpPr>
        <p:spPr>
          <a:xfrm xmlns:a="http://schemas.openxmlformats.org/drawingml/2006/main">
            <a:off x="3155950" y="4414037"/>
            <a:ext cx="2298700" cy="1323594"/>
          </a:xfrm>
          <a:prstGeom xmlns:a="http://schemas.openxmlformats.org/drawingml/2006/main" prst="roundRect">
            <a:avLst>
              <a:gd name="adj" fmla="val 12953"/>
            </a:avLst>
          </a:prstGeom>
          <a:solidFill xmlns:a="http://schemas.openxmlformats.org/drawingml/2006/main">
            <a:srgbClr val="F5FAFF"/>
          </a:solidFill>
          <a:ln xmlns:a="http://schemas.openxmlformats.org/drawingml/2006/main" w="9525">
            <a:solidFill>
              <a:srgbClr val="DCE7F4"/>
            </a:solidFill>
            <a:prstDash val="solid"/>
          </a:ln>
        </p:spPr>
      </p:sp>
      <p:sp>
        <p:nvSpPr>
          <p:cNvPr id="22" name="">
            <a:extLst xmlns:a="http://schemas.openxmlformats.org/drawingml/2006/main">
              <a:ext uri="{FF2B5EF4-FFF2-40B4-BE49-F238E27FC236}">
                <a16:creationId xmlns:a16="http://schemas.microsoft.com/office/drawing/2014/main" id="{C8E46446-8BB9-4009-8207-855206D977AB}"/>
              </a:ext>
            </a:extLst>
          </p:cNvPr>
          <p:cNvSpPr>
            <a:spLocks xmlns:a="http://schemas.openxmlformats.org/drawingml/2006/main" noGrp="1"/>
          </p:cNvSpPr>
          <p:nvPr/>
        </p:nvSpPr>
        <p:spPr>
          <a:xfrm xmlns:a="http://schemas.openxmlformats.org/drawingml/2006/main">
            <a:off x="3327400" y="4585487"/>
            <a:ext cx="1539335" cy="5943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14 աղյուսակ</a:t>
            </a:r>
          </a:p>
        </p:txBody>
      </p:sp>
      <p:sp>
        <p:nvSpPr>
          <p:cNvPr id="23" name="">
            <a:extLst xmlns:a="http://schemas.openxmlformats.org/drawingml/2006/main">
              <a:ext uri="{FF2B5EF4-FFF2-40B4-BE49-F238E27FC236}">
                <a16:creationId xmlns:a16="http://schemas.microsoft.com/office/drawing/2014/main" id="{AA294AA3-54C2-4122-830F-26F76BD2BEF1}"/>
              </a:ext>
            </a:extLst>
          </p:cNvPr>
          <p:cNvSpPr>
            <a:spLocks xmlns:a="http://schemas.openxmlformats.org/drawingml/2006/main" noGrp="1"/>
          </p:cNvSpPr>
          <p:nvPr/>
        </p:nvSpPr>
        <p:spPr>
          <a:xfrm xmlns:a="http://schemas.openxmlformats.org/drawingml/2006/main">
            <a:off x="3327400" y="5236997"/>
            <a:ext cx="1539335"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Հիմնական բիզնես մոդել</a:t>
            </a:r>
          </a:p>
        </p:txBody>
      </p:sp>
      <p:sp>
        <p:nvSpPr>
          <p:cNvPr id="24" name="">
            <a:extLst xmlns:a="http://schemas.openxmlformats.org/drawingml/2006/main">
              <a:ext uri="{FF2B5EF4-FFF2-40B4-BE49-F238E27FC236}">
                <a16:creationId xmlns:a16="http://schemas.microsoft.com/office/drawing/2014/main" id="{960AABBE-340C-48A2-B664-5C5001119525}"/>
              </a:ext>
            </a:extLst>
          </p:cNvPr>
          <p:cNvSpPr>
            <a:spLocks xmlns:a="http://schemas.openxmlformats.org/drawingml/2006/main" noGrp="1"/>
          </p:cNvSpPr>
          <p:nvPr/>
        </p:nvSpPr>
        <p:spPr>
          <a:xfrm xmlns:a="http://schemas.openxmlformats.org/drawingml/2006/main">
            <a:off x="5568950" y="4414037"/>
            <a:ext cx="2298700" cy="1323594"/>
          </a:xfrm>
          <a:prstGeom xmlns:a="http://schemas.openxmlformats.org/drawingml/2006/main" prst="roundRect">
            <a:avLst>
              <a:gd name="adj" fmla="val 12953"/>
            </a:avLst>
          </a:prstGeom>
          <a:solidFill xmlns:a="http://schemas.openxmlformats.org/drawingml/2006/main">
            <a:srgbClr val="F5FA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06A114AE-0D7B-41ED-A43D-3F17D427A00A}"/>
              </a:ext>
            </a:extLst>
          </p:cNvPr>
          <p:cNvSpPr>
            <a:spLocks xmlns:a="http://schemas.openxmlformats.org/drawingml/2006/main" noGrp="1"/>
          </p:cNvSpPr>
          <p:nvPr/>
        </p:nvSpPr>
        <p:spPr>
          <a:xfrm xmlns:a="http://schemas.openxmlformats.org/drawingml/2006/main">
            <a:off x="5740400" y="4585487"/>
            <a:ext cx="1334738" cy="5943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Lab groups</a:t>
            </a:r>
          </a:p>
        </p:txBody>
      </p:sp>
      <p:sp>
        <p:nvSpPr>
          <p:cNvPr id="26" name="">
            <a:extLst xmlns:a="http://schemas.openxmlformats.org/drawingml/2006/main">
              <a:ext uri="{FF2B5EF4-FFF2-40B4-BE49-F238E27FC236}">
                <a16:creationId xmlns:a16="http://schemas.microsoft.com/office/drawing/2014/main" id="{C133ADC4-DDFF-4F75-B33C-2B1682786BC3}"/>
              </a:ext>
            </a:extLst>
          </p:cNvPr>
          <p:cNvSpPr>
            <a:spLocks xmlns:a="http://schemas.openxmlformats.org/drawingml/2006/main" noGrp="1"/>
          </p:cNvSpPr>
          <p:nvPr/>
        </p:nvSpPr>
        <p:spPr>
          <a:xfrm xmlns:a="http://schemas.openxmlformats.org/drawingml/2006/main">
            <a:off x="5740400" y="5236997"/>
            <a:ext cx="133473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Ենթախմբային տրամաբանություն</a:t>
            </a:r>
          </a:p>
        </p:txBody>
      </p:sp>
      <p:sp>
        <p:nvSpPr>
          <p:cNvPr id="27" name="">
            <a:extLst xmlns:a="http://schemas.openxmlformats.org/drawingml/2006/main">
              <a:ext uri="{FF2B5EF4-FFF2-40B4-BE49-F238E27FC236}">
                <a16:creationId xmlns:a16="http://schemas.microsoft.com/office/drawing/2014/main" id="{EE012F2A-5A4E-406B-A16B-4D9C7C6DA715}"/>
              </a:ext>
            </a:extLst>
          </p:cNvPr>
          <p:cNvSpPr>
            <a:spLocks xmlns:a="http://schemas.openxmlformats.org/drawingml/2006/main" noGrp="1"/>
          </p:cNvSpPr>
          <p:nvPr/>
        </p:nvSpPr>
        <p:spPr>
          <a:xfrm xmlns:a="http://schemas.openxmlformats.org/drawingml/2006/main">
            <a:off x="742950" y="5928131"/>
            <a:ext cx="2298700" cy="487680"/>
          </a:xfrm>
          <a:prstGeom xmlns:a="http://schemas.openxmlformats.org/drawingml/2006/main" prst="roundRect">
            <a:avLst>
              <a:gd name="adj" fmla="val 50000"/>
            </a:avLst>
          </a:prstGeom>
          <a:solidFill xmlns:a="http://schemas.openxmlformats.org/drawingml/2006/main">
            <a:srgbClr val="DFEEFF"/>
          </a:solidFill>
        </p:spPr>
      </p:sp>
      <p:sp>
        <p:nvSpPr>
          <p:cNvPr id="28" name="">
            <a:extLst xmlns:a="http://schemas.openxmlformats.org/drawingml/2006/main">
              <a:ext uri="{FF2B5EF4-FFF2-40B4-BE49-F238E27FC236}">
                <a16:creationId xmlns:a16="http://schemas.microsoft.com/office/drawing/2014/main" id="{995347B4-ECAD-4F65-B383-5DEB70131D75}"/>
              </a:ext>
            </a:extLst>
          </p:cNvPr>
          <p:cNvSpPr>
            <a:spLocks xmlns:a="http://schemas.openxmlformats.org/drawingml/2006/main" noGrp="1"/>
          </p:cNvSpPr>
          <p:nvPr/>
        </p:nvSpPr>
        <p:spPr>
          <a:xfrm xmlns:a="http://schemas.openxmlformats.org/drawingml/2006/main">
            <a:off x="838200" y="6023381"/>
            <a:ext cx="426720"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MySQL</a:t>
            </a:r>
          </a:p>
        </p:txBody>
      </p:sp>
      <p:sp>
        <p:nvSpPr>
          <p:cNvPr id="29" name="">
            <a:extLst xmlns:a="http://schemas.openxmlformats.org/drawingml/2006/main">
              <a:ext uri="{FF2B5EF4-FFF2-40B4-BE49-F238E27FC236}">
                <a16:creationId xmlns:a16="http://schemas.microsoft.com/office/drawing/2014/main" id="{9241292E-D9A9-4F2D-8618-A616B9B2A361}"/>
              </a:ext>
            </a:extLst>
          </p:cNvPr>
          <p:cNvSpPr>
            <a:spLocks xmlns:a="http://schemas.openxmlformats.org/drawingml/2006/main" noGrp="1"/>
          </p:cNvSpPr>
          <p:nvPr/>
        </p:nvSpPr>
        <p:spPr>
          <a:xfrm xmlns:a="http://schemas.openxmlformats.org/drawingml/2006/main">
            <a:off x="3155950" y="5928131"/>
            <a:ext cx="2298700" cy="487680"/>
          </a:xfrm>
          <a:prstGeom xmlns:a="http://schemas.openxmlformats.org/drawingml/2006/main" prst="roundRect">
            <a:avLst>
              <a:gd name="adj" fmla="val 50000"/>
            </a:avLst>
          </a:prstGeom>
          <a:solidFill xmlns:a="http://schemas.openxmlformats.org/drawingml/2006/main">
            <a:srgbClr val="DFEEFF"/>
          </a:solidFill>
        </p:spPr>
      </p:sp>
      <p:sp>
        <p:nvSpPr>
          <p:cNvPr id="30" name="">
            <a:extLst xmlns:a="http://schemas.openxmlformats.org/drawingml/2006/main">
              <a:ext uri="{FF2B5EF4-FFF2-40B4-BE49-F238E27FC236}">
                <a16:creationId xmlns:a16="http://schemas.microsoft.com/office/drawing/2014/main" id="{C4AB07C1-704D-47FF-A76B-5684B20CFF9A}"/>
              </a:ext>
            </a:extLst>
          </p:cNvPr>
          <p:cNvSpPr>
            <a:spLocks xmlns:a="http://schemas.openxmlformats.org/drawingml/2006/main" noGrp="1"/>
          </p:cNvSpPr>
          <p:nvPr/>
        </p:nvSpPr>
        <p:spPr>
          <a:xfrm xmlns:a="http://schemas.openxmlformats.org/drawingml/2006/main">
            <a:off x="3251200" y="6023381"/>
            <a:ext cx="1155287"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Role-Based Access</a:t>
            </a:r>
          </a:p>
        </p:txBody>
      </p:sp>
      <p:sp>
        <p:nvSpPr>
          <p:cNvPr id="31" name="">
            <a:extLst xmlns:a="http://schemas.openxmlformats.org/drawingml/2006/main">
              <a:ext uri="{FF2B5EF4-FFF2-40B4-BE49-F238E27FC236}">
                <a16:creationId xmlns:a16="http://schemas.microsoft.com/office/drawing/2014/main" id="{6DC53F63-DEDA-4EDB-B1D6-1862EBABE6CC}"/>
              </a:ext>
            </a:extLst>
          </p:cNvPr>
          <p:cNvSpPr>
            <a:spLocks xmlns:a="http://schemas.openxmlformats.org/drawingml/2006/main" noGrp="1"/>
          </p:cNvSpPr>
          <p:nvPr/>
        </p:nvSpPr>
        <p:spPr>
          <a:xfrm xmlns:a="http://schemas.openxmlformats.org/drawingml/2006/main">
            <a:off x="5568950" y="5928131"/>
            <a:ext cx="2298700" cy="487680"/>
          </a:xfrm>
          <a:prstGeom xmlns:a="http://schemas.openxmlformats.org/drawingml/2006/main" prst="roundRect">
            <a:avLst>
              <a:gd name="adj" fmla="val 50000"/>
            </a:avLst>
          </a:prstGeom>
          <a:solidFill xmlns:a="http://schemas.openxmlformats.org/drawingml/2006/main">
            <a:srgbClr val="DFEEFF"/>
          </a:solidFill>
        </p:spPr>
      </p:sp>
      <p:sp>
        <p:nvSpPr>
          <p:cNvPr id="32" name="">
            <a:extLst xmlns:a="http://schemas.openxmlformats.org/drawingml/2006/main">
              <a:ext uri="{FF2B5EF4-FFF2-40B4-BE49-F238E27FC236}">
                <a16:creationId xmlns:a16="http://schemas.microsoft.com/office/drawing/2014/main" id="{0514AEDF-3331-4692-B3E7-466667D21B1A}"/>
              </a:ext>
            </a:extLst>
          </p:cNvPr>
          <p:cNvSpPr>
            <a:spLocks xmlns:a="http://schemas.openxmlformats.org/drawingml/2006/main" noGrp="1"/>
          </p:cNvSpPr>
          <p:nvPr/>
        </p:nvSpPr>
        <p:spPr>
          <a:xfrm xmlns:a="http://schemas.openxmlformats.org/drawingml/2006/main">
            <a:off x="5664200" y="6023381"/>
            <a:ext cx="102927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Workflow Control</a:t>
            </a:r>
          </a:p>
        </p:txBody>
      </p:sp>
      <p:sp>
        <p:nvSpPr>
          <p:cNvPr id="33" name="">
            <a:extLst xmlns:a="http://schemas.openxmlformats.org/drawingml/2006/main">
              <a:ext uri="{FF2B5EF4-FFF2-40B4-BE49-F238E27FC236}">
                <a16:creationId xmlns:a16="http://schemas.microsoft.com/office/drawing/2014/main" id="{4CE006B4-B36A-48DB-AE13-45F976D52312}"/>
              </a:ext>
            </a:extLst>
          </p:cNvPr>
          <p:cNvSpPr>
            <a:spLocks xmlns:a="http://schemas.openxmlformats.org/drawingml/2006/main" noGrp="1"/>
          </p:cNvSpPr>
          <p:nvPr/>
        </p:nvSpPr>
        <p:spPr>
          <a:xfrm xmlns:a="http://schemas.openxmlformats.org/drawingml/2006/main">
            <a:off x="8115300" y="2249043"/>
            <a:ext cx="3333750" cy="4166768"/>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C8D8EB"/>
            </a:solidFill>
            <a:prstDash val="solid"/>
          </a:ln>
        </p:spPr>
      </p:sp>
      <p:sp>
        <p:nvSpPr>
          <p:cNvPr id="34" name="">
            <a:extLst xmlns:a="http://schemas.openxmlformats.org/drawingml/2006/main">
              <a:ext uri="{FF2B5EF4-FFF2-40B4-BE49-F238E27FC236}">
                <a16:creationId xmlns:a16="http://schemas.microsoft.com/office/drawing/2014/main" id="{58E66AB0-A912-4804-A6FE-7106ABCBA282}"/>
              </a:ext>
            </a:extLst>
          </p:cNvPr>
          <p:cNvSpPr>
            <a:spLocks xmlns:a="http://schemas.openxmlformats.org/drawingml/2006/main" noGrp="1"/>
          </p:cNvSpPr>
          <p:nvPr/>
        </p:nvSpPr>
        <p:spPr>
          <a:xfrm xmlns:a="http://schemas.openxmlformats.org/drawingml/2006/main">
            <a:off x="8324850" y="2458593"/>
            <a:ext cx="2112645" cy="4114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4C81"/>
                </a:solidFill>
                <a:latin typeface="Arian AMU"/>
                <a:ea typeface="Arian AMU"/>
                <a:cs typeface="Arian AMU"/>
              </a:defRPr>
            </a:pPr>
            <a:r>
              <a:t>Ներկայացման տվյալներ</a:t>
            </a:r>
          </a:p>
        </p:txBody>
      </p:sp>
      <p:sp>
        <p:nvSpPr>
          <p:cNvPr id="35" name="">
            <a:extLst xmlns:a="http://schemas.openxmlformats.org/drawingml/2006/main">
              <a:ext uri="{FF2B5EF4-FFF2-40B4-BE49-F238E27FC236}">
                <a16:creationId xmlns:a16="http://schemas.microsoft.com/office/drawing/2014/main" id="{A24A9426-363A-4737-AD35-069C2456F4B4}"/>
              </a:ext>
            </a:extLst>
          </p:cNvPr>
          <p:cNvSpPr>
            <a:spLocks xmlns:a="http://schemas.openxmlformats.org/drawingml/2006/main" noGrp="1"/>
          </p:cNvSpPr>
          <p:nvPr/>
        </p:nvSpPr>
        <p:spPr>
          <a:xfrm xmlns:a="http://schemas.openxmlformats.org/drawingml/2006/main">
            <a:off x="8324850" y="3003423"/>
            <a:ext cx="102870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Հեղինակ</a:t>
            </a:r>
          </a:p>
        </p:txBody>
      </p:sp>
      <p:sp>
        <p:nvSpPr>
          <p:cNvPr id="36" name="">
            <a:extLst xmlns:a="http://schemas.openxmlformats.org/drawingml/2006/main">
              <a:ext uri="{FF2B5EF4-FFF2-40B4-BE49-F238E27FC236}">
                <a16:creationId xmlns:a16="http://schemas.microsoft.com/office/drawing/2014/main" id="{4FB95C18-CF2A-43B3-AFE9-0B99855EEB84}"/>
              </a:ext>
            </a:extLst>
          </p:cNvPr>
          <p:cNvSpPr>
            <a:spLocks xmlns:a="http://schemas.openxmlformats.org/drawingml/2006/main" noGrp="1"/>
          </p:cNvSpPr>
          <p:nvPr/>
        </p:nvSpPr>
        <p:spPr>
          <a:xfrm xmlns:a="http://schemas.openxmlformats.org/drawingml/2006/main">
            <a:off x="9467850" y="3003423"/>
            <a:ext cx="969645"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Անուն Ազգանուն</a:t>
            </a:r>
          </a:p>
        </p:txBody>
      </p:sp>
      <p:sp>
        <p:nvSpPr>
          <p:cNvPr id="37" name="">
            <a:extLst xmlns:a="http://schemas.openxmlformats.org/drawingml/2006/main">
              <a:ext uri="{FF2B5EF4-FFF2-40B4-BE49-F238E27FC236}">
                <a16:creationId xmlns:a16="http://schemas.microsoft.com/office/drawing/2014/main" id="{DA1D1591-B894-40FD-8213-B3D2EE2660CB}"/>
              </a:ext>
            </a:extLst>
          </p:cNvPr>
          <p:cNvSpPr>
            <a:spLocks xmlns:a="http://schemas.openxmlformats.org/drawingml/2006/main" noGrp="1"/>
          </p:cNvSpPr>
          <p:nvPr/>
        </p:nvSpPr>
        <p:spPr>
          <a:xfrm xmlns:a="http://schemas.openxmlformats.org/drawingml/2006/main">
            <a:off x="8324850" y="3619576"/>
            <a:ext cx="10287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ԲՈՒՀ</a:t>
            </a:r>
          </a:p>
        </p:txBody>
      </p:sp>
      <p:sp>
        <p:nvSpPr>
          <p:cNvPr id="38" name="">
            <a:extLst xmlns:a="http://schemas.openxmlformats.org/drawingml/2006/main">
              <a:ext uri="{FF2B5EF4-FFF2-40B4-BE49-F238E27FC236}">
                <a16:creationId xmlns:a16="http://schemas.microsoft.com/office/drawing/2014/main" id="{DDCB161D-6249-4216-9CAF-73CA2C11103B}"/>
              </a:ext>
            </a:extLst>
          </p:cNvPr>
          <p:cNvSpPr>
            <a:spLocks xmlns:a="http://schemas.openxmlformats.org/drawingml/2006/main" noGrp="1"/>
          </p:cNvSpPr>
          <p:nvPr/>
        </p:nvSpPr>
        <p:spPr>
          <a:xfrm xmlns:a="http://schemas.openxmlformats.org/drawingml/2006/main">
            <a:off x="9467850" y="3619576"/>
            <a:ext cx="969645"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ՀԱՊՀ</a:t>
            </a:r>
          </a:p>
        </p:txBody>
      </p:sp>
      <p:sp>
        <p:nvSpPr>
          <p:cNvPr id="39" name="">
            <a:extLst xmlns:a="http://schemas.openxmlformats.org/drawingml/2006/main">
              <a:ext uri="{FF2B5EF4-FFF2-40B4-BE49-F238E27FC236}">
                <a16:creationId xmlns:a16="http://schemas.microsoft.com/office/drawing/2014/main" id="{4A4D0162-0411-4FF4-9A3C-1F2E8331594A}"/>
              </a:ext>
            </a:extLst>
          </p:cNvPr>
          <p:cNvSpPr>
            <a:spLocks xmlns:a="http://schemas.openxmlformats.org/drawingml/2006/main" noGrp="1"/>
          </p:cNvSpPr>
          <p:nvPr/>
        </p:nvSpPr>
        <p:spPr>
          <a:xfrm xmlns:a="http://schemas.openxmlformats.org/drawingml/2006/main">
            <a:off x="8324850" y="3994328"/>
            <a:ext cx="1028700" cy="9656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Ֆակուլտետ</a:t>
            </a:r>
          </a:p>
        </p:txBody>
      </p:sp>
      <p:sp>
        <p:nvSpPr>
          <p:cNvPr id="40" name="">
            <a:extLst xmlns:a="http://schemas.openxmlformats.org/drawingml/2006/main">
              <a:ext uri="{FF2B5EF4-FFF2-40B4-BE49-F238E27FC236}">
                <a16:creationId xmlns:a16="http://schemas.microsoft.com/office/drawing/2014/main" id="{B0325C82-15A6-49AD-A609-589188BA7293}"/>
              </a:ext>
            </a:extLst>
          </p:cNvPr>
          <p:cNvSpPr>
            <a:spLocks xmlns:a="http://schemas.openxmlformats.org/drawingml/2006/main" noGrp="1"/>
          </p:cNvSpPr>
          <p:nvPr/>
        </p:nvSpPr>
        <p:spPr>
          <a:xfrm xmlns:a="http://schemas.openxmlformats.org/drawingml/2006/main">
            <a:off x="9467850" y="3994328"/>
            <a:ext cx="969645" cy="9656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Տեղեկատվական տեխնոլոգիաներ</a:t>
            </a:r>
          </a:p>
        </p:txBody>
      </p:sp>
      <p:sp>
        <p:nvSpPr>
          <p:cNvPr id="41" name="">
            <a:extLst xmlns:a="http://schemas.openxmlformats.org/drawingml/2006/main">
              <a:ext uri="{FF2B5EF4-FFF2-40B4-BE49-F238E27FC236}">
                <a16:creationId xmlns:a16="http://schemas.microsoft.com/office/drawing/2014/main" id="{9E10E2B4-4EFB-4E02-A35B-6D9C4F41C56F}"/>
              </a:ext>
            </a:extLst>
          </p:cNvPr>
          <p:cNvSpPr>
            <a:spLocks xmlns:a="http://schemas.openxmlformats.org/drawingml/2006/main" noGrp="1"/>
          </p:cNvSpPr>
          <p:nvPr/>
        </p:nvSpPr>
        <p:spPr>
          <a:xfrm xmlns:a="http://schemas.openxmlformats.org/drawingml/2006/main">
            <a:off x="8324850" y="5093284"/>
            <a:ext cx="102870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Ղեկավար</a:t>
            </a:r>
          </a:p>
        </p:txBody>
      </p:sp>
      <p:sp>
        <p:nvSpPr>
          <p:cNvPr id="42" name="">
            <a:extLst xmlns:a="http://schemas.openxmlformats.org/drawingml/2006/main">
              <a:ext uri="{FF2B5EF4-FFF2-40B4-BE49-F238E27FC236}">
                <a16:creationId xmlns:a16="http://schemas.microsoft.com/office/drawing/2014/main" id="{C3691FB3-27DD-45A4-90E2-59E1D725B0FE}"/>
              </a:ext>
            </a:extLst>
          </p:cNvPr>
          <p:cNvSpPr>
            <a:spLocks xmlns:a="http://schemas.openxmlformats.org/drawingml/2006/main" noGrp="1"/>
          </p:cNvSpPr>
          <p:nvPr/>
        </p:nvSpPr>
        <p:spPr>
          <a:xfrm xmlns:a="http://schemas.openxmlformats.org/drawingml/2006/main">
            <a:off x="9467850" y="5093284"/>
            <a:ext cx="969645"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Անուն Ազգանուն</a:t>
            </a:r>
          </a:p>
        </p:txBody>
      </p:sp>
      <p:sp>
        <p:nvSpPr>
          <p:cNvPr id="43" name="">
            <a:extLst xmlns:a="http://schemas.openxmlformats.org/drawingml/2006/main">
              <a:ext uri="{FF2B5EF4-FFF2-40B4-BE49-F238E27FC236}">
                <a16:creationId xmlns:a16="http://schemas.microsoft.com/office/drawing/2014/main" id="{0BCB34F6-7566-4BD2-AC8D-62AE80510716}"/>
              </a:ext>
            </a:extLst>
          </p:cNvPr>
          <p:cNvSpPr>
            <a:spLocks xmlns:a="http://schemas.openxmlformats.org/drawingml/2006/main" noGrp="1"/>
          </p:cNvSpPr>
          <p:nvPr/>
        </p:nvSpPr>
        <p:spPr>
          <a:xfrm xmlns:a="http://schemas.openxmlformats.org/drawingml/2006/main">
            <a:off x="8324850" y="5709437"/>
            <a:ext cx="10287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Տարի</a:t>
            </a:r>
          </a:p>
        </p:txBody>
      </p:sp>
      <p:sp>
        <p:nvSpPr>
          <p:cNvPr id="44" name="">
            <a:extLst xmlns:a="http://schemas.openxmlformats.org/drawingml/2006/main">
              <a:ext uri="{FF2B5EF4-FFF2-40B4-BE49-F238E27FC236}">
                <a16:creationId xmlns:a16="http://schemas.microsoft.com/office/drawing/2014/main" id="{89A15520-5164-41E3-B524-21F05B8F9E9A}"/>
              </a:ext>
            </a:extLst>
          </p:cNvPr>
          <p:cNvSpPr>
            <a:spLocks xmlns:a="http://schemas.openxmlformats.org/drawingml/2006/main" noGrp="1"/>
          </p:cNvSpPr>
          <p:nvPr/>
        </p:nvSpPr>
        <p:spPr>
          <a:xfrm xmlns:a="http://schemas.openxmlformats.org/drawingml/2006/main">
            <a:off x="9467850" y="5709437"/>
            <a:ext cx="969645"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2026</a:t>
            </a:r>
          </a:p>
        </p:txBody>
      </p:sp>
      <p:sp>
        <p:nvSpPr>
          <p:cNvPr id="45" name="">
            <a:extLst xmlns:a="http://schemas.openxmlformats.org/drawingml/2006/main">
              <a:ext uri="{FF2B5EF4-FFF2-40B4-BE49-F238E27FC236}">
                <a16:creationId xmlns:a16="http://schemas.microsoft.com/office/drawing/2014/main" id="{59355B53-CEC3-460B-BADC-42272502F3C1}"/>
              </a:ext>
            </a:extLst>
          </p:cNvPr>
          <p:cNvSpPr>
            <a:spLocks xmlns:a="http://schemas.openxmlformats.org/drawingml/2006/main" noGrp="1"/>
          </p:cNvSpPr>
          <p:nvPr/>
        </p:nvSpPr>
        <p:spPr>
          <a:xfrm xmlns:a="http://schemas.openxmlformats.org/drawingml/2006/main">
            <a:off x="742950" y="6587261"/>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6" name="">
            <a:extLst xmlns:a="http://schemas.openxmlformats.org/drawingml/2006/main">
              <a:ext uri="{FF2B5EF4-FFF2-40B4-BE49-F238E27FC236}">
                <a16:creationId xmlns:a16="http://schemas.microsoft.com/office/drawing/2014/main" id="{4F80B110-D72B-4DBD-9A5F-6077334E71A9}"/>
              </a:ext>
            </a:extLst>
          </p:cNvPr>
          <p:cNvSpPr>
            <a:spLocks xmlns:a="http://schemas.openxmlformats.org/drawingml/2006/main" noGrp="1"/>
          </p:cNvSpPr>
          <p:nvPr/>
        </p:nvSpPr>
        <p:spPr>
          <a:xfrm xmlns:a="http://schemas.openxmlformats.org/drawingml/2006/main">
            <a:off x="10306050" y="6587261"/>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01</a:t>
            </a:r>
          </a:p>
        </p:txBody>
      </p:sp>
    </p:spTree>
    <p:extLst>
      <p:ext uri="{BB962C8B-B14F-4D97-AF65-F5344CB8AC3E}">
        <p14:creationId xmlns:p14="http://schemas.microsoft.com/office/powerpoint/2010/main" val="181427443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F7545E-9DD8-426C-8F30-98A4AE1EC0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E2A39922-1947-42E8-A73A-6D5A5BDCE42E}"/>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A105044E-6634-4D2F-8500-1F1C14AC5112}"/>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1A690951-56F4-4C24-8098-B74A6AB601AD}"/>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08F3BE67-41D4-4E1F-B182-7911F8C4CBE4}"/>
              </a:ext>
            </a:extLst>
          </p:cNvPr>
          <p:cNvSpPr>
            <a:spLocks xmlns:a="http://schemas.openxmlformats.org/drawingml/2006/main" noGrp="1"/>
          </p:cNvSpPr>
          <p:nvPr/>
        </p:nvSpPr>
        <p:spPr>
          <a:xfrm xmlns:a="http://schemas.openxmlformats.org/drawingml/2006/main">
            <a:off x="819150" y="952500"/>
            <a:ext cx="971645"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Ընդհանուր տեսք</a:t>
            </a:r>
          </a:p>
        </p:txBody>
      </p:sp>
      <p:sp>
        <p:nvSpPr>
          <p:cNvPr id="6" name="">
            <a:extLst xmlns:a="http://schemas.openxmlformats.org/drawingml/2006/main">
              <a:ext uri="{FF2B5EF4-FFF2-40B4-BE49-F238E27FC236}">
                <a16:creationId xmlns:a16="http://schemas.microsoft.com/office/drawing/2014/main" id="{07F563D1-11D0-45F0-814D-9C021FD8D9C3}"/>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Ինչպես է բաժանված մոդելը</a:t>
            </a:r>
          </a:p>
        </p:txBody>
      </p:sp>
      <p:sp>
        <p:nvSpPr>
          <p:cNvPr id="7" name="">
            <a:extLst xmlns:a="http://schemas.openxmlformats.org/drawingml/2006/main">
              <a:ext uri="{FF2B5EF4-FFF2-40B4-BE49-F238E27FC236}">
                <a16:creationId xmlns:a16="http://schemas.microsoft.com/office/drawing/2014/main" id="{FCF36572-A229-4402-A3F5-C92B60AC6EA0}"/>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Բազան կառուցված է երեք խոշոր շերտով՝ հաշիվներ, ակադեմիական կառուցվածք և ուսումնական գործընթաց</a:t>
            </a:r>
          </a:p>
        </p:txBody>
      </p:sp>
      <p:sp>
        <p:nvSpPr>
          <p:cNvPr id="8" name="">
            <a:extLst xmlns:a="http://schemas.openxmlformats.org/drawingml/2006/main">
              <a:ext uri="{FF2B5EF4-FFF2-40B4-BE49-F238E27FC236}">
                <a16:creationId xmlns:a16="http://schemas.microsoft.com/office/drawing/2014/main" id="{782FFBA3-B55B-4A94-AFEF-EC478B4CFFF8}"/>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23B66A9C-FFB2-4892-A911-D53E545B3FAE}"/>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02</a:t>
            </a:r>
          </a:p>
        </p:txBody>
      </p:sp>
      <p:sp>
        <p:nvSpPr>
          <p:cNvPr id="10" name="">
            <a:extLst xmlns:a="http://schemas.openxmlformats.org/drawingml/2006/main">
              <a:ext uri="{FF2B5EF4-FFF2-40B4-BE49-F238E27FC236}">
                <a16:creationId xmlns:a16="http://schemas.microsoft.com/office/drawing/2014/main" id="{980A82C9-5FE7-4D1D-AC45-2D5F6A85B5FA}"/>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84901BB4-B070-4D35-9509-11056D56A829}"/>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C051DB3F-29FD-4869-A453-DBB2672FA44C}"/>
              </a:ext>
            </a:extLst>
          </p:cNvPr>
          <p:cNvSpPr>
            <a:spLocks xmlns:a="http://schemas.openxmlformats.org/drawingml/2006/main" noGrp="1"/>
          </p:cNvSpPr>
          <p:nvPr/>
        </p:nvSpPr>
        <p:spPr>
          <a:xfrm xmlns:a="http://schemas.openxmlformats.org/drawingml/2006/main">
            <a:off x="742950" y="2064639"/>
            <a:ext cx="3467100" cy="2576322"/>
          </a:xfrm>
          <a:prstGeom xmlns:a="http://schemas.openxmlformats.org/drawingml/2006/main" prst="roundRect">
            <a:avLst>
              <a:gd name="adj" fmla="val 6655"/>
            </a:avLst>
          </a:prstGeom>
          <a:solidFill xmlns:a="http://schemas.openxmlformats.org/drawingml/2006/main">
            <a:srgbClr val="F8FB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B4DB946C-AED5-4033-92BF-1F327BA68644}"/>
              </a:ext>
            </a:extLst>
          </p:cNvPr>
          <p:cNvSpPr>
            <a:spLocks xmlns:a="http://schemas.openxmlformats.org/drawingml/2006/main" noGrp="1"/>
          </p:cNvSpPr>
          <p:nvPr/>
        </p:nvSpPr>
        <p:spPr>
          <a:xfrm xmlns:a="http://schemas.openxmlformats.org/drawingml/2006/main">
            <a:off x="933450" y="2255139"/>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23D0EFBD-5FE0-48B9-B0F6-7367A6CDE927}"/>
              </a:ext>
            </a:extLst>
          </p:cNvPr>
          <p:cNvSpPr>
            <a:spLocks xmlns:a="http://schemas.openxmlformats.org/drawingml/2006/main" noGrp="1"/>
          </p:cNvSpPr>
          <p:nvPr/>
        </p:nvSpPr>
        <p:spPr>
          <a:xfrm xmlns:a="http://schemas.openxmlformats.org/drawingml/2006/main">
            <a:off x="1162050" y="2255139"/>
            <a:ext cx="2857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1. Հաշիվներ և դերեր</a:t>
            </a:r>
          </a:p>
        </p:txBody>
      </p:sp>
      <p:sp>
        <p:nvSpPr>
          <p:cNvPr id="15" name="">
            <a:extLst xmlns:a="http://schemas.openxmlformats.org/drawingml/2006/main">
              <a:ext uri="{FF2B5EF4-FFF2-40B4-BE49-F238E27FC236}">
                <a16:creationId xmlns:a16="http://schemas.microsoft.com/office/drawing/2014/main" id="{1BF14A0A-63BE-43A1-B74A-46F2428442CC}"/>
              </a:ext>
            </a:extLst>
          </p:cNvPr>
          <p:cNvSpPr>
            <a:spLocks xmlns:a="http://schemas.openxmlformats.org/drawingml/2006/main" noGrp="1"/>
          </p:cNvSpPr>
          <p:nvPr/>
        </p:nvSpPr>
        <p:spPr>
          <a:xfrm xmlns:a="http://schemas.openxmlformats.org/drawingml/2006/main">
            <a:off x="933450" y="2616327"/>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user_accounts</a:t>
            </a:r>
          </a:p>
        </p:txBody>
      </p:sp>
      <p:sp>
        <p:nvSpPr>
          <p:cNvPr id="16" name="">
            <a:extLst xmlns:a="http://schemas.openxmlformats.org/drawingml/2006/main">
              <a:ext uri="{FF2B5EF4-FFF2-40B4-BE49-F238E27FC236}">
                <a16:creationId xmlns:a16="http://schemas.microsoft.com/office/drawing/2014/main" id="{D52525B2-F916-4D83-80F8-675EEF699DFC}"/>
              </a:ext>
            </a:extLst>
          </p:cNvPr>
          <p:cNvSpPr>
            <a:spLocks xmlns:a="http://schemas.openxmlformats.org/drawingml/2006/main" noGrp="1"/>
          </p:cNvSpPr>
          <p:nvPr/>
        </p:nvSpPr>
        <p:spPr>
          <a:xfrm xmlns:a="http://schemas.openxmlformats.org/drawingml/2006/main">
            <a:off x="933450" y="2952979"/>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admins</a:t>
            </a:r>
          </a:p>
        </p:txBody>
      </p:sp>
      <p:sp>
        <p:nvSpPr>
          <p:cNvPr id="17" name="">
            <a:extLst xmlns:a="http://schemas.openxmlformats.org/drawingml/2006/main">
              <a:ext uri="{FF2B5EF4-FFF2-40B4-BE49-F238E27FC236}">
                <a16:creationId xmlns:a16="http://schemas.microsoft.com/office/drawing/2014/main" id="{F7A581A1-6EDF-464A-9621-C795815A0682}"/>
              </a:ext>
            </a:extLst>
          </p:cNvPr>
          <p:cNvSpPr>
            <a:spLocks xmlns:a="http://schemas.openxmlformats.org/drawingml/2006/main" noGrp="1"/>
          </p:cNvSpPr>
          <p:nvPr/>
        </p:nvSpPr>
        <p:spPr>
          <a:xfrm xmlns:a="http://schemas.openxmlformats.org/drawingml/2006/main">
            <a:off x="933450" y="3289630"/>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teachers</a:t>
            </a:r>
          </a:p>
        </p:txBody>
      </p:sp>
      <p:sp>
        <p:nvSpPr>
          <p:cNvPr id="18" name="">
            <a:extLst xmlns:a="http://schemas.openxmlformats.org/drawingml/2006/main">
              <a:ext uri="{FF2B5EF4-FFF2-40B4-BE49-F238E27FC236}">
                <a16:creationId xmlns:a16="http://schemas.microsoft.com/office/drawing/2014/main" id="{78099EAB-4D38-4E7E-A9FC-1288018502D8}"/>
              </a:ext>
            </a:extLst>
          </p:cNvPr>
          <p:cNvSpPr>
            <a:spLocks xmlns:a="http://schemas.openxmlformats.org/drawingml/2006/main" noGrp="1"/>
          </p:cNvSpPr>
          <p:nvPr/>
        </p:nvSpPr>
        <p:spPr>
          <a:xfrm xmlns:a="http://schemas.openxmlformats.org/drawingml/2006/main">
            <a:off x="933450" y="3626282"/>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students</a:t>
            </a:r>
          </a:p>
        </p:txBody>
      </p:sp>
      <p:sp>
        <p:nvSpPr>
          <p:cNvPr id="19" name="">
            <a:extLst xmlns:a="http://schemas.openxmlformats.org/drawingml/2006/main">
              <a:ext uri="{FF2B5EF4-FFF2-40B4-BE49-F238E27FC236}">
                <a16:creationId xmlns:a16="http://schemas.microsoft.com/office/drawing/2014/main" id="{767DABBF-706F-4D12-9A73-BCC221052558}"/>
              </a:ext>
            </a:extLst>
          </p:cNvPr>
          <p:cNvSpPr>
            <a:spLocks xmlns:a="http://schemas.openxmlformats.org/drawingml/2006/main" noGrp="1"/>
          </p:cNvSpPr>
          <p:nvPr/>
        </p:nvSpPr>
        <p:spPr>
          <a:xfrm xmlns:a="http://schemas.openxmlformats.org/drawingml/2006/main">
            <a:off x="4362450" y="2064639"/>
            <a:ext cx="3467100" cy="2576322"/>
          </a:xfrm>
          <a:prstGeom xmlns:a="http://schemas.openxmlformats.org/drawingml/2006/main" prst="roundRect">
            <a:avLst>
              <a:gd name="adj" fmla="val 6655"/>
            </a:avLst>
          </a:prstGeom>
          <a:solidFill xmlns:a="http://schemas.openxmlformats.org/drawingml/2006/main">
            <a:srgbClr val="F8FBFF"/>
          </a:solidFill>
          <a:ln xmlns:a="http://schemas.openxmlformats.org/drawingml/2006/main" w="9525">
            <a:solidFill>
              <a:srgbClr val="DCE7F4"/>
            </a:solidFill>
            <a:prstDash val="solid"/>
          </a:ln>
        </p:spPr>
      </p:sp>
      <p:sp>
        <p:nvSpPr>
          <p:cNvPr id="20" name="">
            <a:extLst xmlns:a="http://schemas.openxmlformats.org/drawingml/2006/main">
              <a:ext uri="{FF2B5EF4-FFF2-40B4-BE49-F238E27FC236}">
                <a16:creationId xmlns:a16="http://schemas.microsoft.com/office/drawing/2014/main" id="{D087B4FE-1AC7-46B8-97FA-2B3699B9E124}"/>
              </a:ext>
            </a:extLst>
          </p:cNvPr>
          <p:cNvSpPr>
            <a:spLocks xmlns:a="http://schemas.openxmlformats.org/drawingml/2006/main" noGrp="1"/>
          </p:cNvSpPr>
          <p:nvPr/>
        </p:nvSpPr>
        <p:spPr>
          <a:xfrm xmlns:a="http://schemas.openxmlformats.org/drawingml/2006/main">
            <a:off x="4552950" y="2255139"/>
            <a:ext cx="133350" cy="133350"/>
          </a:xfrm>
          <a:prstGeom xmlns:a="http://schemas.openxmlformats.org/drawingml/2006/main" prst="ellipse">
            <a:avLst/>
          </a:prstGeom>
          <a:solidFill xmlns:a="http://schemas.openxmlformats.org/drawingml/2006/main">
            <a:srgbClr val="2F7CC0"/>
          </a:solidFill>
        </p:spPr>
      </p:sp>
      <p:sp>
        <p:nvSpPr>
          <p:cNvPr id="21" name="">
            <a:extLst xmlns:a="http://schemas.openxmlformats.org/drawingml/2006/main">
              <a:ext uri="{FF2B5EF4-FFF2-40B4-BE49-F238E27FC236}">
                <a16:creationId xmlns:a16="http://schemas.microsoft.com/office/drawing/2014/main" id="{9BD456A3-6101-4A23-B9B3-85736D654C2B}"/>
              </a:ext>
            </a:extLst>
          </p:cNvPr>
          <p:cNvSpPr>
            <a:spLocks xmlns:a="http://schemas.openxmlformats.org/drawingml/2006/main" noGrp="1"/>
          </p:cNvSpPr>
          <p:nvPr/>
        </p:nvSpPr>
        <p:spPr>
          <a:xfrm xmlns:a="http://schemas.openxmlformats.org/drawingml/2006/main">
            <a:off x="4781550" y="2255139"/>
            <a:ext cx="2857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2. Ակադեմիական կառուցվածք</a:t>
            </a:r>
          </a:p>
        </p:txBody>
      </p:sp>
      <p:sp>
        <p:nvSpPr>
          <p:cNvPr id="22" name="">
            <a:extLst xmlns:a="http://schemas.openxmlformats.org/drawingml/2006/main">
              <a:ext uri="{FF2B5EF4-FFF2-40B4-BE49-F238E27FC236}">
                <a16:creationId xmlns:a16="http://schemas.microsoft.com/office/drawing/2014/main" id="{C5BBF4A9-B28E-47DC-AE9F-C954DF6AA04C}"/>
              </a:ext>
            </a:extLst>
          </p:cNvPr>
          <p:cNvSpPr>
            <a:spLocks xmlns:a="http://schemas.openxmlformats.org/drawingml/2006/main" noGrp="1"/>
          </p:cNvSpPr>
          <p:nvPr/>
        </p:nvSpPr>
        <p:spPr>
          <a:xfrm xmlns:a="http://schemas.openxmlformats.org/drawingml/2006/main">
            <a:off x="4552950" y="2616327"/>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academic_units</a:t>
            </a:r>
          </a:p>
        </p:txBody>
      </p:sp>
      <p:sp>
        <p:nvSpPr>
          <p:cNvPr id="23" name="">
            <a:extLst xmlns:a="http://schemas.openxmlformats.org/drawingml/2006/main">
              <a:ext uri="{FF2B5EF4-FFF2-40B4-BE49-F238E27FC236}">
                <a16:creationId xmlns:a16="http://schemas.microsoft.com/office/drawing/2014/main" id="{6919C73D-4007-4845-96E5-D0354E8E205C}"/>
              </a:ext>
            </a:extLst>
          </p:cNvPr>
          <p:cNvSpPr>
            <a:spLocks xmlns:a="http://schemas.openxmlformats.org/drawingml/2006/main" noGrp="1"/>
          </p:cNvSpPr>
          <p:nvPr/>
        </p:nvSpPr>
        <p:spPr>
          <a:xfrm xmlns:a="http://schemas.openxmlformats.org/drawingml/2006/main">
            <a:off x="4552950" y="2952979"/>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specializations</a:t>
            </a:r>
          </a:p>
        </p:txBody>
      </p:sp>
      <p:sp>
        <p:nvSpPr>
          <p:cNvPr id="24" name="">
            <a:extLst xmlns:a="http://schemas.openxmlformats.org/drawingml/2006/main">
              <a:ext uri="{FF2B5EF4-FFF2-40B4-BE49-F238E27FC236}">
                <a16:creationId xmlns:a16="http://schemas.microsoft.com/office/drawing/2014/main" id="{94E8796A-1095-49D1-94CB-831AA25087B4}"/>
              </a:ext>
            </a:extLst>
          </p:cNvPr>
          <p:cNvSpPr>
            <a:spLocks xmlns:a="http://schemas.openxmlformats.org/drawingml/2006/main" noGrp="1"/>
          </p:cNvSpPr>
          <p:nvPr/>
        </p:nvSpPr>
        <p:spPr>
          <a:xfrm xmlns:a="http://schemas.openxmlformats.org/drawingml/2006/main">
            <a:off x="4552950" y="3289630"/>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academic_groups</a:t>
            </a:r>
          </a:p>
        </p:txBody>
      </p:sp>
      <p:sp>
        <p:nvSpPr>
          <p:cNvPr id="25" name="">
            <a:extLst xmlns:a="http://schemas.openxmlformats.org/drawingml/2006/main">
              <a:ext uri="{FF2B5EF4-FFF2-40B4-BE49-F238E27FC236}">
                <a16:creationId xmlns:a16="http://schemas.microsoft.com/office/drawing/2014/main" id="{B989B91A-4045-45EF-A51C-992331398DA2}"/>
              </a:ext>
            </a:extLst>
          </p:cNvPr>
          <p:cNvSpPr>
            <a:spLocks xmlns:a="http://schemas.openxmlformats.org/drawingml/2006/main" noGrp="1"/>
          </p:cNvSpPr>
          <p:nvPr/>
        </p:nvSpPr>
        <p:spPr>
          <a:xfrm xmlns:a="http://schemas.openxmlformats.org/drawingml/2006/main">
            <a:off x="4552950" y="3626282"/>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lab_groups</a:t>
            </a:r>
          </a:p>
        </p:txBody>
      </p:sp>
      <p:sp>
        <p:nvSpPr>
          <p:cNvPr id="26" name="">
            <a:extLst xmlns:a="http://schemas.openxmlformats.org/drawingml/2006/main">
              <a:ext uri="{FF2B5EF4-FFF2-40B4-BE49-F238E27FC236}">
                <a16:creationId xmlns:a16="http://schemas.microsoft.com/office/drawing/2014/main" id="{C0A1C2FA-FC54-40EB-A72B-D0F4874DEF01}"/>
              </a:ext>
            </a:extLst>
          </p:cNvPr>
          <p:cNvSpPr>
            <a:spLocks xmlns:a="http://schemas.openxmlformats.org/drawingml/2006/main" noGrp="1"/>
          </p:cNvSpPr>
          <p:nvPr/>
        </p:nvSpPr>
        <p:spPr>
          <a:xfrm xmlns:a="http://schemas.openxmlformats.org/drawingml/2006/main">
            <a:off x="7981950" y="2064639"/>
            <a:ext cx="3467100" cy="2576322"/>
          </a:xfrm>
          <a:prstGeom xmlns:a="http://schemas.openxmlformats.org/drawingml/2006/main" prst="roundRect">
            <a:avLst>
              <a:gd name="adj" fmla="val 6655"/>
            </a:avLst>
          </a:prstGeom>
          <a:solidFill xmlns:a="http://schemas.openxmlformats.org/drawingml/2006/main">
            <a:srgbClr val="F8FB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54A3F0BF-21BB-4F51-9732-C39F1F6974AC}"/>
              </a:ext>
            </a:extLst>
          </p:cNvPr>
          <p:cNvSpPr>
            <a:spLocks xmlns:a="http://schemas.openxmlformats.org/drawingml/2006/main" noGrp="1"/>
          </p:cNvSpPr>
          <p:nvPr/>
        </p:nvSpPr>
        <p:spPr>
          <a:xfrm xmlns:a="http://schemas.openxmlformats.org/drawingml/2006/main">
            <a:off x="8172450" y="2255139"/>
            <a:ext cx="133350" cy="133350"/>
          </a:xfrm>
          <a:prstGeom xmlns:a="http://schemas.openxmlformats.org/drawingml/2006/main" prst="ellipse">
            <a:avLst/>
          </a:prstGeom>
          <a:solidFill xmlns:a="http://schemas.openxmlformats.org/drawingml/2006/main">
            <a:srgbClr val="2F8F69"/>
          </a:solidFill>
        </p:spPr>
      </p:sp>
      <p:sp>
        <p:nvSpPr>
          <p:cNvPr id="28" name="">
            <a:extLst xmlns:a="http://schemas.openxmlformats.org/drawingml/2006/main">
              <a:ext uri="{FF2B5EF4-FFF2-40B4-BE49-F238E27FC236}">
                <a16:creationId xmlns:a16="http://schemas.microsoft.com/office/drawing/2014/main" id="{0C9515AE-8BC5-4E80-98EF-5CEC6C3DE854}"/>
              </a:ext>
            </a:extLst>
          </p:cNvPr>
          <p:cNvSpPr>
            <a:spLocks xmlns:a="http://schemas.openxmlformats.org/drawingml/2006/main" noGrp="1"/>
          </p:cNvSpPr>
          <p:nvPr/>
        </p:nvSpPr>
        <p:spPr>
          <a:xfrm xmlns:a="http://schemas.openxmlformats.org/drawingml/2006/main">
            <a:off x="8401050" y="2255139"/>
            <a:ext cx="2857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3. Ուսումնական գործընթաց</a:t>
            </a:r>
          </a:p>
        </p:txBody>
      </p:sp>
      <p:sp>
        <p:nvSpPr>
          <p:cNvPr id="29" name="">
            <a:extLst xmlns:a="http://schemas.openxmlformats.org/drawingml/2006/main">
              <a:ext uri="{FF2B5EF4-FFF2-40B4-BE49-F238E27FC236}">
                <a16:creationId xmlns:a16="http://schemas.microsoft.com/office/drawing/2014/main" id="{A5415F03-DBAA-4DE3-AB7B-8CC18D333105}"/>
              </a:ext>
            </a:extLst>
          </p:cNvPr>
          <p:cNvSpPr>
            <a:spLocks xmlns:a="http://schemas.openxmlformats.org/drawingml/2006/main" noGrp="1"/>
          </p:cNvSpPr>
          <p:nvPr/>
        </p:nvSpPr>
        <p:spPr>
          <a:xfrm xmlns:a="http://schemas.openxmlformats.org/drawingml/2006/main">
            <a:off x="8172450" y="2616327"/>
            <a:ext cx="30861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subjects</a:t>
            </a:r>
          </a:p>
        </p:txBody>
      </p:sp>
      <p:sp>
        <p:nvSpPr>
          <p:cNvPr id="30" name="">
            <a:extLst xmlns:a="http://schemas.openxmlformats.org/drawingml/2006/main">
              <a:ext uri="{FF2B5EF4-FFF2-40B4-BE49-F238E27FC236}">
                <a16:creationId xmlns:a16="http://schemas.microsoft.com/office/drawing/2014/main" id="{96AC78FB-B391-4668-A423-37C6DF69F342}"/>
              </a:ext>
            </a:extLst>
          </p:cNvPr>
          <p:cNvSpPr>
            <a:spLocks xmlns:a="http://schemas.openxmlformats.org/drawingml/2006/main" noGrp="1"/>
          </p:cNvSpPr>
          <p:nvPr/>
        </p:nvSpPr>
        <p:spPr>
          <a:xfrm xmlns:a="http://schemas.openxmlformats.org/drawingml/2006/main">
            <a:off x="8172450" y="2937891"/>
            <a:ext cx="30861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subject_group_offerings</a:t>
            </a:r>
          </a:p>
        </p:txBody>
      </p:sp>
      <p:sp>
        <p:nvSpPr>
          <p:cNvPr id="31" name="">
            <a:extLst xmlns:a="http://schemas.openxmlformats.org/drawingml/2006/main">
              <a:ext uri="{FF2B5EF4-FFF2-40B4-BE49-F238E27FC236}">
                <a16:creationId xmlns:a16="http://schemas.microsoft.com/office/drawing/2014/main" id="{1E27EA81-C4A2-4549-B732-A1E6F36B4791}"/>
              </a:ext>
            </a:extLst>
          </p:cNvPr>
          <p:cNvSpPr>
            <a:spLocks xmlns:a="http://schemas.openxmlformats.org/drawingml/2006/main" noGrp="1"/>
          </p:cNvSpPr>
          <p:nvPr/>
        </p:nvSpPr>
        <p:spPr>
          <a:xfrm xmlns:a="http://schemas.openxmlformats.org/drawingml/2006/main">
            <a:off x="8172450" y="3259455"/>
            <a:ext cx="30861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teacher_subject_assignments</a:t>
            </a:r>
          </a:p>
        </p:txBody>
      </p:sp>
      <p:sp>
        <p:nvSpPr>
          <p:cNvPr id="32" name="">
            <a:extLst xmlns:a="http://schemas.openxmlformats.org/drawingml/2006/main">
              <a:ext uri="{FF2B5EF4-FFF2-40B4-BE49-F238E27FC236}">
                <a16:creationId xmlns:a16="http://schemas.microsoft.com/office/drawing/2014/main" id="{1DA9B8F6-EC2A-40A2-A49A-D36F4B6E4BD5}"/>
              </a:ext>
            </a:extLst>
          </p:cNvPr>
          <p:cNvSpPr>
            <a:spLocks xmlns:a="http://schemas.openxmlformats.org/drawingml/2006/main" noGrp="1"/>
          </p:cNvSpPr>
          <p:nvPr/>
        </p:nvSpPr>
        <p:spPr>
          <a:xfrm xmlns:a="http://schemas.openxmlformats.org/drawingml/2006/main">
            <a:off x="8172450" y="3581019"/>
            <a:ext cx="30861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student_subject_enrollments</a:t>
            </a:r>
          </a:p>
        </p:txBody>
      </p:sp>
      <p:sp>
        <p:nvSpPr>
          <p:cNvPr id="33" name="">
            <a:extLst xmlns:a="http://schemas.openxmlformats.org/drawingml/2006/main">
              <a:ext uri="{FF2B5EF4-FFF2-40B4-BE49-F238E27FC236}">
                <a16:creationId xmlns:a16="http://schemas.microsoft.com/office/drawing/2014/main" id="{AC2D64F4-EE64-4E8C-AA63-61AA0C10D1AA}"/>
              </a:ext>
            </a:extLst>
          </p:cNvPr>
          <p:cNvSpPr>
            <a:spLocks xmlns:a="http://schemas.openxmlformats.org/drawingml/2006/main" noGrp="1"/>
          </p:cNvSpPr>
          <p:nvPr/>
        </p:nvSpPr>
        <p:spPr>
          <a:xfrm xmlns:a="http://schemas.openxmlformats.org/drawingml/2006/main">
            <a:off x="8172450" y="3902583"/>
            <a:ext cx="30861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lab_assignments</a:t>
            </a:r>
          </a:p>
        </p:txBody>
      </p:sp>
      <p:sp>
        <p:nvSpPr>
          <p:cNvPr id="34" name="">
            <a:extLst xmlns:a="http://schemas.openxmlformats.org/drawingml/2006/main">
              <a:ext uri="{FF2B5EF4-FFF2-40B4-BE49-F238E27FC236}">
                <a16:creationId xmlns:a16="http://schemas.microsoft.com/office/drawing/2014/main" id="{F0C88396-E532-432C-9EDD-200AD402737D}"/>
              </a:ext>
            </a:extLst>
          </p:cNvPr>
          <p:cNvSpPr>
            <a:spLocks xmlns:a="http://schemas.openxmlformats.org/drawingml/2006/main" noGrp="1"/>
          </p:cNvSpPr>
          <p:nvPr/>
        </p:nvSpPr>
        <p:spPr>
          <a:xfrm xmlns:a="http://schemas.openxmlformats.org/drawingml/2006/main">
            <a:off x="8172450" y="4224147"/>
            <a:ext cx="30861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student_lab_results</a:t>
            </a:r>
          </a:p>
        </p:txBody>
      </p:sp>
      <p:sp>
        <p:nvSpPr>
          <p:cNvPr id="35" name="">
            <a:extLst xmlns:a="http://schemas.openxmlformats.org/drawingml/2006/main">
              <a:ext uri="{FF2B5EF4-FFF2-40B4-BE49-F238E27FC236}">
                <a16:creationId xmlns:a16="http://schemas.microsoft.com/office/drawing/2014/main" id="{6035E691-F9D1-42B1-8931-D297FAF2B3F0}"/>
              </a:ext>
            </a:extLst>
          </p:cNvPr>
          <p:cNvSpPr>
            <a:spLocks xmlns:a="http://schemas.openxmlformats.org/drawingml/2006/main" noGrp="1"/>
          </p:cNvSpPr>
          <p:nvPr/>
        </p:nvSpPr>
        <p:spPr>
          <a:xfrm xmlns:a="http://schemas.openxmlformats.org/drawingml/2006/main">
            <a:off x="742950" y="4812411"/>
            <a:ext cx="10706100" cy="1656893"/>
          </a:xfrm>
          <a:prstGeom xmlns:a="http://schemas.openxmlformats.org/drawingml/2006/main" prst="roundRect">
            <a:avLst>
              <a:gd name="adj" fmla="val 10348"/>
            </a:avLst>
          </a:prstGeom>
          <a:solidFill xmlns:a="http://schemas.openxmlformats.org/drawingml/2006/main">
            <a:srgbClr val="EDF5FF"/>
          </a:solidFill>
          <a:ln xmlns:a="http://schemas.openxmlformats.org/drawingml/2006/main" w="9525">
            <a:solidFill>
              <a:srgbClr val="DCE7F4"/>
            </a:solidFill>
            <a:prstDash val="solid"/>
          </a:ln>
        </p:spPr>
      </p:sp>
      <p:sp>
        <p:nvSpPr>
          <p:cNvPr id="36" name="">
            <a:extLst xmlns:a="http://schemas.openxmlformats.org/drawingml/2006/main">
              <a:ext uri="{FF2B5EF4-FFF2-40B4-BE49-F238E27FC236}">
                <a16:creationId xmlns:a16="http://schemas.microsoft.com/office/drawing/2014/main" id="{0D6C5970-B609-4D0C-BBB0-9D5D36A8166C}"/>
              </a:ext>
            </a:extLst>
          </p:cNvPr>
          <p:cNvSpPr>
            <a:spLocks xmlns:a="http://schemas.openxmlformats.org/drawingml/2006/main" noGrp="1"/>
          </p:cNvSpPr>
          <p:nvPr/>
        </p:nvSpPr>
        <p:spPr>
          <a:xfrm xmlns:a="http://schemas.openxmlformats.org/drawingml/2006/main">
            <a:off x="933450" y="5002911"/>
            <a:ext cx="133350" cy="133350"/>
          </a:xfrm>
          <a:prstGeom xmlns:a="http://schemas.openxmlformats.org/drawingml/2006/main" prst="ellipse">
            <a:avLst/>
          </a:prstGeom>
          <a:solidFill xmlns:a="http://schemas.openxmlformats.org/drawingml/2006/main">
            <a:srgbClr val="0F4C81"/>
          </a:solidFill>
        </p:spPr>
      </p:sp>
      <p:sp>
        <p:nvSpPr>
          <p:cNvPr id="37" name="">
            <a:extLst xmlns:a="http://schemas.openxmlformats.org/drawingml/2006/main">
              <a:ext uri="{FF2B5EF4-FFF2-40B4-BE49-F238E27FC236}">
                <a16:creationId xmlns:a16="http://schemas.microsoft.com/office/drawing/2014/main" id="{7821ED40-019C-4587-A556-35A24D425F9A}"/>
              </a:ext>
            </a:extLst>
          </p:cNvPr>
          <p:cNvSpPr>
            <a:spLocks xmlns:a="http://schemas.openxmlformats.org/drawingml/2006/main" noGrp="1"/>
          </p:cNvSpPr>
          <p:nvPr/>
        </p:nvSpPr>
        <p:spPr>
          <a:xfrm xmlns:a="http://schemas.openxmlformats.org/drawingml/2006/main">
            <a:off x="1162050" y="5002911"/>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Մոդելի հիմնական գաղափարը</a:t>
            </a:r>
          </a:p>
        </p:txBody>
      </p:sp>
      <p:sp>
        <p:nvSpPr>
          <p:cNvPr id="38" name="">
            <a:extLst xmlns:a="http://schemas.openxmlformats.org/drawingml/2006/main">
              <a:ext uri="{FF2B5EF4-FFF2-40B4-BE49-F238E27FC236}">
                <a16:creationId xmlns:a16="http://schemas.microsoft.com/office/drawing/2014/main" id="{AD1C346B-2AB8-4D4C-9BC6-A3C251015B40}"/>
              </a:ext>
            </a:extLst>
          </p:cNvPr>
          <p:cNvSpPr>
            <a:spLocks xmlns:a="http://schemas.openxmlformats.org/drawingml/2006/main" noGrp="1"/>
          </p:cNvSpPr>
          <p:nvPr/>
        </p:nvSpPr>
        <p:spPr>
          <a:xfrm xmlns:a="http://schemas.openxmlformats.org/drawingml/2006/main">
            <a:off x="933450" y="5364099"/>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Մարդը նախ դառնում է համակարգի օգտատեր</a:t>
            </a:r>
          </a:p>
        </p:txBody>
      </p:sp>
      <p:sp>
        <p:nvSpPr>
          <p:cNvPr id="39" name="">
            <a:extLst xmlns:a="http://schemas.openxmlformats.org/drawingml/2006/main">
              <a:ext uri="{FF2B5EF4-FFF2-40B4-BE49-F238E27FC236}">
                <a16:creationId xmlns:a16="http://schemas.microsoft.com/office/drawing/2014/main" id="{EB14C579-6F7B-4706-BFC0-13C59CAD8854}"/>
              </a:ext>
            </a:extLst>
          </p:cNvPr>
          <p:cNvSpPr>
            <a:spLocks xmlns:a="http://schemas.openxmlformats.org/drawingml/2006/main" noGrp="1"/>
          </p:cNvSpPr>
          <p:nvPr/>
        </p:nvSpPr>
        <p:spPr>
          <a:xfrm xmlns:a="http://schemas.openxmlformats.org/drawingml/2006/main">
            <a:off x="933450" y="5700751"/>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Հետո նա տեղավորվում է համալսարանի կառուցվածքի մեջ</a:t>
            </a:r>
          </a:p>
        </p:txBody>
      </p:sp>
      <p:sp>
        <p:nvSpPr>
          <p:cNvPr id="40" name="">
            <a:extLst xmlns:a="http://schemas.openxmlformats.org/drawingml/2006/main">
              <a:ext uri="{FF2B5EF4-FFF2-40B4-BE49-F238E27FC236}">
                <a16:creationId xmlns:a16="http://schemas.microsoft.com/office/drawing/2014/main" id="{BFF2CFBD-A3B2-4502-8B6D-A7E715364335}"/>
              </a:ext>
            </a:extLst>
          </p:cNvPr>
          <p:cNvSpPr>
            <a:spLocks xmlns:a="http://schemas.openxmlformats.org/drawingml/2006/main" noGrp="1"/>
          </p:cNvSpPr>
          <p:nvPr/>
        </p:nvSpPr>
        <p:spPr>
          <a:xfrm xmlns:a="http://schemas.openxmlformats.org/drawingml/2006/main">
            <a:off x="933450" y="6037402"/>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Վերջում նա մասնակցում է կոնկրետ առարկայի առաջարկի, լաբորատոր ենթախմբի և արդյունքի մակարդակով</a:t>
            </a:r>
          </a:p>
        </p:txBody>
      </p:sp>
      <p:sp>
        <p:nvSpPr>
          <p:cNvPr id="41" name="">
            <a:extLst xmlns:a="http://schemas.openxmlformats.org/drawingml/2006/main">
              <a:ext uri="{FF2B5EF4-FFF2-40B4-BE49-F238E27FC236}">
                <a16:creationId xmlns:a16="http://schemas.microsoft.com/office/drawing/2014/main" id="{D77E0002-7D19-4D94-A07B-26AF53FAAB4E}"/>
              </a:ext>
            </a:extLst>
          </p:cNvPr>
          <p:cNvSpPr>
            <a:spLocks xmlns:a="http://schemas.openxmlformats.org/drawingml/2006/main" noGrp="1"/>
          </p:cNvSpPr>
          <p:nvPr/>
        </p:nvSpPr>
        <p:spPr>
          <a:xfrm xmlns:a="http://schemas.openxmlformats.org/drawingml/2006/main">
            <a:off x="742950" y="6640754"/>
            <a:ext cx="5276850" cy="161163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DCE7F4"/>
            </a:solidFill>
            <a:prstDash val="solid"/>
          </a:ln>
        </p:spPr>
      </p:sp>
      <p:sp>
        <p:nvSpPr>
          <p:cNvPr id="42" name="">
            <a:extLst xmlns:a="http://schemas.openxmlformats.org/drawingml/2006/main">
              <a:ext uri="{FF2B5EF4-FFF2-40B4-BE49-F238E27FC236}">
                <a16:creationId xmlns:a16="http://schemas.microsoft.com/office/drawing/2014/main" id="{E5D28A88-FB62-414D-9442-C2A2017610DB}"/>
              </a:ext>
            </a:extLst>
          </p:cNvPr>
          <p:cNvSpPr>
            <a:spLocks xmlns:a="http://schemas.openxmlformats.org/drawingml/2006/main" noGrp="1"/>
          </p:cNvSpPr>
          <p:nvPr/>
        </p:nvSpPr>
        <p:spPr>
          <a:xfrm xmlns:a="http://schemas.openxmlformats.org/drawingml/2006/main">
            <a:off x="933450" y="6831254"/>
            <a:ext cx="133350" cy="133350"/>
          </a:xfrm>
          <a:prstGeom xmlns:a="http://schemas.openxmlformats.org/drawingml/2006/main" prst="ellipse">
            <a:avLst/>
          </a:prstGeom>
          <a:solidFill xmlns:a="http://schemas.openxmlformats.org/drawingml/2006/main">
            <a:srgbClr val="5FA2DA"/>
          </a:solidFill>
        </p:spPr>
      </p:sp>
      <p:sp>
        <p:nvSpPr>
          <p:cNvPr id="43" name="">
            <a:extLst xmlns:a="http://schemas.openxmlformats.org/drawingml/2006/main">
              <a:ext uri="{FF2B5EF4-FFF2-40B4-BE49-F238E27FC236}">
                <a16:creationId xmlns:a16="http://schemas.microsoft.com/office/drawing/2014/main" id="{7CED46CD-882F-4D25-BE73-A747384E7138}"/>
              </a:ext>
            </a:extLst>
          </p:cNvPr>
          <p:cNvSpPr>
            <a:spLocks xmlns:a="http://schemas.openxmlformats.org/drawingml/2006/main" noGrp="1"/>
          </p:cNvSpPr>
          <p:nvPr/>
        </p:nvSpPr>
        <p:spPr>
          <a:xfrm xmlns:a="http://schemas.openxmlformats.org/drawingml/2006/main">
            <a:off x="1162050" y="683125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Կարդալու հերթականություն</a:t>
            </a:r>
          </a:p>
        </p:txBody>
      </p:sp>
      <p:sp>
        <p:nvSpPr>
          <p:cNvPr id="44" name="">
            <a:extLst xmlns:a="http://schemas.openxmlformats.org/drawingml/2006/main">
              <a:ext uri="{FF2B5EF4-FFF2-40B4-BE49-F238E27FC236}">
                <a16:creationId xmlns:a16="http://schemas.microsoft.com/office/drawing/2014/main" id="{A4DEBBF1-46FC-4CDC-AF56-DFF048C6E2B4}"/>
              </a:ext>
            </a:extLst>
          </p:cNvPr>
          <p:cNvSpPr>
            <a:spLocks xmlns:a="http://schemas.openxmlformats.org/drawingml/2006/main" noGrp="1"/>
          </p:cNvSpPr>
          <p:nvPr/>
        </p:nvSpPr>
        <p:spPr>
          <a:xfrm xmlns:a="http://schemas.openxmlformats.org/drawingml/2006/main">
            <a:off x="933450" y="7192442"/>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Սկսել `user_accounts`-ից</a:t>
            </a:r>
          </a:p>
        </p:txBody>
      </p:sp>
      <p:sp>
        <p:nvSpPr>
          <p:cNvPr id="45" name="">
            <a:extLst xmlns:a="http://schemas.openxmlformats.org/drawingml/2006/main">
              <a:ext uri="{FF2B5EF4-FFF2-40B4-BE49-F238E27FC236}">
                <a16:creationId xmlns:a16="http://schemas.microsoft.com/office/drawing/2014/main" id="{ED041024-E7D5-4057-A526-B6B7BFD30169}"/>
              </a:ext>
            </a:extLst>
          </p:cNvPr>
          <p:cNvSpPr>
            <a:spLocks xmlns:a="http://schemas.openxmlformats.org/drawingml/2006/main" noGrp="1"/>
          </p:cNvSpPr>
          <p:nvPr/>
        </p:nvSpPr>
        <p:spPr>
          <a:xfrm xmlns:a="http://schemas.openxmlformats.org/drawingml/2006/main">
            <a:off x="933450" y="7514006"/>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Հետո անցնել `academic_units`-ից մինչև `lab_groups`</a:t>
            </a:r>
          </a:p>
        </p:txBody>
      </p:sp>
      <p:sp>
        <p:nvSpPr>
          <p:cNvPr id="46" name="">
            <a:extLst xmlns:a="http://schemas.openxmlformats.org/drawingml/2006/main">
              <a:ext uri="{FF2B5EF4-FFF2-40B4-BE49-F238E27FC236}">
                <a16:creationId xmlns:a16="http://schemas.microsoft.com/office/drawing/2014/main" id="{6EC48BE1-EFFE-4F89-9408-22A1D56896C4}"/>
              </a:ext>
            </a:extLst>
          </p:cNvPr>
          <p:cNvSpPr>
            <a:spLocks xmlns:a="http://schemas.openxmlformats.org/drawingml/2006/main" noGrp="1"/>
          </p:cNvSpPr>
          <p:nvPr/>
        </p:nvSpPr>
        <p:spPr>
          <a:xfrm xmlns:a="http://schemas.openxmlformats.org/drawingml/2006/main">
            <a:off x="933450" y="7835570"/>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Ապա հասկանալ offering → assignment → result շղթան</a:t>
            </a:r>
          </a:p>
        </p:txBody>
      </p:sp>
      <p:sp>
        <p:nvSpPr>
          <p:cNvPr id="47" name="">
            <a:extLst xmlns:a="http://schemas.openxmlformats.org/drawingml/2006/main">
              <a:ext uri="{FF2B5EF4-FFF2-40B4-BE49-F238E27FC236}">
                <a16:creationId xmlns:a16="http://schemas.microsoft.com/office/drawing/2014/main" id="{69B03CFF-6813-419C-AE0B-48B8A82CF3F0}"/>
              </a:ext>
            </a:extLst>
          </p:cNvPr>
          <p:cNvSpPr>
            <a:spLocks xmlns:a="http://schemas.openxmlformats.org/drawingml/2006/main" noGrp="1"/>
          </p:cNvSpPr>
          <p:nvPr/>
        </p:nvSpPr>
        <p:spPr>
          <a:xfrm xmlns:a="http://schemas.openxmlformats.org/drawingml/2006/main">
            <a:off x="6172200" y="6640754"/>
            <a:ext cx="5276850" cy="161163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DCE7F4"/>
            </a:solidFill>
            <a:prstDash val="solid"/>
          </a:ln>
        </p:spPr>
      </p:sp>
      <p:sp>
        <p:nvSpPr>
          <p:cNvPr id="48" name="">
            <a:extLst xmlns:a="http://schemas.openxmlformats.org/drawingml/2006/main">
              <a:ext uri="{FF2B5EF4-FFF2-40B4-BE49-F238E27FC236}">
                <a16:creationId xmlns:a16="http://schemas.microsoft.com/office/drawing/2014/main" id="{E7457504-7BF4-4C03-B380-BF94B47A81F0}"/>
              </a:ext>
            </a:extLst>
          </p:cNvPr>
          <p:cNvSpPr>
            <a:spLocks xmlns:a="http://schemas.openxmlformats.org/drawingml/2006/main" noGrp="1"/>
          </p:cNvSpPr>
          <p:nvPr/>
        </p:nvSpPr>
        <p:spPr>
          <a:xfrm xmlns:a="http://schemas.openxmlformats.org/drawingml/2006/main">
            <a:off x="6362700" y="6831254"/>
            <a:ext cx="133350" cy="133350"/>
          </a:xfrm>
          <a:prstGeom xmlns:a="http://schemas.openxmlformats.org/drawingml/2006/main" prst="ellipse">
            <a:avLst/>
          </a:prstGeom>
          <a:solidFill xmlns:a="http://schemas.openxmlformats.org/drawingml/2006/main">
            <a:srgbClr val="D98F2B"/>
          </a:solidFill>
        </p:spPr>
      </p:sp>
      <p:sp>
        <p:nvSpPr>
          <p:cNvPr id="49" name="">
            <a:extLst xmlns:a="http://schemas.openxmlformats.org/drawingml/2006/main">
              <a:ext uri="{FF2B5EF4-FFF2-40B4-BE49-F238E27FC236}">
                <a16:creationId xmlns:a16="http://schemas.microsoft.com/office/drawing/2014/main" id="{0FC67637-8251-4044-9FA5-3152C9518B45}"/>
              </a:ext>
            </a:extLst>
          </p:cNvPr>
          <p:cNvSpPr>
            <a:spLocks xmlns:a="http://schemas.openxmlformats.org/drawingml/2006/main" noGrp="1"/>
          </p:cNvSpPr>
          <p:nvPr/>
        </p:nvSpPr>
        <p:spPr>
          <a:xfrm xmlns:a="http://schemas.openxmlformats.org/drawingml/2006/main">
            <a:off x="6591300" y="683125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Դիագրամ placeholder</a:t>
            </a:r>
          </a:p>
        </p:txBody>
      </p:sp>
      <p:sp>
        <p:nvSpPr>
          <p:cNvPr id="50" name="">
            <a:extLst xmlns:a="http://schemas.openxmlformats.org/drawingml/2006/main">
              <a:ext uri="{FF2B5EF4-FFF2-40B4-BE49-F238E27FC236}">
                <a16:creationId xmlns:a16="http://schemas.microsoft.com/office/drawing/2014/main" id="{C781FA4A-7EEC-4758-9D20-DD982CB0D615}"/>
              </a:ext>
            </a:extLst>
          </p:cNvPr>
          <p:cNvSpPr>
            <a:spLocks xmlns:a="http://schemas.openxmlformats.org/drawingml/2006/main" noGrp="1"/>
          </p:cNvSpPr>
          <p:nvPr/>
        </p:nvSpPr>
        <p:spPr>
          <a:xfrm xmlns:a="http://schemas.openxmlformats.org/drawingml/2006/main">
            <a:off x="6362700" y="7192442"/>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Տեղադրել ընդհանուր ERD screenshot</a:t>
            </a:r>
          </a:p>
        </p:txBody>
      </p:sp>
      <p:sp>
        <p:nvSpPr>
          <p:cNvPr id="51" name="">
            <a:extLst xmlns:a="http://schemas.openxmlformats.org/drawingml/2006/main">
              <a:ext uri="{FF2B5EF4-FFF2-40B4-BE49-F238E27FC236}">
                <a16:creationId xmlns:a16="http://schemas.microsoft.com/office/drawing/2014/main" id="{B9E580A7-D7A4-46E5-82C1-F5277F5F56A3}"/>
              </a:ext>
            </a:extLst>
          </p:cNvPr>
          <p:cNvSpPr>
            <a:spLocks xmlns:a="http://schemas.openxmlformats.org/drawingml/2006/main" noGrp="1"/>
          </p:cNvSpPr>
          <p:nvPr/>
        </p:nvSpPr>
        <p:spPr>
          <a:xfrm xmlns:a="http://schemas.openxmlformats.org/drawingml/2006/main">
            <a:off x="6362700" y="7514006"/>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Կամ գրել՝ put user/structure/process overview</a:t>
            </a:r>
          </a:p>
        </p:txBody>
      </p:sp>
      <p:sp>
        <p:nvSpPr>
          <p:cNvPr id="52" name="">
            <a:extLst xmlns:a="http://schemas.openxmlformats.org/drawingml/2006/main">
              <a:ext uri="{FF2B5EF4-FFF2-40B4-BE49-F238E27FC236}">
                <a16:creationId xmlns:a16="http://schemas.microsoft.com/office/drawing/2014/main" id="{0361A32F-CF2A-44B9-A1B8-D3EE7A6B7039}"/>
              </a:ext>
            </a:extLst>
          </p:cNvPr>
          <p:cNvSpPr>
            <a:spLocks xmlns:a="http://schemas.openxmlformats.org/drawingml/2006/main" noGrp="1"/>
          </p:cNvSpPr>
          <p:nvPr/>
        </p:nvSpPr>
        <p:spPr>
          <a:xfrm xmlns:a="http://schemas.openxmlformats.org/drawingml/2006/main">
            <a:off x="742950" y="8423834"/>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53" name="">
            <a:extLst xmlns:a="http://schemas.openxmlformats.org/drawingml/2006/main">
              <a:ext uri="{FF2B5EF4-FFF2-40B4-BE49-F238E27FC236}">
                <a16:creationId xmlns:a16="http://schemas.microsoft.com/office/drawing/2014/main" id="{22357E29-FEC0-4063-9810-06555991D165}"/>
              </a:ext>
            </a:extLst>
          </p:cNvPr>
          <p:cNvSpPr>
            <a:spLocks xmlns:a="http://schemas.openxmlformats.org/drawingml/2006/main" noGrp="1"/>
          </p:cNvSpPr>
          <p:nvPr/>
        </p:nvSpPr>
        <p:spPr>
          <a:xfrm xmlns:a="http://schemas.openxmlformats.org/drawingml/2006/main">
            <a:off x="10306050" y="8423834"/>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02</a:t>
            </a:r>
          </a:p>
        </p:txBody>
      </p:sp>
    </p:spTree>
    <p:extLst>
      <p:ext uri="{BB962C8B-B14F-4D97-AF65-F5344CB8AC3E}">
        <p14:creationId xmlns:p14="http://schemas.microsoft.com/office/powerpoint/2010/main" val="68016517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9AD404-6F7D-4D13-8B24-6B260935B3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400546BC-7D7E-4C9F-B32F-EDC40FF578C7}"/>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4A33F686-FB18-44DB-B607-68941F78C654}"/>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501761BC-B7FC-4DCF-BA2A-9DC427E01C6A}"/>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6C3BF105-7CEE-4CDB-9736-F4C7504F9F5E}"/>
              </a:ext>
            </a:extLst>
          </p:cNvPr>
          <p:cNvSpPr>
            <a:spLocks xmlns:a="http://schemas.openxmlformats.org/drawingml/2006/main" noGrp="1"/>
          </p:cNvSpPr>
          <p:nvPr/>
        </p:nvSpPr>
        <p:spPr>
          <a:xfrm xmlns:a="http://schemas.openxmlformats.org/drawingml/2006/main">
            <a:off x="819150" y="952500"/>
            <a:ext cx="552259"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Հաշիվներ</a:t>
            </a:r>
          </a:p>
        </p:txBody>
      </p:sp>
      <p:sp>
        <p:nvSpPr>
          <p:cNvPr id="6" name="">
            <a:extLst xmlns:a="http://schemas.openxmlformats.org/drawingml/2006/main">
              <a:ext uri="{FF2B5EF4-FFF2-40B4-BE49-F238E27FC236}">
                <a16:creationId xmlns:a16="http://schemas.microsoft.com/office/drawing/2014/main" id="{4300D20E-B9BD-4A22-8B5F-B345181CCD3C}"/>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`user_accounts` և դերային աղյուսակները</a:t>
            </a:r>
          </a:p>
        </p:txBody>
      </p:sp>
      <p:sp>
        <p:nvSpPr>
          <p:cNvPr id="7" name="">
            <a:extLst xmlns:a="http://schemas.openxmlformats.org/drawingml/2006/main">
              <a:ext uri="{FF2B5EF4-FFF2-40B4-BE49-F238E27FC236}">
                <a16:creationId xmlns:a16="http://schemas.microsoft.com/office/drawing/2014/main" id="{EE720B02-5ED9-4EEE-8CFC-DC15318EDB73}"/>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`user_accounts`-ը ընդհանուր մուտքային հիմքն է, իսկ դերային աղյուսակները պահում են տվյալ դերի բովանդակությունը</a:t>
            </a:r>
          </a:p>
        </p:txBody>
      </p:sp>
      <p:sp>
        <p:nvSpPr>
          <p:cNvPr id="8" name="">
            <a:extLst xmlns:a="http://schemas.openxmlformats.org/drawingml/2006/main">
              <a:ext uri="{FF2B5EF4-FFF2-40B4-BE49-F238E27FC236}">
                <a16:creationId xmlns:a16="http://schemas.microsoft.com/office/drawing/2014/main" id="{C0D4782E-C844-49D1-A93F-12F59923F43E}"/>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4FBCC00B-A401-4C06-A7E3-6903FC163931}"/>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03</a:t>
            </a:r>
          </a:p>
        </p:txBody>
      </p:sp>
      <p:sp>
        <p:nvSpPr>
          <p:cNvPr id="10" name="">
            <a:extLst xmlns:a="http://schemas.openxmlformats.org/drawingml/2006/main">
              <a:ext uri="{FF2B5EF4-FFF2-40B4-BE49-F238E27FC236}">
                <a16:creationId xmlns:a16="http://schemas.microsoft.com/office/drawing/2014/main" id="{51E33D97-80B4-452C-AC32-621C37C46905}"/>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3696CFC2-6725-4BA4-907B-8BB498EAB340}"/>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60E660C7-B568-4AC1-8309-A8793065A709}"/>
              </a:ext>
            </a:extLst>
          </p:cNvPr>
          <p:cNvSpPr>
            <a:spLocks xmlns:a="http://schemas.openxmlformats.org/drawingml/2006/main" noGrp="1"/>
          </p:cNvSpPr>
          <p:nvPr/>
        </p:nvSpPr>
        <p:spPr>
          <a:xfrm xmlns:a="http://schemas.openxmlformats.org/drawingml/2006/main">
            <a:off x="742950" y="2064639"/>
            <a:ext cx="1619250" cy="525780"/>
          </a:xfrm>
          <a:prstGeom xmlns:a="http://schemas.openxmlformats.org/drawingml/2006/main" prst="roundRect">
            <a:avLst>
              <a:gd name="adj" fmla="val 21739"/>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2F372381-2681-4408-8929-6273C128105D}"/>
              </a:ext>
            </a:extLst>
          </p:cNvPr>
          <p:cNvSpPr>
            <a:spLocks xmlns:a="http://schemas.openxmlformats.org/drawingml/2006/main" noGrp="1"/>
          </p:cNvSpPr>
          <p:nvPr/>
        </p:nvSpPr>
        <p:spPr>
          <a:xfrm xmlns:a="http://schemas.openxmlformats.org/drawingml/2006/main">
            <a:off x="857250" y="2178939"/>
            <a:ext cx="1325213"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`user_accounts` դաշտ</a:t>
            </a:r>
          </a:p>
        </p:txBody>
      </p:sp>
      <p:sp>
        <p:nvSpPr>
          <p:cNvPr id="14" name="">
            <a:extLst xmlns:a="http://schemas.openxmlformats.org/drawingml/2006/main">
              <a:ext uri="{FF2B5EF4-FFF2-40B4-BE49-F238E27FC236}">
                <a16:creationId xmlns:a16="http://schemas.microsoft.com/office/drawing/2014/main" id="{A31D327B-89C0-4947-8C1A-D1CD6FDB80D2}"/>
              </a:ext>
            </a:extLst>
          </p:cNvPr>
          <p:cNvSpPr>
            <a:spLocks xmlns:a="http://schemas.openxmlformats.org/drawingml/2006/main" noGrp="1"/>
          </p:cNvSpPr>
          <p:nvPr/>
        </p:nvSpPr>
        <p:spPr>
          <a:xfrm xmlns:a="http://schemas.openxmlformats.org/drawingml/2006/main">
            <a:off x="2438400" y="2064639"/>
            <a:ext cx="2590800" cy="525780"/>
          </a:xfrm>
          <a:prstGeom xmlns:a="http://schemas.openxmlformats.org/drawingml/2006/main" prst="roundRect">
            <a:avLst>
              <a:gd name="adj" fmla="val 21739"/>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BF66CB5E-598C-4551-849F-5BE93151903F}"/>
              </a:ext>
            </a:extLst>
          </p:cNvPr>
          <p:cNvSpPr>
            <a:spLocks xmlns:a="http://schemas.openxmlformats.org/drawingml/2006/main" noGrp="1"/>
          </p:cNvSpPr>
          <p:nvPr/>
        </p:nvSpPr>
        <p:spPr>
          <a:xfrm xmlns:a="http://schemas.openxmlformats.org/drawingml/2006/main">
            <a:off x="2552700" y="2178939"/>
            <a:ext cx="46462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Իմաստ</a:t>
            </a:r>
          </a:p>
        </p:txBody>
      </p:sp>
      <p:sp>
        <p:nvSpPr>
          <p:cNvPr id="16" name="">
            <a:extLst xmlns:a="http://schemas.openxmlformats.org/drawingml/2006/main">
              <a:ext uri="{FF2B5EF4-FFF2-40B4-BE49-F238E27FC236}">
                <a16:creationId xmlns:a16="http://schemas.microsoft.com/office/drawing/2014/main" id="{5B08420C-ADEC-4546-97F7-EBC14616A8DB}"/>
              </a:ext>
            </a:extLst>
          </p:cNvPr>
          <p:cNvSpPr>
            <a:spLocks xmlns:a="http://schemas.openxmlformats.org/drawingml/2006/main" noGrp="1"/>
          </p:cNvSpPr>
          <p:nvPr/>
        </p:nvSpPr>
        <p:spPr>
          <a:xfrm xmlns:a="http://schemas.openxmlformats.org/drawingml/2006/main">
            <a:off x="742950" y="2666619"/>
            <a:ext cx="161925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66A61649-B8EF-44B2-A8E0-10026D859D4B}"/>
              </a:ext>
            </a:extLst>
          </p:cNvPr>
          <p:cNvSpPr>
            <a:spLocks xmlns:a="http://schemas.openxmlformats.org/drawingml/2006/main" noGrp="1"/>
          </p:cNvSpPr>
          <p:nvPr/>
        </p:nvSpPr>
        <p:spPr>
          <a:xfrm xmlns:a="http://schemas.openxmlformats.org/drawingml/2006/main">
            <a:off x="857250" y="2780919"/>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email</a:t>
            </a:r>
          </a:p>
        </p:txBody>
      </p:sp>
      <p:sp>
        <p:nvSpPr>
          <p:cNvPr id="18" name="">
            <a:extLst xmlns:a="http://schemas.openxmlformats.org/drawingml/2006/main">
              <a:ext uri="{FF2B5EF4-FFF2-40B4-BE49-F238E27FC236}">
                <a16:creationId xmlns:a16="http://schemas.microsoft.com/office/drawing/2014/main" id="{E6C16AB0-BAB3-46DD-804B-BC8CDDAE74B9}"/>
              </a:ext>
            </a:extLst>
          </p:cNvPr>
          <p:cNvSpPr>
            <a:spLocks xmlns:a="http://schemas.openxmlformats.org/drawingml/2006/main" noGrp="1"/>
          </p:cNvSpPr>
          <p:nvPr/>
        </p:nvSpPr>
        <p:spPr>
          <a:xfrm xmlns:a="http://schemas.openxmlformats.org/drawingml/2006/main">
            <a:off x="2438400" y="2666619"/>
            <a:ext cx="259080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15DC9D9B-AE03-4EE4-A491-36EAE9DA8A5B}"/>
              </a:ext>
            </a:extLst>
          </p:cNvPr>
          <p:cNvSpPr>
            <a:spLocks xmlns:a="http://schemas.openxmlformats.org/drawingml/2006/main" noGrp="1"/>
          </p:cNvSpPr>
          <p:nvPr/>
        </p:nvSpPr>
        <p:spPr>
          <a:xfrm xmlns:a="http://schemas.openxmlformats.org/drawingml/2006/main">
            <a:off x="2552700" y="2780919"/>
            <a:ext cx="23622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Համալսարանական մուտքային նույնականացում</a:t>
            </a:r>
          </a:p>
        </p:txBody>
      </p:sp>
      <p:sp>
        <p:nvSpPr>
          <p:cNvPr id="20" name="">
            <a:extLst xmlns:a="http://schemas.openxmlformats.org/drawingml/2006/main">
              <a:ext uri="{FF2B5EF4-FFF2-40B4-BE49-F238E27FC236}">
                <a16:creationId xmlns:a16="http://schemas.microsoft.com/office/drawing/2014/main" id="{152C96C4-897B-46DA-A80A-F61AD9C9D1B8}"/>
              </a:ext>
            </a:extLst>
          </p:cNvPr>
          <p:cNvSpPr>
            <a:spLocks xmlns:a="http://schemas.openxmlformats.org/drawingml/2006/main" noGrp="1"/>
          </p:cNvSpPr>
          <p:nvPr/>
        </p:nvSpPr>
        <p:spPr>
          <a:xfrm xmlns:a="http://schemas.openxmlformats.org/drawingml/2006/main">
            <a:off x="742950" y="3393872"/>
            <a:ext cx="161925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02820A25-B44E-47D5-9C4C-AF9402AC020D}"/>
              </a:ext>
            </a:extLst>
          </p:cNvPr>
          <p:cNvSpPr>
            <a:spLocks xmlns:a="http://schemas.openxmlformats.org/drawingml/2006/main" noGrp="1"/>
          </p:cNvSpPr>
          <p:nvPr/>
        </p:nvSpPr>
        <p:spPr>
          <a:xfrm xmlns:a="http://schemas.openxmlformats.org/drawingml/2006/main">
            <a:off x="857250" y="3508172"/>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password_hash</a:t>
            </a:r>
          </a:p>
        </p:txBody>
      </p:sp>
      <p:sp>
        <p:nvSpPr>
          <p:cNvPr id="22" name="">
            <a:extLst xmlns:a="http://schemas.openxmlformats.org/drawingml/2006/main">
              <a:ext uri="{FF2B5EF4-FFF2-40B4-BE49-F238E27FC236}">
                <a16:creationId xmlns:a16="http://schemas.microsoft.com/office/drawing/2014/main" id="{BE765CD3-9B70-47C6-B6C7-6FE647A866A8}"/>
              </a:ext>
            </a:extLst>
          </p:cNvPr>
          <p:cNvSpPr>
            <a:spLocks xmlns:a="http://schemas.openxmlformats.org/drawingml/2006/main" noGrp="1"/>
          </p:cNvSpPr>
          <p:nvPr/>
        </p:nvSpPr>
        <p:spPr>
          <a:xfrm xmlns:a="http://schemas.openxmlformats.org/drawingml/2006/main">
            <a:off x="2438400" y="3393872"/>
            <a:ext cx="259080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CCBA1A55-AB93-487E-8777-5B694154BD1A}"/>
              </a:ext>
            </a:extLst>
          </p:cNvPr>
          <p:cNvSpPr>
            <a:spLocks xmlns:a="http://schemas.openxmlformats.org/drawingml/2006/main" noGrp="1"/>
          </p:cNvSpPr>
          <p:nvPr/>
        </p:nvSpPr>
        <p:spPr>
          <a:xfrm xmlns:a="http://schemas.openxmlformats.org/drawingml/2006/main">
            <a:off x="2552700" y="3508172"/>
            <a:ext cx="23622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Մուտքի գաղտնաբառի պահպանում</a:t>
            </a:r>
          </a:p>
        </p:txBody>
      </p:sp>
      <p:sp>
        <p:nvSpPr>
          <p:cNvPr id="24" name="">
            <a:extLst xmlns:a="http://schemas.openxmlformats.org/drawingml/2006/main">
              <a:ext uri="{FF2B5EF4-FFF2-40B4-BE49-F238E27FC236}">
                <a16:creationId xmlns:a16="http://schemas.microsoft.com/office/drawing/2014/main" id="{E8D8A76C-B08F-454D-8761-905C82A7C0EE}"/>
              </a:ext>
            </a:extLst>
          </p:cNvPr>
          <p:cNvSpPr>
            <a:spLocks xmlns:a="http://schemas.openxmlformats.org/drawingml/2006/main" noGrp="1"/>
          </p:cNvSpPr>
          <p:nvPr/>
        </p:nvSpPr>
        <p:spPr>
          <a:xfrm xmlns:a="http://schemas.openxmlformats.org/drawingml/2006/main">
            <a:off x="742950" y="4121125"/>
            <a:ext cx="161925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BD9B0511-4F9E-48BF-A027-712ACF5ECC60}"/>
              </a:ext>
            </a:extLst>
          </p:cNvPr>
          <p:cNvSpPr>
            <a:spLocks xmlns:a="http://schemas.openxmlformats.org/drawingml/2006/main" noGrp="1"/>
          </p:cNvSpPr>
          <p:nvPr/>
        </p:nvSpPr>
        <p:spPr>
          <a:xfrm xmlns:a="http://schemas.openxmlformats.org/drawingml/2006/main">
            <a:off x="857250" y="4235425"/>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account_type</a:t>
            </a:r>
          </a:p>
        </p:txBody>
      </p:sp>
      <p:sp>
        <p:nvSpPr>
          <p:cNvPr id="26" name="">
            <a:extLst xmlns:a="http://schemas.openxmlformats.org/drawingml/2006/main">
              <a:ext uri="{FF2B5EF4-FFF2-40B4-BE49-F238E27FC236}">
                <a16:creationId xmlns:a16="http://schemas.microsoft.com/office/drawing/2014/main" id="{C3554C3E-6A69-45E0-89F0-9929F201FB10}"/>
              </a:ext>
            </a:extLst>
          </p:cNvPr>
          <p:cNvSpPr>
            <a:spLocks xmlns:a="http://schemas.openxmlformats.org/drawingml/2006/main" noGrp="1"/>
          </p:cNvSpPr>
          <p:nvPr/>
        </p:nvSpPr>
        <p:spPr>
          <a:xfrm xmlns:a="http://schemas.openxmlformats.org/drawingml/2006/main">
            <a:off x="2438400" y="4121125"/>
            <a:ext cx="259080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D92D3671-A9AE-4BD4-8864-D0191834C401}"/>
              </a:ext>
            </a:extLst>
          </p:cNvPr>
          <p:cNvSpPr>
            <a:spLocks xmlns:a="http://schemas.openxmlformats.org/drawingml/2006/main" noGrp="1"/>
          </p:cNvSpPr>
          <p:nvPr/>
        </p:nvSpPr>
        <p:spPr>
          <a:xfrm xmlns:a="http://schemas.openxmlformats.org/drawingml/2006/main">
            <a:off x="2552700" y="4235425"/>
            <a:ext cx="23622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դերային ուղղությամբ կշարժվի հաշիվը</a:t>
            </a:r>
          </a:p>
        </p:txBody>
      </p:sp>
      <p:sp>
        <p:nvSpPr>
          <p:cNvPr id="28" name="">
            <a:extLst xmlns:a="http://schemas.openxmlformats.org/drawingml/2006/main">
              <a:ext uri="{FF2B5EF4-FFF2-40B4-BE49-F238E27FC236}">
                <a16:creationId xmlns:a16="http://schemas.microsoft.com/office/drawing/2014/main" id="{F67CD066-0890-40AA-AE9A-9F13677C8A34}"/>
              </a:ext>
            </a:extLst>
          </p:cNvPr>
          <p:cNvSpPr>
            <a:spLocks xmlns:a="http://schemas.openxmlformats.org/drawingml/2006/main" noGrp="1"/>
          </p:cNvSpPr>
          <p:nvPr/>
        </p:nvSpPr>
        <p:spPr>
          <a:xfrm xmlns:a="http://schemas.openxmlformats.org/drawingml/2006/main">
            <a:off x="742950" y="4848377"/>
            <a:ext cx="161925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93959FC9-587D-4AC2-A6CB-53C3EDFA7547}"/>
              </a:ext>
            </a:extLst>
          </p:cNvPr>
          <p:cNvSpPr>
            <a:spLocks xmlns:a="http://schemas.openxmlformats.org/drawingml/2006/main" noGrp="1"/>
          </p:cNvSpPr>
          <p:nvPr/>
        </p:nvSpPr>
        <p:spPr>
          <a:xfrm xmlns:a="http://schemas.openxmlformats.org/drawingml/2006/main">
            <a:off x="857250" y="4962677"/>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approval_status</a:t>
            </a:r>
          </a:p>
        </p:txBody>
      </p:sp>
      <p:sp>
        <p:nvSpPr>
          <p:cNvPr id="30" name="">
            <a:extLst xmlns:a="http://schemas.openxmlformats.org/drawingml/2006/main">
              <a:ext uri="{FF2B5EF4-FFF2-40B4-BE49-F238E27FC236}">
                <a16:creationId xmlns:a16="http://schemas.microsoft.com/office/drawing/2014/main" id="{69FEE65B-7D16-4BBA-9DDE-364E6A1156AD}"/>
              </a:ext>
            </a:extLst>
          </p:cNvPr>
          <p:cNvSpPr>
            <a:spLocks xmlns:a="http://schemas.openxmlformats.org/drawingml/2006/main" noGrp="1"/>
          </p:cNvSpPr>
          <p:nvPr/>
        </p:nvSpPr>
        <p:spPr>
          <a:xfrm xmlns:a="http://schemas.openxmlformats.org/drawingml/2006/main">
            <a:off x="2438400" y="4848377"/>
            <a:ext cx="259080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31" name="">
            <a:extLst xmlns:a="http://schemas.openxmlformats.org/drawingml/2006/main">
              <a:ext uri="{FF2B5EF4-FFF2-40B4-BE49-F238E27FC236}">
                <a16:creationId xmlns:a16="http://schemas.microsoft.com/office/drawing/2014/main" id="{AC383439-07E0-45C8-B0BE-EAD73737CA71}"/>
              </a:ext>
            </a:extLst>
          </p:cNvPr>
          <p:cNvSpPr>
            <a:spLocks xmlns:a="http://schemas.openxmlformats.org/drawingml/2006/main" noGrp="1"/>
          </p:cNvSpPr>
          <p:nvPr/>
        </p:nvSpPr>
        <p:spPr>
          <a:xfrm xmlns:a="http://schemas.openxmlformats.org/drawingml/2006/main">
            <a:off x="2552700" y="4962677"/>
            <a:ext cx="23622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Հաստատված է, թե դեռ սպասման մեջ</a:t>
            </a:r>
          </a:p>
        </p:txBody>
      </p:sp>
      <p:sp>
        <p:nvSpPr>
          <p:cNvPr id="32" name="">
            <a:extLst xmlns:a="http://schemas.openxmlformats.org/drawingml/2006/main">
              <a:ext uri="{FF2B5EF4-FFF2-40B4-BE49-F238E27FC236}">
                <a16:creationId xmlns:a16="http://schemas.microsoft.com/office/drawing/2014/main" id="{5D97C2C3-9BA9-4A3D-BDAC-8115A5A12E87}"/>
              </a:ext>
            </a:extLst>
          </p:cNvPr>
          <p:cNvSpPr>
            <a:spLocks xmlns:a="http://schemas.openxmlformats.org/drawingml/2006/main" noGrp="1"/>
          </p:cNvSpPr>
          <p:nvPr/>
        </p:nvSpPr>
        <p:spPr>
          <a:xfrm xmlns:a="http://schemas.openxmlformats.org/drawingml/2006/main">
            <a:off x="742950" y="5575630"/>
            <a:ext cx="16192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33" name="">
            <a:extLst xmlns:a="http://schemas.openxmlformats.org/drawingml/2006/main">
              <a:ext uri="{FF2B5EF4-FFF2-40B4-BE49-F238E27FC236}">
                <a16:creationId xmlns:a16="http://schemas.microsoft.com/office/drawing/2014/main" id="{B98DFFEE-A1FB-41BE-8061-EF031EC61DA5}"/>
              </a:ext>
            </a:extLst>
          </p:cNvPr>
          <p:cNvSpPr>
            <a:spLocks xmlns:a="http://schemas.openxmlformats.org/drawingml/2006/main" noGrp="1"/>
          </p:cNvSpPr>
          <p:nvPr/>
        </p:nvSpPr>
        <p:spPr>
          <a:xfrm xmlns:a="http://schemas.openxmlformats.org/drawingml/2006/main">
            <a:off x="857250" y="5689930"/>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last_login_at</a:t>
            </a:r>
          </a:p>
        </p:txBody>
      </p:sp>
      <p:sp>
        <p:nvSpPr>
          <p:cNvPr id="34" name="">
            <a:extLst xmlns:a="http://schemas.openxmlformats.org/drawingml/2006/main">
              <a:ext uri="{FF2B5EF4-FFF2-40B4-BE49-F238E27FC236}">
                <a16:creationId xmlns:a16="http://schemas.microsoft.com/office/drawing/2014/main" id="{99D23C95-D429-4DB2-B44D-A9C03BCCC650}"/>
              </a:ext>
            </a:extLst>
          </p:cNvPr>
          <p:cNvSpPr>
            <a:spLocks xmlns:a="http://schemas.openxmlformats.org/drawingml/2006/main" noGrp="1"/>
          </p:cNvSpPr>
          <p:nvPr/>
        </p:nvSpPr>
        <p:spPr>
          <a:xfrm xmlns:a="http://schemas.openxmlformats.org/drawingml/2006/main">
            <a:off x="2438400" y="5575630"/>
            <a:ext cx="2590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35" name="">
            <a:extLst xmlns:a="http://schemas.openxmlformats.org/drawingml/2006/main">
              <a:ext uri="{FF2B5EF4-FFF2-40B4-BE49-F238E27FC236}">
                <a16:creationId xmlns:a16="http://schemas.microsoft.com/office/drawing/2014/main" id="{268E2341-E89A-4583-A482-601F2DEB0395}"/>
              </a:ext>
            </a:extLst>
          </p:cNvPr>
          <p:cNvSpPr>
            <a:spLocks xmlns:a="http://schemas.openxmlformats.org/drawingml/2006/main" noGrp="1"/>
          </p:cNvSpPr>
          <p:nvPr/>
        </p:nvSpPr>
        <p:spPr>
          <a:xfrm xmlns:a="http://schemas.openxmlformats.org/drawingml/2006/main">
            <a:off x="2552700" y="5689930"/>
            <a:ext cx="2362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Վերջին մուտքի վերահսկում</a:t>
            </a:r>
          </a:p>
        </p:txBody>
      </p:sp>
      <p:sp>
        <p:nvSpPr>
          <p:cNvPr id="36" name="">
            <a:extLst xmlns:a="http://schemas.openxmlformats.org/drawingml/2006/main">
              <a:ext uri="{FF2B5EF4-FFF2-40B4-BE49-F238E27FC236}">
                <a16:creationId xmlns:a16="http://schemas.microsoft.com/office/drawing/2014/main" id="{128B9A83-8CD2-4239-ADFD-591EFF6A0361}"/>
              </a:ext>
            </a:extLst>
          </p:cNvPr>
          <p:cNvSpPr>
            <a:spLocks xmlns:a="http://schemas.openxmlformats.org/drawingml/2006/main" noGrp="1"/>
          </p:cNvSpPr>
          <p:nvPr/>
        </p:nvSpPr>
        <p:spPr>
          <a:xfrm xmlns:a="http://schemas.openxmlformats.org/drawingml/2006/main">
            <a:off x="5200650" y="2064639"/>
            <a:ext cx="6248400" cy="1611630"/>
          </a:xfrm>
          <a:prstGeom xmlns:a="http://schemas.openxmlformats.org/drawingml/2006/main" prst="roundRect">
            <a:avLst>
              <a:gd name="adj" fmla="val 10638"/>
            </a:avLst>
          </a:prstGeom>
          <a:solidFill xmlns:a="http://schemas.openxmlformats.org/drawingml/2006/main">
            <a:srgbClr val="F8FBFF"/>
          </a:solidFill>
          <a:ln xmlns:a="http://schemas.openxmlformats.org/drawingml/2006/main" w="9525">
            <a:solidFill>
              <a:srgbClr val="DCE7F4"/>
            </a:solidFill>
            <a:prstDash val="solid"/>
          </a:ln>
        </p:spPr>
      </p:sp>
      <p:sp>
        <p:nvSpPr>
          <p:cNvPr id="37" name="">
            <a:extLst xmlns:a="http://schemas.openxmlformats.org/drawingml/2006/main">
              <a:ext uri="{FF2B5EF4-FFF2-40B4-BE49-F238E27FC236}">
                <a16:creationId xmlns:a16="http://schemas.microsoft.com/office/drawing/2014/main" id="{E6B3880E-CB5C-4D93-B131-FBBBC35EF780}"/>
              </a:ext>
            </a:extLst>
          </p:cNvPr>
          <p:cNvSpPr>
            <a:spLocks xmlns:a="http://schemas.openxmlformats.org/drawingml/2006/main" noGrp="1"/>
          </p:cNvSpPr>
          <p:nvPr/>
        </p:nvSpPr>
        <p:spPr>
          <a:xfrm xmlns:a="http://schemas.openxmlformats.org/drawingml/2006/main">
            <a:off x="5391150" y="2255139"/>
            <a:ext cx="133350" cy="133350"/>
          </a:xfrm>
          <a:prstGeom xmlns:a="http://schemas.openxmlformats.org/drawingml/2006/main" prst="ellipse">
            <a:avLst/>
          </a:prstGeom>
          <a:solidFill xmlns:a="http://schemas.openxmlformats.org/drawingml/2006/main">
            <a:srgbClr val="0F4C81"/>
          </a:solidFill>
        </p:spPr>
      </p:sp>
      <p:sp>
        <p:nvSpPr>
          <p:cNvPr id="38" name="">
            <a:extLst xmlns:a="http://schemas.openxmlformats.org/drawingml/2006/main">
              <a:ext uri="{FF2B5EF4-FFF2-40B4-BE49-F238E27FC236}">
                <a16:creationId xmlns:a16="http://schemas.microsoft.com/office/drawing/2014/main" id="{0D117DA4-B61B-4B00-ADCE-163A1DCB729E}"/>
              </a:ext>
            </a:extLst>
          </p:cNvPr>
          <p:cNvSpPr>
            <a:spLocks xmlns:a="http://schemas.openxmlformats.org/drawingml/2006/main" noGrp="1"/>
          </p:cNvSpPr>
          <p:nvPr/>
        </p:nvSpPr>
        <p:spPr>
          <a:xfrm xmlns:a="http://schemas.openxmlformats.org/drawingml/2006/main">
            <a:off x="5619750" y="2255139"/>
            <a:ext cx="56388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է `user_accounts`-ը առանձին</a:t>
            </a:r>
          </a:p>
        </p:txBody>
      </p:sp>
      <p:sp>
        <p:nvSpPr>
          <p:cNvPr id="39" name="">
            <a:extLst xmlns:a="http://schemas.openxmlformats.org/drawingml/2006/main">
              <a:ext uri="{FF2B5EF4-FFF2-40B4-BE49-F238E27FC236}">
                <a16:creationId xmlns:a16="http://schemas.microsoft.com/office/drawing/2014/main" id="{36B24A00-630D-4269-AD4E-19DD74017E3D}"/>
              </a:ext>
            </a:extLst>
          </p:cNvPr>
          <p:cNvSpPr>
            <a:spLocks xmlns:a="http://schemas.openxmlformats.org/drawingml/2006/main" noGrp="1"/>
          </p:cNvSpPr>
          <p:nvPr/>
        </p:nvSpPr>
        <p:spPr>
          <a:xfrm xmlns:a="http://schemas.openxmlformats.org/drawingml/2006/main">
            <a:off x="5391150" y="2616327"/>
            <a:ext cx="58674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Նույնականացման տվյալները մեկ անգամ են պահվում</a:t>
            </a:r>
          </a:p>
        </p:txBody>
      </p:sp>
      <p:sp>
        <p:nvSpPr>
          <p:cNvPr id="40" name="">
            <a:extLst xmlns:a="http://schemas.openxmlformats.org/drawingml/2006/main">
              <a:ext uri="{FF2B5EF4-FFF2-40B4-BE49-F238E27FC236}">
                <a16:creationId xmlns:a16="http://schemas.microsoft.com/office/drawing/2014/main" id="{8DB72839-A3F2-4297-959C-DC9B0E4ABEBB}"/>
              </a:ext>
            </a:extLst>
          </p:cNvPr>
          <p:cNvSpPr>
            <a:spLocks xmlns:a="http://schemas.openxmlformats.org/drawingml/2006/main" noGrp="1"/>
          </p:cNvSpPr>
          <p:nvPr/>
        </p:nvSpPr>
        <p:spPr>
          <a:xfrm xmlns:a="http://schemas.openxmlformats.org/drawingml/2006/main">
            <a:off x="5391150" y="2937891"/>
            <a:ext cx="58674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Ադմինի, դասախոսի և ուսանողի հաշիվները սկսվում են նույն հիմքից</a:t>
            </a:r>
          </a:p>
        </p:txBody>
      </p:sp>
      <p:sp>
        <p:nvSpPr>
          <p:cNvPr id="41" name="">
            <a:extLst xmlns:a="http://schemas.openxmlformats.org/drawingml/2006/main">
              <a:ext uri="{FF2B5EF4-FFF2-40B4-BE49-F238E27FC236}">
                <a16:creationId xmlns:a16="http://schemas.microsoft.com/office/drawing/2014/main" id="{C6CFF420-E4C2-43CC-96A7-D88FC7658817}"/>
              </a:ext>
            </a:extLst>
          </p:cNvPr>
          <p:cNvSpPr>
            <a:spLocks xmlns:a="http://schemas.openxmlformats.org/drawingml/2006/main" noGrp="1"/>
          </p:cNvSpPr>
          <p:nvPr/>
        </p:nvSpPr>
        <p:spPr>
          <a:xfrm xmlns:a="http://schemas.openxmlformats.org/drawingml/2006/main">
            <a:off x="5391150" y="3259455"/>
            <a:ext cx="58674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Դերային աղյուսակները պահում են արդեն տվյալ դերին հատուկ տեղեկությունը</a:t>
            </a:r>
          </a:p>
        </p:txBody>
      </p:sp>
      <p:sp>
        <p:nvSpPr>
          <p:cNvPr id="42" name="">
            <a:extLst xmlns:a="http://schemas.openxmlformats.org/drawingml/2006/main">
              <a:ext uri="{FF2B5EF4-FFF2-40B4-BE49-F238E27FC236}">
                <a16:creationId xmlns:a16="http://schemas.microsoft.com/office/drawing/2014/main" id="{685C774E-740E-474C-80E9-58E697DFB5C6}"/>
              </a:ext>
            </a:extLst>
          </p:cNvPr>
          <p:cNvSpPr>
            <a:spLocks xmlns:a="http://schemas.openxmlformats.org/drawingml/2006/main" noGrp="1"/>
          </p:cNvSpPr>
          <p:nvPr/>
        </p:nvSpPr>
        <p:spPr>
          <a:xfrm xmlns:a="http://schemas.openxmlformats.org/drawingml/2006/main">
            <a:off x="5200650" y="3828669"/>
            <a:ext cx="6248400" cy="1656893"/>
          </a:xfrm>
          <a:prstGeom xmlns:a="http://schemas.openxmlformats.org/drawingml/2006/main" prst="roundRect">
            <a:avLst>
              <a:gd name="adj" fmla="val 10348"/>
            </a:avLst>
          </a:prstGeom>
          <a:solidFill xmlns:a="http://schemas.openxmlformats.org/drawingml/2006/main">
            <a:srgbClr val="FFFFFF"/>
          </a:solidFill>
          <a:ln xmlns:a="http://schemas.openxmlformats.org/drawingml/2006/main" w="9525">
            <a:solidFill>
              <a:srgbClr val="DCE7F4"/>
            </a:solidFill>
            <a:prstDash val="solid"/>
          </a:ln>
        </p:spPr>
      </p:sp>
      <p:sp>
        <p:nvSpPr>
          <p:cNvPr id="43" name="">
            <a:extLst xmlns:a="http://schemas.openxmlformats.org/drawingml/2006/main">
              <a:ext uri="{FF2B5EF4-FFF2-40B4-BE49-F238E27FC236}">
                <a16:creationId xmlns:a16="http://schemas.microsoft.com/office/drawing/2014/main" id="{B58DFA23-CC76-4483-8B05-D6CEE17D6507}"/>
              </a:ext>
            </a:extLst>
          </p:cNvPr>
          <p:cNvSpPr>
            <a:spLocks xmlns:a="http://schemas.openxmlformats.org/drawingml/2006/main" noGrp="1"/>
          </p:cNvSpPr>
          <p:nvPr/>
        </p:nvSpPr>
        <p:spPr>
          <a:xfrm xmlns:a="http://schemas.openxmlformats.org/drawingml/2006/main">
            <a:off x="5391150" y="4019169"/>
            <a:ext cx="133350" cy="133350"/>
          </a:xfrm>
          <a:prstGeom xmlns:a="http://schemas.openxmlformats.org/drawingml/2006/main" prst="ellipse">
            <a:avLst/>
          </a:prstGeom>
          <a:solidFill xmlns:a="http://schemas.openxmlformats.org/drawingml/2006/main">
            <a:srgbClr val="2F8F69"/>
          </a:solidFill>
        </p:spPr>
      </p:sp>
      <p:sp>
        <p:nvSpPr>
          <p:cNvPr id="44" name="">
            <a:extLst xmlns:a="http://schemas.openxmlformats.org/drawingml/2006/main">
              <a:ext uri="{FF2B5EF4-FFF2-40B4-BE49-F238E27FC236}">
                <a16:creationId xmlns:a16="http://schemas.microsoft.com/office/drawing/2014/main" id="{90D06C64-5929-4262-88F1-D956B43A9797}"/>
              </a:ext>
            </a:extLst>
          </p:cNvPr>
          <p:cNvSpPr>
            <a:spLocks xmlns:a="http://schemas.openxmlformats.org/drawingml/2006/main" noGrp="1"/>
          </p:cNvSpPr>
          <p:nvPr/>
        </p:nvSpPr>
        <p:spPr>
          <a:xfrm xmlns:a="http://schemas.openxmlformats.org/drawingml/2006/main">
            <a:off x="5619750" y="4019169"/>
            <a:ext cx="56388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Կապերի իմաստ</a:t>
            </a:r>
          </a:p>
        </p:txBody>
      </p:sp>
      <p:sp>
        <p:nvSpPr>
          <p:cNvPr id="45" name="">
            <a:extLst xmlns:a="http://schemas.openxmlformats.org/drawingml/2006/main">
              <a:ext uri="{FF2B5EF4-FFF2-40B4-BE49-F238E27FC236}">
                <a16:creationId xmlns:a16="http://schemas.microsoft.com/office/drawing/2014/main" id="{8C3CEEAF-44EF-45F7-BAE8-235D078BE13E}"/>
              </a:ext>
            </a:extLst>
          </p:cNvPr>
          <p:cNvSpPr>
            <a:spLocks xmlns:a="http://schemas.openxmlformats.org/drawingml/2006/main" noGrp="1"/>
          </p:cNvSpPr>
          <p:nvPr/>
        </p:nvSpPr>
        <p:spPr>
          <a:xfrm xmlns:a="http://schemas.openxmlformats.org/drawingml/2006/main">
            <a:off x="5391150" y="4380357"/>
            <a:ext cx="58674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`user_accounts` → `admins`</a:t>
            </a:r>
          </a:p>
        </p:txBody>
      </p:sp>
      <p:sp>
        <p:nvSpPr>
          <p:cNvPr id="46" name="">
            <a:extLst xmlns:a="http://schemas.openxmlformats.org/drawingml/2006/main">
              <a:ext uri="{FF2B5EF4-FFF2-40B4-BE49-F238E27FC236}">
                <a16:creationId xmlns:a16="http://schemas.microsoft.com/office/drawing/2014/main" id="{03E44AF5-D620-45A5-A27C-3BD806D90955}"/>
              </a:ext>
            </a:extLst>
          </p:cNvPr>
          <p:cNvSpPr>
            <a:spLocks xmlns:a="http://schemas.openxmlformats.org/drawingml/2006/main" noGrp="1"/>
          </p:cNvSpPr>
          <p:nvPr/>
        </p:nvSpPr>
        <p:spPr>
          <a:xfrm xmlns:a="http://schemas.openxmlformats.org/drawingml/2006/main">
            <a:off x="5391150" y="4717009"/>
            <a:ext cx="58674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`user_accounts` → `teachers`</a:t>
            </a:r>
          </a:p>
        </p:txBody>
      </p:sp>
      <p:sp>
        <p:nvSpPr>
          <p:cNvPr id="47" name="">
            <a:extLst xmlns:a="http://schemas.openxmlformats.org/drawingml/2006/main">
              <a:ext uri="{FF2B5EF4-FFF2-40B4-BE49-F238E27FC236}">
                <a16:creationId xmlns:a16="http://schemas.microsoft.com/office/drawing/2014/main" id="{0A2DCB5D-7CC2-4B92-982C-5EEA5923C141}"/>
              </a:ext>
            </a:extLst>
          </p:cNvPr>
          <p:cNvSpPr>
            <a:spLocks xmlns:a="http://schemas.openxmlformats.org/drawingml/2006/main" noGrp="1"/>
          </p:cNvSpPr>
          <p:nvPr/>
        </p:nvSpPr>
        <p:spPr>
          <a:xfrm xmlns:a="http://schemas.openxmlformats.org/drawingml/2006/main">
            <a:off x="5391150" y="5053660"/>
            <a:ext cx="58674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`user_accounts` → `students`</a:t>
            </a:r>
          </a:p>
        </p:txBody>
      </p:sp>
      <p:sp>
        <p:nvSpPr>
          <p:cNvPr id="48" name="">
            <a:extLst xmlns:a="http://schemas.openxmlformats.org/drawingml/2006/main">
              <a:ext uri="{FF2B5EF4-FFF2-40B4-BE49-F238E27FC236}">
                <a16:creationId xmlns:a16="http://schemas.microsoft.com/office/drawing/2014/main" id="{A18F7D53-AC2E-4A6B-A099-2DEFD91564D6}"/>
              </a:ext>
            </a:extLst>
          </p:cNvPr>
          <p:cNvSpPr>
            <a:spLocks xmlns:a="http://schemas.openxmlformats.org/drawingml/2006/main" noGrp="1"/>
          </p:cNvSpPr>
          <p:nvPr/>
        </p:nvSpPr>
        <p:spPr>
          <a:xfrm xmlns:a="http://schemas.openxmlformats.org/drawingml/2006/main">
            <a:off x="5200650" y="5637962"/>
            <a:ext cx="624840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49" name="">
            <a:extLst xmlns:a="http://schemas.openxmlformats.org/drawingml/2006/main">
              <a:ext uri="{FF2B5EF4-FFF2-40B4-BE49-F238E27FC236}">
                <a16:creationId xmlns:a16="http://schemas.microsoft.com/office/drawing/2014/main" id="{731B2A7A-EB3C-4A86-B446-C12BAFCCC0E1}"/>
              </a:ext>
            </a:extLst>
          </p:cNvPr>
          <p:cNvSpPr>
            <a:spLocks xmlns:a="http://schemas.openxmlformats.org/drawingml/2006/main" noGrp="1"/>
          </p:cNvSpPr>
          <p:nvPr/>
        </p:nvSpPr>
        <p:spPr>
          <a:xfrm xmlns:a="http://schemas.openxmlformats.org/drawingml/2006/main">
            <a:off x="5391150" y="5828462"/>
            <a:ext cx="133350" cy="133350"/>
          </a:xfrm>
          <a:prstGeom xmlns:a="http://schemas.openxmlformats.org/drawingml/2006/main" prst="ellipse">
            <a:avLst/>
          </a:prstGeom>
          <a:solidFill xmlns:a="http://schemas.openxmlformats.org/drawingml/2006/main">
            <a:srgbClr val="D98F2B"/>
          </a:solidFill>
        </p:spPr>
      </p:sp>
      <p:sp>
        <p:nvSpPr>
          <p:cNvPr id="50" name="">
            <a:extLst xmlns:a="http://schemas.openxmlformats.org/drawingml/2006/main">
              <a:ext uri="{FF2B5EF4-FFF2-40B4-BE49-F238E27FC236}">
                <a16:creationId xmlns:a16="http://schemas.microsoft.com/office/drawing/2014/main" id="{A3223369-28D3-481E-A459-E8ABD43D72AE}"/>
              </a:ext>
            </a:extLst>
          </p:cNvPr>
          <p:cNvSpPr>
            <a:spLocks xmlns:a="http://schemas.openxmlformats.org/drawingml/2006/main" noGrp="1"/>
          </p:cNvSpPr>
          <p:nvPr/>
        </p:nvSpPr>
        <p:spPr>
          <a:xfrm xmlns:a="http://schemas.openxmlformats.org/drawingml/2006/main">
            <a:off x="5619750" y="5828462"/>
            <a:ext cx="56388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51" name="">
            <a:extLst xmlns:a="http://schemas.openxmlformats.org/drawingml/2006/main">
              <a:ext uri="{FF2B5EF4-FFF2-40B4-BE49-F238E27FC236}">
                <a16:creationId xmlns:a16="http://schemas.microsoft.com/office/drawing/2014/main" id="{D464AA96-18F8-4DA3-9A5E-E14B229A3376}"/>
              </a:ext>
            </a:extLst>
          </p:cNvPr>
          <p:cNvSpPr>
            <a:spLocks xmlns:a="http://schemas.openxmlformats.org/drawingml/2006/main" noGrp="1"/>
          </p:cNvSpPr>
          <p:nvPr/>
        </p:nvSpPr>
        <p:spPr>
          <a:xfrm xmlns:a="http://schemas.openxmlformats.org/drawingml/2006/main">
            <a:off x="5391150" y="6189650"/>
            <a:ext cx="58674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user_accounts - admins/teachers/students</a:t>
            </a:r>
          </a:p>
        </p:txBody>
      </p:sp>
      <p:sp>
        <p:nvSpPr>
          <p:cNvPr id="52" name="">
            <a:extLst xmlns:a="http://schemas.openxmlformats.org/drawingml/2006/main">
              <a:ext uri="{FF2B5EF4-FFF2-40B4-BE49-F238E27FC236}">
                <a16:creationId xmlns:a16="http://schemas.microsoft.com/office/drawing/2014/main" id="{FF3A6C2D-AF6D-4FA8-A737-C47E511F0329}"/>
              </a:ext>
            </a:extLst>
          </p:cNvPr>
          <p:cNvSpPr>
            <a:spLocks xmlns:a="http://schemas.openxmlformats.org/drawingml/2006/main" noGrp="1"/>
          </p:cNvSpPr>
          <p:nvPr/>
        </p:nvSpPr>
        <p:spPr>
          <a:xfrm xmlns:a="http://schemas.openxmlformats.org/drawingml/2006/main">
            <a:off x="742950" y="6793001"/>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53" name="">
            <a:extLst xmlns:a="http://schemas.openxmlformats.org/drawingml/2006/main">
              <a:ext uri="{FF2B5EF4-FFF2-40B4-BE49-F238E27FC236}">
                <a16:creationId xmlns:a16="http://schemas.microsoft.com/office/drawing/2014/main" id="{178D6413-3BF4-4E6D-AC6B-8FE74F28F69C}"/>
              </a:ext>
            </a:extLst>
          </p:cNvPr>
          <p:cNvSpPr>
            <a:spLocks xmlns:a="http://schemas.openxmlformats.org/drawingml/2006/main" noGrp="1"/>
          </p:cNvSpPr>
          <p:nvPr/>
        </p:nvSpPr>
        <p:spPr>
          <a:xfrm xmlns:a="http://schemas.openxmlformats.org/drawingml/2006/main">
            <a:off x="10306050" y="6793001"/>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03</a:t>
            </a:r>
          </a:p>
        </p:txBody>
      </p:sp>
    </p:spTree>
    <p:extLst>
      <p:ext uri="{BB962C8B-B14F-4D97-AF65-F5344CB8AC3E}">
        <p14:creationId xmlns:p14="http://schemas.microsoft.com/office/powerpoint/2010/main" val="19505667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37B000-4CB9-42FA-A088-6E64493378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88F02E99-DEB5-40B8-A3EE-0D8163A52351}"/>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099DF003-AF35-4336-8C6C-497DDD15978D}"/>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357EA1AD-D30B-4E6D-87F1-D22CE9FCA579}"/>
              </a:ext>
            </a:extLst>
          </p:cNvPr>
          <p:cNvSpPr>
            <a:spLocks xmlns:a="http://schemas.openxmlformats.org/drawingml/2006/main" noGrp="1"/>
          </p:cNvSpPr>
          <p:nvPr/>
        </p:nvSpPr>
        <p:spPr>
          <a:xfrm xmlns:a="http://schemas.openxmlformats.org/drawingml/2006/main">
            <a:off x="742950" y="876300"/>
            <a:ext cx="1428750" cy="390906"/>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5A60B91A-EF02-4446-B894-7DF5A17BFFFD}"/>
              </a:ext>
            </a:extLst>
          </p:cNvPr>
          <p:cNvSpPr>
            <a:spLocks xmlns:a="http://schemas.openxmlformats.org/drawingml/2006/main" noGrp="1"/>
          </p:cNvSpPr>
          <p:nvPr/>
        </p:nvSpPr>
        <p:spPr>
          <a:xfrm xmlns:a="http://schemas.openxmlformats.org/drawingml/2006/main">
            <a:off x="819150" y="952500"/>
            <a:ext cx="1240060"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Ադմինիստրատորներ</a:t>
            </a:r>
          </a:p>
        </p:txBody>
      </p:sp>
      <p:sp>
        <p:nvSpPr>
          <p:cNvPr id="6" name="">
            <a:extLst xmlns:a="http://schemas.openxmlformats.org/drawingml/2006/main">
              <a:ext uri="{FF2B5EF4-FFF2-40B4-BE49-F238E27FC236}">
                <a16:creationId xmlns:a16="http://schemas.microsoft.com/office/drawing/2014/main" id="{B3C3DE0F-F3D9-43E8-A4FA-396A8ED01F9F}"/>
              </a:ext>
            </a:extLst>
          </p:cNvPr>
          <p:cNvSpPr>
            <a:spLocks xmlns:a="http://schemas.openxmlformats.org/drawingml/2006/main" noGrp="1"/>
          </p:cNvSpPr>
          <p:nvPr/>
        </p:nvSpPr>
        <p:spPr>
          <a:xfrm xmlns:a="http://schemas.openxmlformats.org/drawingml/2006/main">
            <a:off x="2286000" y="876300"/>
            <a:ext cx="7524750" cy="3909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`admins` աղյուսակը</a:t>
            </a:r>
          </a:p>
        </p:txBody>
      </p:sp>
      <p:sp>
        <p:nvSpPr>
          <p:cNvPr id="7" name="">
            <a:extLst xmlns:a="http://schemas.openxmlformats.org/drawingml/2006/main">
              <a:ext uri="{FF2B5EF4-FFF2-40B4-BE49-F238E27FC236}">
                <a16:creationId xmlns:a16="http://schemas.microsoft.com/office/drawing/2014/main" id="{BACD0D5B-2C23-45C4-AFD0-EF4C0A9AFDBC}"/>
              </a:ext>
            </a:extLst>
          </p:cNvPr>
          <p:cNvSpPr>
            <a:spLocks xmlns:a="http://schemas.openxmlformats.org/drawingml/2006/main" noGrp="1"/>
          </p:cNvSpPr>
          <p:nvPr/>
        </p:nvSpPr>
        <p:spPr>
          <a:xfrm xmlns:a="http://schemas.openxmlformats.org/drawingml/2006/main">
            <a:off x="742950" y="1343406"/>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 աղյուսակը նկարագրում է ով է համակարգը կառավարում և որ ակադեմիական միավորի համար</a:t>
            </a:r>
          </a:p>
        </p:txBody>
      </p:sp>
      <p:sp>
        <p:nvSpPr>
          <p:cNvPr id="8" name="">
            <a:extLst xmlns:a="http://schemas.openxmlformats.org/drawingml/2006/main">
              <a:ext uri="{FF2B5EF4-FFF2-40B4-BE49-F238E27FC236}">
                <a16:creationId xmlns:a16="http://schemas.microsoft.com/office/drawing/2014/main" id="{0CDC4604-75D8-4E55-9491-EEE00F0B3D08}"/>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12CFE96C-0A27-4C31-8253-8587328B91EE}"/>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04</a:t>
            </a:r>
          </a:p>
        </p:txBody>
      </p:sp>
      <p:sp>
        <p:nvSpPr>
          <p:cNvPr id="10" name="">
            <a:extLst xmlns:a="http://schemas.openxmlformats.org/drawingml/2006/main">
              <a:ext uri="{FF2B5EF4-FFF2-40B4-BE49-F238E27FC236}">
                <a16:creationId xmlns:a16="http://schemas.microsoft.com/office/drawing/2014/main" id="{EB78EC50-8F6F-4D5C-87C4-05C25108F4EF}"/>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769D67E1-1027-4803-95F0-0030311CB8FE}"/>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E2085547-5537-4452-A6ED-F24FE938B814}"/>
              </a:ext>
            </a:extLst>
          </p:cNvPr>
          <p:cNvSpPr>
            <a:spLocks xmlns:a="http://schemas.openxmlformats.org/drawingml/2006/main" noGrp="1"/>
          </p:cNvSpPr>
          <p:nvPr/>
        </p:nvSpPr>
        <p:spPr>
          <a:xfrm xmlns:a="http://schemas.openxmlformats.org/drawingml/2006/main">
            <a:off x="742950" y="2064639"/>
            <a:ext cx="1714500" cy="525780"/>
          </a:xfrm>
          <a:prstGeom xmlns:a="http://schemas.openxmlformats.org/drawingml/2006/main" prst="roundRect">
            <a:avLst>
              <a:gd name="adj" fmla="val 21739"/>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87C764CB-A884-4B64-9875-F0C78C3AF59A}"/>
              </a:ext>
            </a:extLst>
          </p:cNvPr>
          <p:cNvSpPr>
            <a:spLocks xmlns:a="http://schemas.openxmlformats.org/drawingml/2006/main" noGrp="1"/>
          </p:cNvSpPr>
          <p:nvPr/>
        </p:nvSpPr>
        <p:spPr>
          <a:xfrm xmlns:a="http://schemas.openxmlformats.org/drawingml/2006/main">
            <a:off x="857250" y="2178939"/>
            <a:ext cx="889063"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`admins` դաշտ</a:t>
            </a:r>
          </a:p>
        </p:txBody>
      </p:sp>
      <p:sp>
        <p:nvSpPr>
          <p:cNvPr id="14" name="">
            <a:extLst xmlns:a="http://schemas.openxmlformats.org/drawingml/2006/main">
              <a:ext uri="{FF2B5EF4-FFF2-40B4-BE49-F238E27FC236}">
                <a16:creationId xmlns:a16="http://schemas.microsoft.com/office/drawing/2014/main" id="{5CBCF073-D9F9-451A-ADAD-3967C53C745F}"/>
              </a:ext>
            </a:extLst>
          </p:cNvPr>
          <p:cNvSpPr>
            <a:spLocks xmlns:a="http://schemas.openxmlformats.org/drawingml/2006/main" noGrp="1"/>
          </p:cNvSpPr>
          <p:nvPr/>
        </p:nvSpPr>
        <p:spPr>
          <a:xfrm xmlns:a="http://schemas.openxmlformats.org/drawingml/2006/main">
            <a:off x="2533650" y="2064639"/>
            <a:ext cx="2209800" cy="525780"/>
          </a:xfrm>
          <a:prstGeom xmlns:a="http://schemas.openxmlformats.org/drawingml/2006/main" prst="roundRect">
            <a:avLst>
              <a:gd name="adj" fmla="val 21739"/>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842890A8-06F2-4EBD-9CE8-B82194E0F97E}"/>
              </a:ext>
            </a:extLst>
          </p:cNvPr>
          <p:cNvSpPr>
            <a:spLocks xmlns:a="http://schemas.openxmlformats.org/drawingml/2006/main" noGrp="1"/>
          </p:cNvSpPr>
          <p:nvPr/>
        </p:nvSpPr>
        <p:spPr>
          <a:xfrm xmlns:a="http://schemas.openxmlformats.org/drawingml/2006/main">
            <a:off x="2647950" y="2178939"/>
            <a:ext cx="99117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Բացատրություն</a:t>
            </a:r>
          </a:p>
        </p:txBody>
      </p:sp>
      <p:sp>
        <p:nvSpPr>
          <p:cNvPr id="16" name="">
            <a:extLst xmlns:a="http://schemas.openxmlformats.org/drawingml/2006/main">
              <a:ext uri="{FF2B5EF4-FFF2-40B4-BE49-F238E27FC236}">
                <a16:creationId xmlns:a16="http://schemas.microsoft.com/office/drawing/2014/main" id="{9B9EEA35-7760-4522-9A48-CF41A9614E49}"/>
              </a:ext>
            </a:extLst>
          </p:cNvPr>
          <p:cNvSpPr>
            <a:spLocks xmlns:a="http://schemas.openxmlformats.org/drawingml/2006/main" noGrp="1"/>
          </p:cNvSpPr>
          <p:nvPr/>
        </p:nvSpPr>
        <p:spPr>
          <a:xfrm xmlns:a="http://schemas.openxmlformats.org/drawingml/2006/main">
            <a:off x="742950" y="2666619"/>
            <a:ext cx="1714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C4EAD746-5E6B-4554-AF2D-EB180ED99827}"/>
              </a:ext>
            </a:extLst>
          </p:cNvPr>
          <p:cNvSpPr>
            <a:spLocks xmlns:a="http://schemas.openxmlformats.org/drawingml/2006/main" noGrp="1"/>
          </p:cNvSpPr>
          <p:nvPr/>
        </p:nvSpPr>
        <p:spPr>
          <a:xfrm xmlns:a="http://schemas.openxmlformats.org/drawingml/2006/main">
            <a:off x="857250" y="2780919"/>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user_account_id</a:t>
            </a:r>
          </a:p>
        </p:txBody>
      </p:sp>
      <p:sp>
        <p:nvSpPr>
          <p:cNvPr id="18" name="">
            <a:extLst xmlns:a="http://schemas.openxmlformats.org/drawingml/2006/main">
              <a:ext uri="{FF2B5EF4-FFF2-40B4-BE49-F238E27FC236}">
                <a16:creationId xmlns:a16="http://schemas.microsoft.com/office/drawing/2014/main" id="{B879A210-4FAA-496F-821B-6CB0BF3536DC}"/>
              </a:ext>
            </a:extLst>
          </p:cNvPr>
          <p:cNvSpPr>
            <a:spLocks xmlns:a="http://schemas.openxmlformats.org/drawingml/2006/main" noGrp="1"/>
          </p:cNvSpPr>
          <p:nvPr/>
        </p:nvSpPr>
        <p:spPr>
          <a:xfrm xmlns:a="http://schemas.openxmlformats.org/drawingml/2006/main">
            <a:off x="2533650" y="2666619"/>
            <a:ext cx="2209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8647AA7D-9B05-40B2-866A-8D43F4F02A2C}"/>
              </a:ext>
            </a:extLst>
          </p:cNvPr>
          <p:cNvSpPr>
            <a:spLocks xmlns:a="http://schemas.openxmlformats.org/drawingml/2006/main" noGrp="1"/>
          </p:cNvSpPr>
          <p:nvPr/>
        </p:nvSpPr>
        <p:spPr>
          <a:xfrm xmlns:a="http://schemas.openxmlformats.org/drawingml/2006/main">
            <a:off x="2647950" y="2780919"/>
            <a:ext cx="1981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հաշվի ադմին պրոֆիլն է</a:t>
            </a:r>
          </a:p>
        </p:txBody>
      </p:sp>
      <p:sp>
        <p:nvSpPr>
          <p:cNvPr id="20" name="">
            <a:extLst xmlns:a="http://schemas.openxmlformats.org/drawingml/2006/main">
              <a:ext uri="{FF2B5EF4-FFF2-40B4-BE49-F238E27FC236}">
                <a16:creationId xmlns:a16="http://schemas.microsoft.com/office/drawing/2014/main" id="{AF727B2F-BA74-4F15-A162-51CB8AEBDFAE}"/>
              </a:ext>
            </a:extLst>
          </p:cNvPr>
          <p:cNvSpPr>
            <a:spLocks xmlns:a="http://schemas.openxmlformats.org/drawingml/2006/main" noGrp="1"/>
          </p:cNvSpPr>
          <p:nvPr/>
        </p:nvSpPr>
        <p:spPr>
          <a:xfrm xmlns:a="http://schemas.openxmlformats.org/drawingml/2006/main">
            <a:off x="742950" y="3182645"/>
            <a:ext cx="1714500" cy="862279"/>
          </a:xfrm>
          <a:prstGeom xmlns:a="http://schemas.openxmlformats.org/drawingml/2006/main" prst="roundRect">
            <a:avLst>
              <a:gd name="adj" fmla="val 13256"/>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B706A413-2C0C-4537-AFAD-9FDB04E08982}"/>
              </a:ext>
            </a:extLst>
          </p:cNvPr>
          <p:cNvSpPr>
            <a:spLocks xmlns:a="http://schemas.openxmlformats.org/drawingml/2006/main" noGrp="1"/>
          </p:cNvSpPr>
          <p:nvPr/>
        </p:nvSpPr>
        <p:spPr>
          <a:xfrm xmlns:a="http://schemas.openxmlformats.org/drawingml/2006/main">
            <a:off x="857250" y="3296945"/>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academic_unit_id</a:t>
            </a:r>
          </a:p>
        </p:txBody>
      </p:sp>
      <p:sp>
        <p:nvSpPr>
          <p:cNvPr id="22" name="">
            <a:extLst xmlns:a="http://schemas.openxmlformats.org/drawingml/2006/main">
              <a:ext uri="{FF2B5EF4-FFF2-40B4-BE49-F238E27FC236}">
                <a16:creationId xmlns:a16="http://schemas.microsoft.com/office/drawing/2014/main" id="{B656DA8F-0397-4480-8400-93117A5740A8}"/>
              </a:ext>
            </a:extLst>
          </p:cNvPr>
          <p:cNvSpPr>
            <a:spLocks xmlns:a="http://schemas.openxmlformats.org/drawingml/2006/main" noGrp="1"/>
          </p:cNvSpPr>
          <p:nvPr/>
        </p:nvSpPr>
        <p:spPr>
          <a:xfrm xmlns:a="http://schemas.openxmlformats.org/drawingml/2006/main">
            <a:off x="2533650" y="3182645"/>
            <a:ext cx="2209800" cy="862279"/>
          </a:xfrm>
          <a:prstGeom xmlns:a="http://schemas.openxmlformats.org/drawingml/2006/main" prst="roundRect">
            <a:avLst>
              <a:gd name="adj" fmla="val 13256"/>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11187291-5176-483F-8E1C-88B3A746AC10}"/>
              </a:ext>
            </a:extLst>
          </p:cNvPr>
          <p:cNvSpPr>
            <a:spLocks xmlns:a="http://schemas.openxmlformats.org/drawingml/2006/main" noGrp="1"/>
          </p:cNvSpPr>
          <p:nvPr/>
        </p:nvSpPr>
        <p:spPr>
          <a:xfrm xmlns:a="http://schemas.openxmlformats.org/drawingml/2006/main">
            <a:off x="2647950" y="3296945"/>
            <a:ext cx="1981200" cy="63367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կառուցվածքային միավորի համար է պատասխանատու</a:t>
            </a:r>
          </a:p>
        </p:txBody>
      </p:sp>
      <p:sp>
        <p:nvSpPr>
          <p:cNvPr id="24" name="">
            <a:extLst xmlns:a="http://schemas.openxmlformats.org/drawingml/2006/main">
              <a:ext uri="{FF2B5EF4-FFF2-40B4-BE49-F238E27FC236}">
                <a16:creationId xmlns:a16="http://schemas.microsoft.com/office/drawing/2014/main" id="{CC1F56B5-0C96-4849-A47A-593E68619AEB}"/>
              </a:ext>
            </a:extLst>
          </p:cNvPr>
          <p:cNvSpPr>
            <a:spLocks xmlns:a="http://schemas.openxmlformats.org/drawingml/2006/main" noGrp="1"/>
          </p:cNvSpPr>
          <p:nvPr/>
        </p:nvSpPr>
        <p:spPr>
          <a:xfrm xmlns:a="http://schemas.openxmlformats.org/drawingml/2006/main">
            <a:off x="742950" y="4121125"/>
            <a:ext cx="171450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81527EC0-5B9F-44AE-A40C-61C4AD91C692}"/>
              </a:ext>
            </a:extLst>
          </p:cNvPr>
          <p:cNvSpPr>
            <a:spLocks xmlns:a="http://schemas.openxmlformats.org/drawingml/2006/main" noGrp="1"/>
          </p:cNvSpPr>
          <p:nvPr/>
        </p:nvSpPr>
        <p:spPr>
          <a:xfrm xmlns:a="http://schemas.openxmlformats.org/drawingml/2006/main">
            <a:off x="857250" y="4235425"/>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first_name / last_name</a:t>
            </a:r>
          </a:p>
        </p:txBody>
      </p:sp>
      <p:sp>
        <p:nvSpPr>
          <p:cNvPr id="26" name="">
            <a:extLst xmlns:a="http://schemas.openxmlformats.org/drawingml/2006/main">
              <a:ext uri="{FF2B5EF4-FFF2-40B4-BE49-F238E27FC236}">
                <a16:creationId xmlns:a16="http://schemas.microsoft.com/office/drawing/2014/main" id="{B4DB58BA-66FD-4A9E-8C9D-80DF3CA4926C}"/>
              </a:ext>
            </a:extLst>
          </p:cNvPr>
          <p:cNvSpPr>
            <a:spLocks xmlns:a="http://schemas.openxmlformats.org/drawingml/2006/main" noGrp="1"/>
          </p:cNvSpPr>
          <p:nvPr/>
        </p:nvSpPr>
        <p:spPr>
          <a:xfrm xmlns:a="http://schemas.openxmlformats.org/drawingml/2006/main">
            <a:off x="2533650" y="4121125"/>
            <a:ext cx="220980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E3250C60-02EC-455E-97F2-154BC97ABFD3}"/>
              </a:ext>
            </a:extLst>
          </p:cNvPr>
          <p:cNvSpPr>
            <a:spLocks xmlns:a="http://schemas.openxmlformats.org/drawingml/2006/main" noGrp="1"/>
          </p:cNvSpPr>
          <p:nvPr/>
        </p:nvSpPr>
        <p:spPr>
          <a:xfrm xmlns:a="http://schemas.openxmlformats.org/drawingml/2006/main">
            <a:off x="2647950" y="4235425"/>
            <a:ext cx="19812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Ադմինի անձնական տվյալներ</a:t>
            </a:r>
          </a:p>
        </p:txBody>
      </p:sp>
      <p:sp>
        <p:nvSpPr>
          <p:cNvPr id="28" name="">
            <a:extLst xmlns:a="http://schemas.openxmlformats.org/drawingml/2006/main">
              <a:ext uri="{FF2B5EF4-FFF2-40B4-BE49-F238E27FC236}">
                <a16:creationId xmlns:a16="http://schemas.microsoft.com/office/drawing/2014/main" id="{F0A40D69-B488-4E31-9BD1-C1D6EFE0D515}"/>
              </a:ext>
            </a:extLst>
          </p:cNvPr>
          <p:cNvSpPr>
            <a:spLocks xmlns:a="http://schemas.openxmlformats.org/drawingml/2006/main" noGrp="1"/>
          </p:cNvSpPr>
          <p:nvPr/>
        </p:nvSpPr>
        <p:spPr>
          <a:xfrm xmlns:a="http://schemas.openxmlformats.org/drawingml/2006/main">
            <a:off x="742950" y="4848377"/>
            <a:ext cx="171450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C8F58285-8DC7-47AB-B02F-371E88FA972B}"/>
              </a:ext>
            </a:extLst>
          </p:cNvPr>
          <p:cNvSpPr>
            <a:spLocks xmlns:a="http://schemas.openxmlformats.org/drawingml/2006/main" noGrp="1"/>
          </p:cNvSpPr>
          <p:nvPr/>
        </p:nvSpPr>
        <p:spPr>
          <a:xfrm xmlns:a="http://schemas.openxmlformats.org/drawingml/2006/main">
            <a:off x="857250" y="4962677"/>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admin_level</a:t>
            </a:r>
          </a:p>
        </p:txBody>
      </p:sp>
      <p:sp>
        <p:nvSpPr>
          <p:cNvPr id="30" name="">
            <a:extLst xmlns:a="http://schemas.openxmlformats.org/drawingml/2006/main">
              <a:ext uri="{FF2B5EF4-FFF2-40B4-BE49-F238E27FC236}">
                <a16:creationId xmlns:a16="http://schemas.microsoft.com/office/drawing/2014/main" id="{41C0934F-EB55-41EF-9413-90CD535B63DA}"/>
              </a:ext>
            </a:extLst>
          </p:cNvPr>
          <p:cNvSpPr>
            <a:spLocks xmlns:a="http://schemas.openxmlformats.org/drawingml/2006/main" noGrp="1"/>
          </p:cNvSpPr>
          <p:nvPr/>
        </p:nvSpPr>
        <p:spPr>
          <a:xfrm xmlns:a="http://schemas.openxmlformats.org/drawingml/2006/main">
            <a:off x="2533650" y="4848377"/>
            <a:ext cx="220980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31" name="">
            <a:extLst xmlns:a="http://schemas.openxmlformats.org/drawingml/2006/main">
              <a:ext uri="{FF2B5EF4-FFF2-40B4-BE49-F238E27FC236}">
                <a16:creationId xmlns:a16="http://schemas.microsoft.com/office/drawing/2014/main" id="{62CEB12F-EB70-41D0-AED2-6D860A98EA50}"/>
              </a:ext>
            </a:extLst>
          </p:cNvPr>
          <p:cNvSpPr>
            <a:spLocks xmlns:a="http://schemas.openxmlformats.org/drawingml/2006/main" noGrp="1"/>
          </p:cNvSpPr>
          <p:nvPr/>
        </p:nvSpPr>
        <p:spPr>
          <a:xfrm xmlns:a="http://schemas.openxmlformats.org/drawingml/2006/main">
            <a:off x="2647950" y="4962677"/>
            <a:ext cx="19812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Ընդհանուր ադմին, թե academic unit admin</a:t>
            </a:r>
          </a:p>
        </p:txBody>
      </p:sp>
      <p:sp>
        <p:nvSpPr>
          <p:cNvPr id="32" name="">
            <a:extLst xmlns:a="http://schemas.openxmlformats.org/drawingml/2006/main">
              <a:ext uri="{FF2B5EF4-FFF2-40B4-BE49-F238E27FC236}">
                <a16:creationId xmlns:a16="http://schemas.microsoft.com/office/drawing/2014/main" id="{02C217C7-0ADD-4EC8-A4E7-75362E2169C0}"/>
              </a:ext>
            </a:extLst>
          </p:cNvPr>
          <p:cNvSpPr>
            <a:spLocks xmlns:a="http://schemas.openxmlformats.org/drawingml/2006/main" noGrp="1"/>
          </p:cNvSpPr>
          <p:nvPr/>
        </p:nvSpPr>
        <p:spPr>
          <a:xfrm xmlns:a="http://schemas.openxmlformats.org/drawingml/2006/main">
            <a:off x="4914900" y="2064639"/>
            <a:ext cx="6534150" cy="1837944"/>
          </a:xfrm>
          <a:prstGeom xmlns:a="http://schemas.openxmlformats.org/drawingml/2006/main" prst="roundRect">
            <a:avLst>
              <a:gd name="adj" fmla="val 9328"/>
            </a:avLst>
          </a:prstGeom>
          <a:solidFill xmlns:a="http://schemas.openxmlformats.org/drawingml/2006/main">
            <a:srgbClr val="F8FBFF"/>
          </a:solidFill>
          <a:ln xmlns:a="http://schemas.openxmlformats.org/drawingml/2006/main" w="9525">
            <a:solidFill>
              <a:srgbClr val="DCE7F4"/>
            </a:solidFill>
            <a:prstDash val="solid"/>
          </a:ln>
        </p:spPr>
      </p:sp>
      <p:sp>
        <p:nvSpPr>
          <p:cNvPr id="33" name="">
            <a:extLst xmlns:a="http://schemas.openxmlformats.org/drawingml/2006/main">
              <a:ext uri="{FF2B5EF4-FFF2-40B4-BE49-F238E27FC236}">
                <a16:creationId xmlns:a16="http://schemas.microsoft.com/office/drawing/2014/main" id="{F2340BDA-7622-4578-8B0D-EEE18D14D2D5}"/>
              </a:ext>
            </a:extLst>
          </p:cNvPr>
          <p:cNvSpPr>
            <a:spLocks xmlns:a="http://schemas.openxmlformats.org/drawingml/2006/main" noGrp="1"/>
          </p:cNvSpPr>
          <p:nvPr/>
        </p:nvSpPr>
        <p:spPr>
          <a:xfrm xmlns:a="http://schemas.openxmlformats.org/drawingml/2006/main">
            <a:off x="5105400" y="2255139"/>
            <a:ext cx="133350" cy="133350"/>
          </a:xfrm>
          <a:prstGeom xmlns:a="http://schemas.openxmlformats.org/drawingml/2006/main" prst="ellipse">
            <a:avLst/>
          </a:prstGeom>
          <a:solidFill xmlns:a="http://schemas.openxmlformats.org/drawingml/2006/main">
            <a:srgbClr val="0F4C81"/>
          </a:solidFill>
        </p:spPr>
      </p:sp>
      <p:sp>
        <p:nvSpPr>
          <p:cNvPr id="34" name="">
            <a:extLst xmlns:a="http://schemas.openxmlformats.org/drawingml/2006/main">
              <a:ext uri="{FF2B5EF4-FFF2-40B4-BE49-F238E27FC236}">
                <a16:creationId xmlns:a16="http://schemas.microsoft.com/office/drawing/2014/main" id="{B06D2ADF-87D3-48A5-A588-3BDF4DACAF69}"/>
              </a:ext>
            </a:extLst>
          </p:cNvPr>
          <p:cNvSpPr>
            <a:spLocks xmlns:a="http://schemas.openxmlformats.org/drawingml/2006/main" noGrp="1"/>
          </p:cNvSpPr>
          <p:nvPr/>
        </p:nvSpPr>
        <p:spPr>
          <a:xfrm xmlns:a="http://schemas.openxmlformats.org/drawingml/2006/main">
            <a:off x="5334000" y="2255139"/>
            <a:ext cx="59245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Աղյուսակի բիզնես իմաստը</a:t>
            </a:r>
          </a:p>
        </p:txBody>
      </p:sp>
      <p:sp>
        <p:nvSpPr>
          <p:cNvPr id="35" name="">
            <a:extLst xmlns:a="http://schemas.openxmlformats.org/drawingml/2006/main">
              <a:ext uri="{FF2B5EF4-FFF2-40B4-BE49-F238E27FC236}">
                <a16:creationId xmlns:a16="http://schemas.microsoft.com/office/drawing/2014/main" id="{66C459ED-C8B8-4F28-A37D-541A541CF3C1}"/>
              </a:ext>
            </a:extLst>
          </p:cNvPr>
          <p:cNvSpPr>
            <a:spLocks xmlns:a="http://schemas.openxmlformats.org/drawingml/2006/main" noGrp="1"/>
          </p:cNvSpPr>
          <p:nvPr/>
        </p:nvSpPr>
        <p:spPr>
          <a:xfrm xmlns:a="http://schemas.openxmlformats.org/drawingml/2006/main">
            <a:off x="5105400" y="2616327"/>
            <a:ext cx="61531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Ադմինիստրատորը համակարգի կազմակերպիչ դեր է</a:t>
            </a:r>
          </a:p>
        </p:txBody>
      </p:sp>
      <p:sp>
        <p:nvSpPr>
          <p:cNvPr id="36" name="">
            <a:extLst xmlns:a="http://schemas.openxmlformats.org/drawingml/2006/main">
              <a:ext uri="{FF2B5EF4-FFF2-40B4-BE49-F238E27FC236}">
                <a16:creationId xmlns:a16="http://schemas.microsoft.com/office/drawing/2014/main" id="{477EC9AE-2888-4E93-BB85-E037BE385776}"/>
              </a:ext>
            </a:extLst>
          </p:cNvPr>
          <p:cNvSpPr>
            <a:spLocks xmlns:a="http://schemas.openxmlformats.org/drawingml/2006/main" noGrp="1"/>
          </p:cNvSpPr>
          <p:nvPr/>
        </p:nvSpPr>
        <p:spPr>
          <a:xfrm xmlns:a="http://schemas.openxmlformats.org/drawingml/2006/main">
            <a:off x="5105400" y="2937891"/>
            <a:ext cx="61531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Նա կարող է լինել կոնկրետ academic unit-ի պատասխանատու</a:t>
            </a:r>
          </a:p>
        </p:txBody>
      </p:sp>
      <p:sp>
        <p:nvSpPr>
          <p:cNvPr id="37" name="">
            <a:extLst xmlns:a="http://schemas.openxmlformats.org/drawingml/2006/main">
              <a:ext uri="{FF2B5EF4-FFF2-40B4-BE49-F238E27FC236}">
                <a16:creationId xmlns:a16="http://schemas.microsoft.com/office/drawing/2014/main" id="{962A65EB-7BC4-439C-8D60-094D4F6320FF}"/>
              </a:ext>
            </a:extLst>
          </p:cNvPr>
          <p:cNvSpPr>
            <a:spLocks xmlns:a="http://schemas.openxmlformats.org/drawingml/2006/main" noGrp="1"/>
          </p:cNvSpPr>
          <p:nvPr/>
        </p:nvSpPr>
        <p:spPr>
          <a:xfrm xmlns:a="http://schemas.openxmlformats.org/drawingml/2006/main">
            <a:off x="5105400" y="3259455"/>
            <a:ext cx="61531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Այս կապը թույլ է տալիս կառավարման իրավասությունը կապել համալսարանի կառուցվածքի հետ</a:t>
            </a:r>
          </a:p>
        </p:txBody>
      </p:sp>
      <p:sp>
        <p:nvSpPr>
          <p:cNvPr id="38" name="">
            <a:extLst xmlns:a="http://schemas.openxmlformats.org/drawingml/2006/main">
              <a:ext uri="{FF2B5EF4-FFF2-40B4-BE49-F238E27FC236}">
                <a16:creationId xmlns:a16="http://schemas.microsoft.com/office/drawing/2014/main" id="{F4796B45-C1BD-47C5-8226-AB09A87BAEFC}"/>
              </a:ext>
            </a:extLst>
          </p:cNvPr>
          <p:cNvSpPr>
            <a:spLocks xmlns:a="http://schemas.openxmlformats.org/drawingml/2006/main" noGrp="1"/>
          </p:cNvSpPr>
          <p:nvPr/>
        </p:nvSpPr>
        <p:spPr>
          <a:xfrm xmlns:a="http://schemas.openxmlformats.org/drawingml/2006/main">
            <a:off x="4914900" y="4054983"/>
            <a:ext cx="6534150" cy="1516380"/>
          </a:xfrm>
          <a:prstGeom xmlns:a="http://schemas.openxmlformats.org/drawingml/2006/main" prst="roundRect">
            <a:avLst>
              <a:gd name="adj" fmla="val 11307"/>
            </a:avLst>
          </a:prstGeom>
          <a:solidFill xmlns:a="http://schemas.openxmlformats.org/drawingml/2006/main">
            <a:srgbClr val="FFFFFF"/>
          </a:solidFill>
          <a:ln xmlns:a="http://schemas.openxmlformats.org/drawingml/2006/main" w="9525">
            <a:solidFill>
              <a:srgbClr val="DCE7F4"/>
            </a:solidFill>
            <a:prstDash val="solid"/>
          </a:ln>
        </p:spPr>
      </p:sp>
      <p:sp>
        <p:nvSpPr>
          <p:cNvPr id="39" name="">
            <a:extLst xmlns:a="http://schemas.openxmlformats.org/drawingml/2006/main">
              <a:ext uri="{FF2B5EF4-FFF2-40B4-BE49-F238E27FC236}">
                <a16:creationId xmlns:a16="http://schemas.microsoft.com/office/drawing/2014/main" id="{8C15A8A8-DF20-486B-8436-8CE95D732D33}"/>
              </a:ext>
            </a:extLst>
          </p:cNvPr>
          <p:cNvSpPr>
            <a:spLocks xmlns:a="http://schemas.openxmlformats.org/drawingml/2006/main" noGrp="1"/>
          </p:cNvSpPr>
          <p:nvPr/>
        </p:nvSpPr>
        <p:spPr>
          <a:xfrm xmlns:a="http://schemas.openxmlformats.org/drawingml/2006/main">
            <a:off x="5105400" y="4245483"/>
            <a:ext cx="133350" cy="133350"/>
          </a:xfrm>
          <a:prstGeom xmlns:a="http://schemas.openxmlformats.org/drawingml/2006/main" prst="ellipse">
            <a:avLst/>
          </a:prstGeom>
          <a:solidFill xmlns:a="http://schemas.openxmlformats.org/drawingml/2006/main">
            <a:srgbClr val="2F8F69"/>
          </a:solidFill>
        </p:spPr>
      </p:sp>
      <p:sp>
        <p:nvSpPr>
          <p:cNvPr id="40" name="">
            <a:extLst xmlns:a="http://schemas.openxmlformats.org/drawingml/2006/main">
              <a:ext uri="{FF2B5EF4-FFF2-40B4-BE49-F238E27FC236}">
                <a16:creationId xmlns:a16="http://schemas.microsoft.com/office/drawing/2014/main" id="{F1E78D7B-AABA-441B-A2ED-5FA0DB743DD1}"/>
              </a:ext>
            </a:extLst>
          </p:cNvPr>
          <p:cNvSpPr>
            <a:spLocks xmlns:a="http://schemas.openxmlformats.org/drawingml/2006/main" noGrp="1"/>
          </p:cNvSpPr>
          <p:nvPr/>
        </p:nvSpPr>
        <p:spPr>
          <a:xfrm xmlns:a="http://schemas.openxmlformats.org/drawingml/2006/main">
            <a:off x="5334000" y="4245483"/>
            <a:ext cx="59245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սա առանձին աղյուսակ է</a:t>
            </a:r>
          </a:p>
        </p:txBody>
      </p:sp>
      <p:sp>
        <p:nvSpPr>
          <p:cNvPr id="41" name="">
            <a:extLst xmlns:a="http://schemas.openxmlformats.org/drawingml/2006/main">
              <a:ext uri="{FF2B5EF4-FFF2-40B4-BE49-F238E27FC236}">
                <a16:creationId xmlns:a16="http://schemas.microsoft.com/office/drawing/2014/main" id="{BB42105C-B426-42C5-9764-FBAE6CA4718C}"/>
              </a:ext>
            </a:extLst>
          </p:cNvPr>
          <p:cNvSpPr>
            <a:spLocks xmlns:a="http://schemas.openxmlformats.org/drawingml/2006/main" noGrp="1"/>
          </p:cNvSpPr>
          <p:nvPr/>
        </p:nvSpPr>
        <p:spPr>
          <a:xfrm xmlns:a="http://schemas.openxmlformats.org/drawingml/2006/main">
            <a:off x="5105400" y="4606671"/>
            <a:ext cx="61531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Որովհետև ադմին լինելու փաստը տարբեր է պարզապես հաշիվ ունենալուց</a:t>
            </a:r>
          </a:p>
        </p:txBody>
      </p:sp>
      <p:sp>
        <p:nvSpPr>
          <p:cNvPr id="42" name="">
            <a:extLst xmlns:a="http://schemas.openxmlformats.org/drawingml/2006/main">
              <a:ext uri="{FF2B5EF4-FFF2-40B4-BE49-F238E27FC236}">
                <a16:creationId xmlns:a16="http://schemas.microsoft.com/office/drawing/2014/main" id="{4F810A2F-4E91-4026-B511-81ADA57F5C27}"/>
              </a:ext>
            </a:extLst>
          </p:cNvPr>
          <p:cNvSpPr>
            <a:spLocks xmlns:a="http://schemas.openxmlformats.org/drawingml/2006/main" noGrp="1"/>
          </p:cNvSpPr>
          <p:nvPr/>
        </p:nvSpPr>
        <p:spPr>
          <a:xfrm xmlns:a="http://schemas.openxmlformats.org/drawingml/2006/main">
            <a:off x="5105400" y="4928235"/>
            <a:ext cx="61531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Բոլոր օգտատերերը ադմին չեն, ուստի այս տվյալները չեն պահվում `user_accounts`-ում</a:t>
            </a:r>
          </a:p>
        </p:txBody>
      </p:sp>
      <p:sp>
        <p:nvSpPr>
          <p:cNvPr id="43" name="">
            <a:extLst xmlns:a="http://schemas.openxmlformats.org/drawingml/2006/main">
              <a:ext uri="{FF2B5EF4-FFF2-40B4-BE49-F238E27FC236}">
                <a16:creationId xmlns:a16="http://schemas.microsoft.com/office/drawing/2014/main" id="{BB4D0527-64A4-4DF2-B89C-A6DBF644C7CA}"/>
              </a:ext>
            </a:extLst>
          </p:cNvPr>
          <p:cNvSpPr>
            <a:spLocks xmlns:a="http://schemas.openxmlformats.org/drawingml/2006/main" noGrp="1"/>
          </p:cNvSpPr>
          <p:nvPr/>
        </p:nvSpPr>
        <p:spPr>
          <a:xfrm xmlns:a="http://schemas.openxmlformats.org/drawingml/2006/main">
            <a:off x="742950" y="5761863"/>
            <a:ext cx="10706100" cy="1320241"/>
          </a:xfrm>
          <a:prstGeom xmlns:a="http://schemas.openxmlformats.org/drawingml/2006/main" prst="roundRect">
            <a:avLst>
              <a:gd name="adj" fmla="val 12986"/>
            </a:avLst>
          </a:prstGeom>
          <a:solidFill xmlns:a="http://schemas.openxmlformats.org/drawingml/2006/main">
            <a:srgbClr val="FFFFFF"/>
          </a:solidFill>
          <a:ln xmlns:a="http://schemas.openxmlformats.org/drawingml/2006/main" w="9525">
            <a:solidFill>
              <a:srgbClr val="DCE7F4"/>
            </a:solidFill>
            <a:prstDash val="solid"/>
          </a:ln>
        </p:spPr>
      </p:sp>
      <p:sp>
        <p:nvSpPr>
          <p:cNvPr id="44" name="">
            <a:extLst xmlns:a="http://schemas.openxmlformats.org/drawingml/2006/main">
              <a:ext uri="{FF2B5EF4-FFF2-40B4-BE49-F238E27FC236}">
                <a16:creationId xmlns:a16="http://schemas.microsoft.com/office/drawing/2014/main" id="{36EE93EA-CFDA-4140-B451-B5E18335E57E}"/>
              </a:ext>
            </a:extLst>
          </p:cNvPr>
          <p:cNvSpPr>
            <a:spLocks xmlns:a="http://schemas.openxmlformats.org/drawingml/2006/main" noGrp="1"/>
          </p:cNvSpPr>
          <p:nvPr/>
        </p:nvSpPr>
        <p:spPr>
          <a:xfrm xmlns:a="http://schemas.openxmlformats.org/drawingml/2006/main">
            <a:off x="933450" y="5952363"/>
            <a:ext cx="133350" cy="133350"/>
          </a:xfrm>
          <a:prstGeom xmlns:a="http://schemas.openxmlformats.org/drawingml/2006/main" prst="ellipse">
            <a:avLst/>
          </a:prstGeom>
          <a:solidFill xmlns:a="http://schemas.openxmlformats.org/drawingml/2006/main">
            <a:srgbClr val="D98F2B"/>
          </a:solidFill>
        </p:spPr>
      </p:sp>
      <p:sp>
        <p:nvSpPr>
          <p:cNvPr id="45" name="">
            <a:extLst xmlns:a="http://schemas.openxmlformats.org/drawingml/2006/main">
              <a:ext uri="{FF2B5EF4-FFF2-40B4-BE49-F238E27FC236}">
                <a16:creationId xmlns:a16="http://schemas.microsoft.com/office/drawing/2014/main" id="{561D33F6-C16C-4ED8-B3A0-BF79B7489342}"/>
              </a:ext>
            </a:extLst>
          </p:cNvPr>
          <p:cNvSpPr>
            <a:spLocks xmlns:a="http://schemas.openxmlformats.org/drawingml/2006/main" noGrp="1"/>
          </p:cNvSpPr>
          <p:nvPr/>
        </p:nvSpPr>
        <p:spPr>
          <a:xfrm xmlns:a="http://schemas.openxmlformats.org/drawingml/2006/main">
            <a:off x="1162050" y="5952363"/>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Screenshot placeholder</a:t>
            </a:r>
          </a:p>
        </p:txBody>
      </p:sp>
      <p:sp>
        <p:nvSpPr>
          <p:cNvPr id="46" name="">
            <a:extLst xmlns:a="http://schemas.openxmlformats.org/drawingml/2006/main">
              <a:ext uri="{FF2B5EF4-FFF2-40B4-BE49-F238E27FC236}">
                <a16:creationId xmlns:a16="http://schemas.microsoft.com/office/drawing/2014/main" id="{8D3876F3-3A7D-4A47-A5CB-ECD814A5792E}"/>
              </a:ext>
            </a:extLst>
          </p:cNvPr>
          <p:cNvSpPr>
            <a:spLocks xmlns:a="http://schemas.openxmlformats.org/drawingml/2006/main" noGrp="1"/>
          </p:cNvSpPr>
          <p:nvPr/>
        </p:nvSpPr>
        <p:spPr>
          <a:xfrm xmlns:a="http://schemas.openxmlformats.org/drawingml/2006/main">
            <a:off x="933450" y="6313551"/>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Տեղադրել `admins` table screenshot</a:t>
            </a:r>
          </a:p>
        </p:txBody>
      </p:sp>
      <p:sp>
        <p:nvSpPr>
          <p:cNvPr id="47" name="">
            <a:extLst xmlns:a="http://schemas.openxmlformats.org/drawingml/2006/main">
              <a:ext uri="{FF2B5EF4-FFF2-40B4-BE49-F238E27FC236}">
                <a16:creationId xmlns:a16="http://schemas.microsoft.com/office/drawing/2014/main" id="{9AB582BD-62CF-4E9C-A510-F23F8B305D58}"/>
              </a:ext>
            </a:extLst>
          </p:cNvPr>
          <p:cNvSpPr>
            <a:spLocks xmlns:a="http://schemas.openxmlformats.org/drawingml/2006/main" noGrp="1"/>
          </p:cNvSpPr>
          <p:nvPr/>
        </p:nvSpPr>
        <p:spPr>
          <a:xfrm xmlns:a="http://schemas.openxmlformats.org/drawingml/2006/main">
            <a:off x="933450" y="6650203"/>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Կամ գրել՝ put user_accounts - admins</a:t>
            </a:r>
          </a:p>
        </p:txBody>
      </p:sp>
      <p:sp>
        <p:nvSpPr>
          <p:cNvPr id="48" name="">
            <a:extLst xmlns:a="http://schemas.openxmlformats.org/drawingml/2006/main">
              <a:ext uri="{FF2B5EF4-FFF2-40B4-BE49-F238E27FC236}">
                <a16:creationId xmlns:a16="http://schemas.microsoft.com/office/drawing/2014/main" id="{393B0A45-17CA-492B-A3D0-76C6122418EB}"/>
              </a:ext>
            </a:extLst>
          </p:cNvPr>
          <p:cNvSpPr>
            <a:spLocks xmlns:a="http://schemas.openxmlformats.org/drawingml/2006/main" noGrp="1"/>
          </p:cNvSpPr>
          <p:nvPr/>
        </p:nvSpPr>
        <p:spPr>
          <a:xfrm xmlns:a="http://schemas.openxmlformats.org/drawingml/2006/main">
            <a:off x="742950" y="7253554"/>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9" name="">
            <a:extLst xmlns:a="http://schemas.openxmlformats.org/drawingml/2006/main">
              <a:ext uri="{FF2B5EF4-FFF2-40B4-BE49-F238E27FC236}">
                <a16:creationId xmlns:a16="http://schemas.microsoft.com/office/drawing/2014/main" id="{BFE5B052-9CA9-4CC0-A839-C4A7B81133D8}"/>
              </a:ext>
            </a:extLst>
          </p:cNvPr>
          <p:cNvSpPr>
            <a:spLocks xmlns:a="http://schemas.openxmlformats.org/drawingml/2006/main" noGrp="1"/>
          </p:cNvSpPr>
          <p:nvPr/>
        </p:nvSpPr>
        <p:spPr>
          <a:xfrm xmlns:a="http://schemas.openxmlformats.org/drawingml/2006/main">
            <a:off x="10306050" y="7253554"/>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04</a:t>
            </a:r>
          </a:p>
        </p:txBody>
      </p:sp>
    </p:spTree>
    <p:extLst>
      <p:ext uri="{BB962C8B-B14F-4D97-AF65-F5344CB8AC3E}">
        <p14:creationId xmlns:p14="http://schemas.microsoft.com/office/powerpoint/2010/main" val="747286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B7749C-D208-4672-B262-31936D21B5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070A37EF-1E80-4F2D-86FD-BDCBDF0B2489}"/>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72165688-6588-4E04-AC92-79243DEE8AF1}"/>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B100B6F9-947E-4B5D-9145-CEB31239F80E}"/>
              </a:ext>
            </a:extLst>
          </p:cNvPr>
          <p:cNvSpPr>
            <a:spLocks xmlns:a="http://schemas.openxmlformats.org/drawingml/2006/main" noGrp="1"/>
          </p:cNvSpPr>
          <p:nvPr/>
        </p:nvSpPr>
        <p:spPr>
          <a:xfrm xmlns:a="http://schemas.openxmlformats.org/drawingml/2006/main">
            <a:off x="742950" y="876300"/>
            <a:ext cx="1428750" cy="390906"/>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D061B356-82F1-4491-8D38-6F92C367BFE5}"/>
              </a:ext>
            </a:extLst>
          </p:cNvPr>
          <p:cNvSpPr>
            <a:spLocks xmlns:a="http://schemas.openxmlformats.org/drawingml/2006/main" noGrp="1"/>
          </p:cNvSpPr>
          <p:nvPr/>
        </p:nvSpPr>
        <p:spPr>
          <a:xfrm xmlns:a="http://schemas.openxmlformats.org/drawingml/2006/main">
            <a:off x="819150" y="952500"/>
            <a:ext cx="1635157"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Դասախոսներ և ուսանողներ</a:t>
            </a:r>
          </a:p>
        </p:txBody>
      </p:sp>
      <p:sp>
        <p:nvSpPr>
          <p:cNvPr id="6" name="">
            <a:extLst xmlns:a="http://schemas.openxmlformats.org/drawingml/2006/main">
              <a:ext uri="{FF2B5EF4-FFF2-40B4-BE49-F238E27FC236}">
                <a16:creationId xmlns:a16="http://schemas.microsoft.com/office/drawing/2014/main" id="{87D23DC7-79E8-4301-A931-B95637C1CC8F}"/>
              </a:ext>
            </a:extLst>
          </p:cNvPr>
          <p:cNvSpPr>
            <a:spLocks xmlns:a="http://schemas.openxmlformats.org/drawingml/2006/main" noGrp="1"/>
          </p:cNvSpPr>
          <p:nvPr/>
        </p:nvSpPr>
        <p:spPr>
          <a:xfrm xmlns:a="http://schemas.openxmlformats.org/drawingml/2006/main">
            <a:off x="2286000" y="876300"/>
            <a:ext cx="7524750" cy="3909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`teachers` և `students` աղյուսակները</a:t>
            </a:r>
          </a:p>
        </p:txBody>
      </p:sp>
      <p:sp>
        <p:nvSpPr>
          <p:cNvPr id="7" name="">
            <a:extLst xmlns:a="http://schemas.openxmlformats.org/drawingml/2006/main">
              <a:ext uri="{FF2B5EF4-FFF2-40B4-BE49-F238E27FC236}">
                <a16:creationId xmlns:a16="http://schemas.microsoft.com/office/drawing/2014/main" id="{A20CEF73-54FD-421B-BFA8-D96DE9CCC2E7}"/>
              </a:ext>
            </a:extLst>
          </p:cNvPr>
          <p:cNvSpPr>
            <a:spLocks xmlns:a="http://schemas.openxmlformats.org/drawingml/2006/main" noGrp="1"/>
          </p:cNvSpPr>
          <p:nvPr/>
        </p:nvSpPr>
        <p:spPr>
          <a:xfrm xmlns:a="http://schemas.openxmlformats.org/drawingml/2006/main">
            <a:off x="742950" y="1343406"/>
            <a:ext cx="9067800" cy="4389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Դրանք պահում են մարդկանց ակադեմիական դերերը, մինչդեռ իրական մասնակցությունը նկարագրվում է հետագա կապող աղյուսակներով</a:t>
            </a:r>
          </a:p>
        </p:txBody>
      </p:sp>
      <p:sp>
        <p:nvSpPr>
          <p:cNvPr id="8" name="">
            <a:extLst xmlns:a="http://schemas.openxmlformats.org/drawingml/2006/main">
              <a:ext uri="{FF2B5EF4-FFF2-40B4-BE49-F238E27FC236}">
                <a16:creationId xmlns:a16="http://schemas.microsoft.com/office/drawing/2014/main" id="{14684BC2-E7BD-4067-948B-F3D89CE0408E}"/>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647A0E02-F7D5-45D4-9182-CF61F806AD89}"/>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05</a:t>
            </a:r>
          </a:p>
        </p:txBody>
      </p:sp>
      <p:sp>
        <p:nvSpPr>
          <p:cNvPr id="10" name="">
            <a:extLst xmlns:a="http://schemas.openxmlformats.org/drawingml/2006/main">
              <a:ext uri="{FF2B5EF4-FFF2-40B4-BE49-F238E27FC236}">
                <a16:creationId xmlns:a16="http://schemas.microsoft.com/office/drawing/2014/main" id="{22AC5CF9-3D49-49FC-855A-847189AA7323}"/>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5FA6FBCA-5B80-41F2-A8F9-C27E528822FC}"/>
              </a:ext>
            </a:extLst>
          </p:cNvPr>
          <p:cNvSpPr>
            <a:spLocks xmlns:a="http://schemas.openxmlformats.org/drawingml/2006/main" noGrp="1"/>
          </p:cNvSpPr>
          <p:nvPr/>
        </p:nvSpPr>
        <p:spPr>
          <a:xfrm xmlns:a="http://schemas.openxmlformats.org/drawingml/2006/main">
            <a:off x="742950" y="189661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EB316CAF-0912-4155-9F23-5139F3D9BB50}"/>
              </a:ext>
            </a:extLst>
          </p:cNvPr>
          <p:cNvSpPr>
            <a:spLocks xmlns:a="http://schemas.openxmlformats.org/drawingml/2006/main" noGrp="1"/>
          </p:cNvSpPr>
          <p:nvPr/>
        </p:nvSpPr>
        <p:spPr>
          <a:xfrm xmlns:a="http://schemas.openxmlformats.org/drawingml/2006/main">
            <a:off x="742950" y="2077593"/>
            <a:ext cx="1428750" cy="525780"/>
          </a:xfrm>
          <a:prstGeom xmlns:a="http://schemas.openxmlformats.org/drawingml/2006/main" prst="roundRect">
            <a:avLst>
              <a:gd name="adj" fmla="val 21739"/>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D88B091D-A078-4C2F-A8B8-0A40490C698B}"/>
              </a:ext>
            </a:extLst>
          </p:cNvPr>
          <p:cNvSpPr>
            <a:spLocks xmlns:a="http://schemas.openxmlformats.org/drawingml/2006/main" noGrp="1"/>
          </p:cNvSpPr>
          <p:nvPr/>
        </p:nvSpPr>
        <p:spPr>
          <a:xfrm xmlns:a="http://schemas.openxmlformats.org/drawingml/2006/main">
            <a:off x="857250" y="2191893"/>
            <a:ext cx="580168"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`teachers`</a:t>
            </a:r>
          </a:p>
        </p:txBody>
      </p:sp>
      <p:sp>
        <p:nvSpPr>
          <p:cNvPr id="14" name="">
            <a:extLst xmlns:a="http://schemas.openxmlformats.org/drawingml/2006/main">
              <a:ext uri="{FF2B5EF4-FFF2-40B4-BE49-F238E27FC236}">
                <a16:creationId xmlns:a16="http://schemas.microsoft.com/office/drawing/2014/main" id="{789602F5-1516-4777-84B9-1A783E511217}"/>
              </a:ext>
            </a:extLst>
          </p:cNvPr>
          <p:cNvSpPr>
            <a:spLocks xmlns:a="http://schemas.openxmlformats.org/drawingml/2006/main" noGrp="1"/>
          </p:cNvSpPr>
          <p:nvPr/>
        </p:nvSpPr>
        <p:spPr>
          <a:xfrm xmlns:a="http://schemas.openxmlformats.org/drawingml/2006/main">
            <a:off x="2247900" y="2077593"/>
            <a:ext cx="3762375" cy="525780"/>
          </a:xfrm>
          <a:prstGeom xmlns:a="http://schemas.openxmlformats.org/drawingml/2006/main" prst="roundRect">
            <a:avLst>
              <a:gd name="adj" fmla="val 21739"/>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ACF1B0CD-BBE5-4EB7-9CCD-1AFA00C7F419}"/>
              </a:ext>
            </a:extLst>
          </p:cNvPr>
          <p:cNvSpPr>
            <a:spLocks xmlns:a="http://schemas.openxmlformats.org/drawingml/2006/main" noGrp="1"/>
          </p:cNvSpPr>
          <p:nvPr/>
        </p:nvSpPr>
        <p:spPr>
          <a:xfrm xmlns:a="http://schemas.openxmlformats.org/drawingml/2006/main">
            <a:off x="2362200" y="2191893"/>
            <a:ext cx="46462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Իմաստ</a:t>
            </a:r>
          </a:p>
        </p:txBody>
      </p:sp>
      <p:sp>
        <p:nvSpPr>
          <p:cNvPr id="16" name="">
            <a:extLst xmlns:a="http://schemas.openxmlformats.org/drawingml/2006/main">
              <a:ext uri="{FF2B5EF4-FFF2-40B4-BE49-F238E27FC236}">
                <a16:creationId xmlns:a16="http://schemas.microsoft.com/office/drawing/2014/main" id="{AF4713F4-5610-4C43-80FF-A8096F9EAD76}"/>
              </a:ext>
            </a:extLst>
          </p:cNvPr>
          <p:cNvSpPr>
            <a:spLocks xmlns:a="http://schemas.openxmlformats.org/drawingml/2006/main" noGrp="1"/>
          </p:cNvSpPr>
          <p:nvPr/>
        </p:nvSpPr>
        <p:spPr>
          <a:xfrm xmlns:a="http://schemas.openxmlformats.org/drawingml/2006/main">
            <a:off x="742950" y="2679573"/>
            <a:ext cx="1428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0C696895-8A6E-44DC-B293-C177BB6BF08E}"/>
              </a:ext>
            </a:extLst>
          </p:cNvPr>
          <p:cNvSpPr>
            <a:spLocks xmlns:a="http://schemas.openxmlformats.org/drawingml/2006/main" noGrp="1"/>
          </p:cNvSpPr>
          <p:nvPr/>
        </p:nvSpPr>
        <p:spPr>
          <a:xfrm xmlns:a="http://schemas.openxmlformats.org/drawingml/2006/main">
            <a:off x="857250" y="2793873"/>
            <a:ext cx="1200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user_account_id</a:t>
            </a:r>
          </a:p>
        </p:txBody>
      </p:sp>
      <p:sp>
        <p:nvSpPr>
          <p:cNvPr id="18" name="">
            <a:extLst xmlns:a="http://schemas.openxmlformats.org/drawingml/2006/main">
              <a:ext uri="{FF2B5EF4-FFF2-40B4-BE49-F238E27FC236}">
                <a16:creationId xmlns:a16="http://schemas.microsoft.com/office/drawing/2014/main" id="{B0085C7A-B500-4A23-92C8-F1FDCE26D38C}"/>
              </a:ext>
            </a:extLst>
          </p:cNvPr>
          <p:cNvSpPr>
            <a:spLocks xmlns:a="http://schemas.openxmlformats.org/drawingml/2006/main" noGrp="1"/>
          </p:cNvSpPr>
          <p:nvPr/>
        </p:nvSpPr>
        <p:spPr>
          <a:xfrm xmlns:a="http://schemas.openxmlformats.org/drawingml/2006/main">
            <a:off x="2247900" y="2679573"/>
            <a:ext cx="37623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6B12D79D-1B2E-4708-B82A-9E823C2B5417}"/>
              </a:ext>
            </a:extLst>
          </p:cNvPr>
          <p:cNvSpPr>
            <a:spLocks xmlns:a="http://schemas.openxmlformats.org/drawingml/2006/main" noGrp="1"/>
          </p:cNvSpPr>
          <p:nvPr/>
        </p:nvSpPr>
        <p:spPr>
          <a:xfrm xmlns:a="http://schemas.openxmlformats.org/drawingml/2006/main">
            <a:off x="2362200" y="2793873"/>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Դասախոսական հաշվի կապ</a:t>
            </a:r>
          </a:p>
        </p:txBody>
      </p:sp>
      <p:sp>
        <p:nvSpPr>
          <p:cNvPr id="20" name="">
            <a:extLst xmlns:a="http://schemas.openxmlformats.org/drawingml/2006/main">
              <a:ext uri="{FF2B5EF4-FFF2-40B4-BE49-F238E27FC236}">
                <a16:creationId xmlns:a16="http://schemas.microsoft.com/office/drawing/2014/main" id="{CA91F45B-6D22-4BE1-BA27-33A3E2B31E91}"/>
              </a:ext>
            </a:extLst>
          </p:cNvPr>
          <p:cNvSpPr>
            <a:spLocks xmlns:a="http://schemas.openxmlformats.org/drawingml/2006/main" noGrp="1"/>
          </p:cNvSpPr>
          <p:nvPr/>
        </p:nvSpPr>
        <p:spPr>
          <a:xfrm xmlns:a="http://schemas.openxmlformats.org/drawingml/2006/main">
            <a:off x="742950" y="3195599"/>
            <a:ext cx="142875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C2FB6FBF-FA1F-4F84-BFEA-D188A3DF91C9}"/>
              </a:ext>
            </a:extLst>
          </p:cNvPr>
          <p:cNvSpPr>
            <a:spLocks xmlns:a="http://schemas.openxmlformats.org/drawingml/2006/main" noGrp="1"/>
          </p:cNvSpPr>
          <p:nvPr/>
        </p:nvSpPr>
        <p:spPr>
          <a:xfrm xmlns:a="http://schemas.openxmlformats.org/drawingml/2006/main">
            <a:off x="857250" y="3309899"/>
            <a:ext cx="120015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first_name / last_name</a:t>
            </a:r>
          </a:p>
        </p:txBody>
      </p:sp>
      <p:sp>
        <p:nvSpPr>
          <p:cNvPr id="22" name="">
            <a:extLst xmlns:a="http://schemas.openxmlformats.org/drawingml/2006/main">
              <a:ext uri="{FF2B5EF4-FFF2-40B4-BE49-F238E27FC236}">
                <a16:creationId xmlns:a16="http://schemas.microsoft.com/office/drawing/2014/main" id="{7627459E-DA77-4CCF-95B4-B57E63582BED}"/>
              </a:ext>
            </a:extLst>
          </p:cNvPr>
          <p:cNvSpPr>
            <a:spLocks xmlns:a="http://schemas.openxmlformats.org/drawingml/2006/main" noGrp="1"/>
          </p:cNvSpPr>
          <p:nvPr/>
        </p:nvSpPr>
        <p:spPr>
          <a:xfrm xmlns:a="http://schemas.openxmlformats.org/drawingml/2006/main">
            <a:off x="2247900" y="3195599"/>
            <a:ext cx="3762375"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6E4D2F80-91AB-442E-B4D5-19AFCECEAF1A}"/>
              </a:ext>
            </a:extLst>
          </p:cNvPr>
          <p:cNvSpPr>
            <a:spLocks xmlns:a="http://schemas.openxmlformats.org/drawingml/2006/main" noGrp="1"/>
          </p:cNvSpPr>
          <p:nvPr/>
        </p:nvSpPr>
        <p:spPr>
          <a:xfrm xmlns:a="http://schemas.openxmlformats.org/drawingml/2006/main">
            <a:off x="2362200" y="3309899"/>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Դասախոսի տվյալներ</a:t>
            </a:r>
          </a:p>
        </p:txBody>
      </p:sp>
      <p:sp>
        <p:nvSpPr>
          <p:cNvPr id="24" name="">
            <a:extLst xmlns:a="http://schemas.openxmlformats.org/drawingml/2006/main">
              <a:ext uri="{FF2B5EF4-FFF2-40B4-BE49-F238E27FC236}">
                <a16:creationId xmlns:a16="http://schemas.microsoft.com/office/drawing/2014/main" id="{CCA8E6CB-16AA-471F-9B5E-C46C78CE23A0}"/>
              </a:ext>
            </a:extLst>
          </p:cNvPr>
          <p:cNvSpPr>
            <a:spLocks xmlns:a="http://schemas.openxmlformats.org/drawingml/2006/main" noGrp="1"/>
          </p:cNvSpPr>
          <p:nvPr/>
        </p:nvSpPr>
        <p:spPr>
          <a:xfrm xmlns:a="http://schemas.openxmlformats.org/drawingml/2006/main">
            <a:off x="742950" y="3980002"/>
            <a:ext cx="5267325" cy="1742694"/>
          </a:xfrm>
          <a:prstGeom xmlns:a="http://schemas.openxmlformats.org/drawingml/2006/main" prst="roundRect">
            <a:avLst>
              <a:gd name="adj" fmla="val 9838"/>
            </a:avLst>
          </a:prstGeom>
          <a:solidFill xmlns:a="http://schemas.openxmlformats.org/drawingml/2006/main">
            <a:srgbClr val="F8FB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3008F8C2-0DC0-4C55-BF7B-839DEECDFE8B}"/>
              </a:ext>
            </a:extLst>
          </p:cNvPr>
          <p:cNvSpPr>
            <a:spLocks xmlns:a="http://schemas.openxmlformats.org/drawingml/2006/main" noGrp="1"/>
          </p:cNvSpPr>
          <p:nvPr/>
        </p:nvSpPr>
        <p:spPr>
          <a:xfrm xmlns:a="http://schemas.openxmlformats.org/drawingml/2006/main">
            <a:off x="933450" y="4170502"/>
            <a:ext cx="133350" cy="133350"/>
          </a:xfrm>
          <a:prstGeom xmlns:a="http://schemas.openxmlformats.org/drawingml/2006/main" prst="ellipse">
            <a:avLst/>
          </a:prstGeom>
          <a:solidFill xmlns:a="http://schemas.openxmlformats.org/drawingml/2006/main">
            <a:srgbClr val="0F4C81"/>
          </a:solidFill>
        </p:spPr>
      </p:sp>
      <p:sp>
        <p:nvSpPr>
          <p:cNvPr id="26" name="">
            <a:extLst xmlns:a="http://schemas.openxmlformats.org/drawingml/2006/main">
              <a:ext uri="{FF2B5EF4-FFF2-40B4-BE49-F238E27FC236}">
                <a16:creationId xmlns:a16="http://schemas.microsoft.com/office/drawing/2014/main" id="{8F4A6C50-1282-4BE4-A96B-B09CD649EB70}"/>
              </a:ext>
            </a:extLst>
          </p:cNvPr>
          <p:cNvSpPr>
            <a:spLocks xmlns:a="http://schemas.openxmlformats.org/drawingml/2006/main" noGrp="1"/>
          </p:cNvSpPr>
          <p:nvPr/>
        </p:nvSpPr>
        <p:spPr>
          <a:xfrm xmlns:a="http://schemas.openxmlformats.org/drawingml/2006/main">
            <a:off x="1162050" y="4170502"/>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Դասախոս աղյուսակի դերը</a:t>
            </a:r>
          </a:p>
        </p:txBody>
      </p:sp>
      <p:sp>
        <p:nvSpPr>
          <p:cNvPr id="27" name="">
            <a:extLst xmlns:a="http://schemas.openxmlformats.org/drawingml/2006/main">
              <a:ext uri="{FF2B5EF4-FFF2-40B4-BE49-F238E27FC236}">
                <a16:creationId xmlns:a16="http://schemas.microsoft.com/office/drawing/2014/main" id="{65FA2BCB-C5BB-45B4-A4F0-C418C983A373}"/>
              </a:ext>
            </a:extLst>
          </p:cNvPr>
          <p:cNvSpPr>
            <a:spLocks xmlns:a="http://schemas.openxmlformats.org/drawingml/2006/main" noGrp="1"/>
          </p:cNvSpPr>
          <p:nvPr/>
        </p:nvSpPr>
        <p:spPr>
          <a:xfrm xmlns:a="http://schemas.openxmlformats.org/drawingml/2006/main">
            <a:off x="933450" y="4531690"/>
            <a:ext cx="4886325"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Դասախոսը որպես մարդ դեռ չի նշանակում, որ արդեն ինչ-որ առարկա է վարում</a:t>
            </a:r>
          </a:p>
        </p:txBody>
      </p:sp>
      <p:sp>
        <p:nvSpPr>
          <p:cNvPr id="28" name="">
            <a:extLst xmlns:a="http://schemas.openxmlformats.org/drawingml/2006/main">
              <a:ext uri="{FF2B5EF4-FFF2-40B4-BE49-F238E27FC236}">
                <a16:creationId xmlns:a16="http://schemas.microsoft.com/office/drawing/2014/main" id="{5B8549F6-87C2-4917-A33D-0A59A3F40C61}"/>
              </a:ext>
            </a:extLst>
          </p:cNvPr>
          <p:cNvSpPr>
            <a:spLocks xmlns:a="http://schemas.openxmlformats.org/drawingml/2006/main" noGrp="1"/>
          </p:cNvSpPr>
          <p:nvPr/>
        </p:nvSpPr>
        <p:spPr>
          <a:xfrm xmlns:a="http://schemas.openxmlformats.org/drawingml/2006/main">
            <a:off x="933450" y="5079568"/>
            <a:ext cx="4886325"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Նրա իրական դասավանդման մասնակցությունը հետո է երևում assignment աղյուսակում</a:t>
            </a:r>
          </a:p>
        </p:txBody>
      </p:sp>
      <p:sp>
        <p:nvSpPr>
          <p:cNvPr id="29" name="">
            <a:extLst xmlns:a="http://schemas.openxmlformats.org/drawingml/2006/main">
              <a:ext uri="{FF2B5EF4-FFF2-40B4-BE49-F238E27FC236}">
                <a16:creationId xmlns:a16="http://schemas.microsoft.com/office/drawing/2014/main" id="{5B99B8A9-276E-4931-94DE-3D81EA604C65}"/>
              </a:ext>
            </a:extLst>
          </p:cNvPr>
          <p:cNvSpPr>
            <a:spLocks xmlns:a="http://schemas.openxmlformats.org/drawingml/2006/main" noGrp="1"/>
          </p:cNvSpPr>
          <p:nvPr/>
        </p:nvSpPr>
        <p:spPr>
          <a:xfrm xmlns:a="http://schemas.openxmlformats.org/drawingml/2006/main">
            <a:off x="6181725" y="2077593"/>
            <a:ext cx="1428750" cy="525780"/>
          </a:xfrm>
          <a:prstGeom xmlns:a="http://schemas.openxmlformats.org/drawingml/2006/main" prst="roundRect">
            <a:avLst>
              <a:gd name="adj" fmla="val 21739"/>
            </a:avLst>
          </a:prstGeom>
          <a:solidFill xmlns:a="http://schemas.openxmlformats.org/drawingml/2006/main">
            <a:srgbClr val="E9F3FF"/>
          </a:solidFill>
        </p:spPr>
      </p:sp>
      <p:sp>
        <p:nvSpPr>
          <p:cNvPr id="30" name="">
            <a:extLst xmlns:a="http://schemas.openxmlformats.org/drawingml/2006/main">
              <a:ext uri="{FF2B5EF4-FFF2-40B4-BE49-F238E27FC236}">
                <a16:creationId xmlns:a16="http://schemas.microsoft.com/office/drawing/2014/main" id="{1268B018-502A-4F82-8D6E-7CFD3ABE213C}"/>
              </a:ext>
            </a:extLst>
          </p:cNvPr>
          <p:cNvSpPr>
            <a:spLocks xmlns:a="http://schemas.openxmlformats.org/drawingml/2006/main" noGrp="1"/>
          </p:cNvSpPr>
          <p:nvPr/>
        </p:nvSpPr>
        <p:spPr>
          <a:xfrm xmlns:a="http://schemas.openxmlformats.org/drawingml/2006/main">
            <a:off x="6296025" y="2191893"/>
            <a:ext cx="577977"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`students`</a:t>
            </a:r>
          </a:p>
        </p:txBody>
      </p:sp>
      <p:sp>
        <p:nvSpPr>
          <p:cNvPr id="31" name="">
            <a:extLst xmlns:a="http://schemas.openxmlformats.org/drawingml/2006/main">
              <a:ext uri="{FF2B5EF4-FFF2-40B4-BE49-F238E27FC236}">
                <a16:creationId xmlns:a16="http://schemas.microsoft.com/office/drawing/2014/main" id="{FFC47C9F-ABDB-4AD8-8109-E5BF1150231B}"/>
              </a:ext>
            </a:extLst>
          </p:cNvPr>
          <p:cNvSpPr>
            <a:spLocks xmlns:a="http://schemas.openxmlformats.org/drawingml/2006/main" noGrp="1"/>
          </p:cNvSpPr>
          <p:nvPr/>
        </p:nvSpPr>
        <p:spPr>
          <a:xfrm xmlns:a="http://schemas.openxmlformats.org/drawingml/2006/main">
            <a:off x="7686675" y="2077593"/>
            <a:ext cx="3762375" cy="525780"/>
          </a:xfrm>
          <a:prstGeom xmlns:a="http://schemas.openxmlformats.org/drawingml/2006/main" prst="roundRect">
            <a:avLst>
              <a:gd name="adj" fmla="val 21739"/>
            </a:avLst>
          </a:prstGeom>
          <a:solidFill xmlns:a="http://schemas.openxmlformats.org/drawingml/2006/main">
            <a:srgbClr val="E9F3FF"/>
          </a:solidFill>
        </p:spPr>
      </p:sp>
      <p:sp>
        <p:nvSpPr>
          <p:cNvPr id="32" name="">
            <a:extLst xmlns:a="http://schemas.openxmlformats.org/drawingml/2006/main">
              <a:ext uri="{FF2B5EF4-FFF2-40B4-BE49-F238E27FC236}">
                <a16:creationId xmlns:a16="http://schemas.microsoft.com/office/drawing/2014/main" id="{02E00C32-5255-4EB1-A15B-4A10EDF0A922}"/>
              </a:ext>
            </a:extLst>
          </p:cNvPr>
          <p:cNvSpPr>
            <a:spLocks xmlns:a="http://schemas.openxmlformats.org/drawingml/2006/main" noGrp="1"/>
          </p:cNvSpPr>
          <p:nvPr/>
        </p:nvSpPr>
        <p:spPr>
          <a:xfrm xmlns:a="http://schemas.openxmlformats.org/drawingml/2006/main">
            <a:off x="7800975" y="2191893"/>
            <a:ext cx="46462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Իմաստ</a:t>
            </a:r>
          </a:p>
        </p:txBody>
      </p:sp>
      <p:sp>
        <p:nvSpPr>
          <p:cNvPr id="33" name="">
            <a:extLst xmlns:a="http://schemas.openxmlformats.org/drawingml/2006/main">
              <a:ext uri="{FF2B5EF4-FFF2-40B4-BE49-F238E27FC236}">
                <a16:creationId xmlns:a16="http://schemas.microsoft.com/office/drawing/2014/main" id="{507B7A46-03DF-471D-8BC0-1EADA5910DC5}"/>
              </a:ext>
            </a:extLst>
          </p:cNvPr>
          <p:cNvSpPr>
            <a:spLocks xmlns:a="http://schemas.openxmlformats.org/drawingml/2006/main" noGrp="1"/>
          </p:cNvSpPr>
          <p:nvPr/>
        </p:nvSpPr>
        <p:spPr>
          <a:xfrm xmlns:a="http://schemas.openxmlformats.org/drawingml/2006/main">
            <a:off x="6181725" y="2679573"/>
            <a:ext cx="1428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34" name="">
            <a:extLst xmlns:a="http://schemas.openxmlformats.org/drawingml/2006/main">
              <a:ext uri="{FF2B5EF4-FFF2-40B4-BE49-F238E27FC236}">
                <a16:creationId xmlns:a16="http://schemas.microsoft.com/office/drawing/2014/main" id="{9AA1981F-1DE2-4950-98F2-3FD0E734F253}"/>
              </a:ext>
            </a:extLst>
          </p:cNvPr>
          <p:cNvSpPr>
            <a:spLocks xmlns:a="http://schemas.openxmlformats.org/drawingml/2006/main" noGrp="1"/>
          </p:cNvSpPr>
          <p:nvPr/>
        </p:nvSpPr>
        <p:spPr>
          <a:xfrm xmlns:a="http://schemas.openxmlformats.org/drawingml/2006/main">
            <a:off x="6296025" y="2793873"/>
            <a:ext cx="1200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user_account_id</a:t>
            </a:r>
          </a:p>
        </p:txBody>
      </p:sp>
      <p:sp>
        <p:nvSpPr>
          <p:cNvPr id="35" name="">
            <a:extLst xmlns:a="http://schemas.openxmlformats.org/drawingml/2006/main">
              <a:ext uri="{FF2B5EF4-FFF2-40B4-BE49-F238E27FC236}">
                <a16:creationId xmlns:a16="http://schemas.microsoft.com/office/drawing/2014/main" id="{2AEA0801-ADE1-40B4-BA75-541CA7B5F54A}"/>
              </a:ext>
            </a:extLst>
          </p:cNvPr>
          <p:cNvSpPr>
            <a:spLocks xmlns:a="http://schemas.openxmlformats.org/drawingml/2006/main" noGrp="1"/>
          </p:cNvSpPr>
          <p:nvPr/>
        </p:nvSpPr>
        <p:spPr>
          <a:xfrm xmlns:a="http://schemas.openxmlformats.org/drawingml/2006/main">
            <a:off x="7686675" y="2679573"/>
            <a:ext cx="37623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36" name="">
            <a:extLst xmlns:a="http://schemas.openxmlformats.org/drawingml/2006/main">
              <a:ext uri="{FF2B5EF4-FFF2-40B4-BE49-F238E27FC236}">
                <a16:creationId xmlns:a16="http://schemas.microsoft.com/office/drawing/2014/main" id="{298C0737-F673-4A85-A697-E5B8000E8F85}"/>
              </a:ext>
            </a:extLst>
          </p:cNvPr>
          <p:cNvSpPr>
            <a:spLocks xmlns:a="http://schemas.openxmlformats.org/drawingml/2006/main" noGrp="1"/>
          </p:cNvSpPr>
          <p:nvPr/>
        </p:nvSpPr>
        <p:spPr>
          <a:xfrm xmlns:a="http://schemas.openxmlformats.org/drawingml/2006/main">
            <a:off x="7800975" y="2793873"/>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Ուսանողական հաշվի կապ</a:t>
            </a:r>
          </a:p>
        </p:txBody>
      </p:sp>
      <p:sp>
        <p:nvSpPr>
          <p:cNvPr id="37" name="">
            <a:extLst xmlns:a="http://schemas.openxmlformats.org/drawingml/2006/main">
              <a:ext uri="{FF2B5EF4-FFF2-40B4-BE49-F238E27FC236}">
                <a16:creationId xmlns:a16="http://schemas.microsoft.com/office/drawing/2014/main" id="{E64400D5-C9C1-41B6-BF17-88BDFD7C9A3F}"/>
              </a:ext>
            </a:extLst>
          </p:cNvPr>
          <p:cNvSpPr>
            <a:spLocks xmlns:a="http://schemas.openxmlformats.org/drawingml/2006/main" noGrp="1"/>
          </p:cNvSpPr>
          <p:nvPr/>
        </p:nvSpPr>
        <p:spPr>
          <a:xfrm xmlns:a="http://schemas.openxmlformats.org/drawingml/2006/main">
            <a:off x="6181725" y="3195599"/>
            <a:ext cx="142875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38" name="">
            <a:extLst xmlns:a="http://schemas.openxmlformats.org/drawingml/2006/main">
              <a:ext uri="{FF2B5EF4-FFF2-40B4-BE49-F238E27FC236}">
                <a16:creationId xmlns:a16="http://schemas.microsoft.com/office/drawing/2014/main" id="{8D3C142A-0AE9-41CA-9A3D-3B587C307BA9}"/>
              </a:ext>
            </a:extLst>
          </p:cNvPr>
          <p:cNvSpPr>
            <a:spLocks xmlns:a="http://schemas.openxmlformats.org/drawingml/2006/main" noGrp="1"/>
          </p:cNvSpPr>
          <p:nvPr/>
        </p:nvSpPr>
        <p:spPr>
          <a:xfrm xmlns:a="http://schemas.openxmlformats.org/drawingml/2006/main">
            <a:off x="6296025" y="3309899"/>
            <a:ext cx="120015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first_name / last_name</a:t>
            </a:r>
          </a:p>
        </p:txBody>
      </p:sp>
      <p:sp>
        <p:nvSpPr>
          <p:cNvPr id="39" name="">
            <a:extLst xmlns:a="http://schemas.openxmlformats.org/drawingml/2006/main">
              <a:ext uri="{FF2B5EF4-FFF2-40B4-BE49-F238E27FC236}">
                <a16:creationId xmlns:a16="http://schemas.microsoft.com/office/drawing/2014/main" id="{E41E2612-C7E3-49D4-8467-59A2F05D83A4}"/>
              </a:ext>
            </a:extLst>
          </p:cNvPr>
          <p:cNvSpPr>
            <a:spLocks xmlns:a="http://schemas.openxmlformats.org/drawingml/2006/main" noGrp="1"/>
          </p:cNvSpPr>
          <p:nvPr/>
        </p:nvSpPr>
        <p:spPr>
          <a:xfrm xmlns:a="http://schemas.openxmlformats.org/drawingml/2006/main">
            <a:off x="7686675" y="3195599"/>
            <a:ext cx="3762375"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40" name="">
            <a:extLst xmlns:a="http://schemas.openxmlformats.org/drawingml/2006/main">
              <a:ext uri="{FF2B5EF4-FFF2-40B4-BE49-F238E27FC236}">
                <a16:creationId xmlns:a16="http://schemas.microsoft.com/office/drawing/2014/main" id="{B56457E9-9047-4C36-A2D0-4C4840ED170E}"/>
              </a:ext>
            </a:extLst>
          </p:cNvPr>
          <p:cNvSpPr>
            <a:spLocks xmlns:a="http://schemas.openxmlformats.org/drawingml/2006/main" noGrp="1"/>
          </p:cNvSpPr>
          <p:nvPr/>
        </p:nvSpPr>
        <p:spPr>
          <a:xfrm xmlns:a="http://schemas.openxmlformats.org/drawingml/2006/main">
            <a:off x="7800975" y="3309899"/>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Ուսանողի տվյալներ</a:t>
            </a:r>
          </a:p>
        </p:txBody>
      </p:sp>
      <p:sp>
        <p:nvSpPr>
          <p:cNvPr id="41" name="">
            <a:extLst xmlns:a="http://schemas.openxmlformats.org/drawingml/2006/main">
              <a:ext uri="{FF2B5EF4-FFF2-40B4-BE49-F238E27FC236}">
                <a16:creationId xmlns:a16="http://schemas.microsoft.com/office/drawing/2014/main" id="{8732B757-4B06-4FAA-92EC-B987F0F85085}"/>
              </a:ext>
            </a:extLst>
          </p:cNvPr>
          <p:cNvSpPr>
            <a:spLocks xmlns:a="http://schemas.openxmlformats.org/drawingml/2006/main" noGrp="1"/>
          </p:cNvSpPr>
          <p:nvPr/>
        </p:nvSpPr>
        <p:spPr>
          <a:xfrm xmlns:a="http://schemas.openxmlformats.org/drawingml/2006/main">
            <a:off x="6181725" y="3980002"/>
            <a:ext cx="5267325" cy="1516380"/>
          </a:xfrm>
          <a:prstGeom xmlns:a="http://schemas.openxmlformats.org/drawingml/2006/main" prst="roundRect">
            <a:avLst>
              <a:gd name="adj" fmla="val 11307"/>
            </a:avLst>
          </a:prstGeom>
          <a:solidFill xmlns:a="http://schemas.openxmlformats.org/drawingml/2006/main">
            <a:srgbClr val="FFFFFF"/>
          </a:solidFill>
          <a:ln xmlns:a="http://schemas.openxmlformats.org/drawingml/2006/main" w="9525">
            <a:solidFill>
              <a:srgbClr val="DCE7F4"/>
            </a:solidFill>
            <a:prstDash val="solid"/>
          </a:ln>
        </p:spPr>
      </p:sp>
      <p:sp>
        <p:nvSpPr>
          <p:cNvPr id="42" name="">
            <a:extLst xmlns:a="http://schemas.openxmlformats.org/drawingml/2006/main">
              <a:ext uri="{FF2B5EF4-FFF2-40B4-BE49-F238E27FC236}">
                <a16:creationId xmlns:a16="http://schemas.microsoft.com/office/drawing/2014/main" id="{4A341338-EBEC-4885-9C24-EF880AC2D589}"/>
              </a:ext>
            </a:extLst>
          </p:cNvPr>
          <p:cNvSpPr>
            <a:spLocks xmlns:a="http://schemas.openxmlformats.org/drawingml/2006/main" noGrp="1"/>
          </p:cNvSpPr>
          <p:nvPr/>
        </p:nvSpPr>
        <p:spPr>
          <a:xfrm xmlns:a="http://schemas.openxmlformats.org/drawingml/2006/main">
            <a:off x="6372225" y="4170502"/>
            <a:ext cx="133350" cy="133350"/>
          </a:xfrm>
          <a:prstGeom xmlns:a="http://schemas.openxmlformats.org/drawingml/2006/main" prst="ellipse">
            <a:avLst/>
          </a:prstGeom>
          <a:solidFill xmlns:a="http://schemas.openxmlformats.org/drawingml/2006/main">
            <a:srgbClr val="2F8F69"/>
          </a:solidFill>
        </p:spPr>
      </p:sp>
      <p:sp>
        <p:nvSpPr>
          <p:cNvPr id="43" name="">
            <a:extLst xmlns:a="http://schemas.openxmlformats.org/drawingml/2006/main">
              <a:ext uri="{FF2B5EF4-FFF2-40B4-BE49-F238E27FC236}">
                <a16:creationId xmlns:a16="http://schemas.microsoft.com/office/drawing/2014/main" id="{6AAD296D-7C96-4414-926A-6784949EF9F5}"/>
              </a:ext>
            </a:extLst>
          </p:cNvPr>
          <p:cNvSpPr>
            <a:spLocks xmlns:a="http://schemas.openxmlformats.org/drawingml/2006/main" noGrp="1"/>
          </p:cNvSpPr>
          <p:nvPr/>
        </p:nvSpPr>
        <p:spPr>
          <a:xfrm xmlns:a="http://schemas.openxmlformats.org/drawingml/2006/main">
            <a:off x="6600825" y="4170502"/>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Ուսանող աղյուսակի դերը</a:t>
            </a:r>
          </a:p>
        </p:txBody>
      </p:sp>
      <p:sp>
        <p:nvSpPr>
          <p:cNvPr id="44" name="">
            <a:extLst xmlns:a="http://schemas.openxmlformats.org/drawingml/2006/main">
              <a:ext uri="{FF2B5EF4-FFF2-40B4-BE49-F238E27FC236}">
                <a16:creationId xmlns:a16="http://schemas.microsoft.com/office/drawing/2014/main" id="{69D6373B-0968-49DB-9E1C-5C744EDA4DA6}"/>
              </a:ext>
            </a:extLst>
          </p:cNvPr>
          <p:cNvSpPr>
            <a:spLocks xmlns:a="http://schemas.openxmlformats.org/drawingml/2006/main" noGrp="1"/>
          </p:cNvSpPr>
          <p:nvPr/>
        </p:nvSpPr>
        <p:spPr>
          <a:xfrm xmlns:a="http://schemas.openxmlformats.org/drawingml/2006/main">
            <a:off x="6372225" y="4531690"/>
            <a:ext cx="4886325"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Ուսանող լինելը դեռ չի ասում, թե որ առարկայի որ ենթախմբում է սովորում</a:t>
            </a:r>
          </a:p>
        </p:txBody>
      </p:sp>
      <p:sp>
        <p:nvSpPr>
          <p:cNvPr id="45" name="">
            <a:extLst xmlns:a="http://schemas.openxmlformats.org/drawingml/2006/main">
              <a:ext uri="{FF2B5EF4-FFF2-40B4-BE49-F238E27FC236}">
                <a16:creationId xmlns:a16="http://schemas.microsoft.com/office/drawing/2014/main" id="{A58697FD-F1A7-41A1-9C73-CB1CA5A3183C}"/>
              </a:ext>
            </a:extLst>
          </p:cNvPr>
          <p:cNvSpPr>
            <a:spLocks xmlns:a="http://schemas.openxmlformats.org/drawingml/2006/main" noGrp="1"/>
          </p:cNvSpPr>
          <p:nvPr/>
        </p:nvSpPr>
        <p:spPr>
          <a:xfrm xmlns:a="http://schemas.openxmlformats.org/drawingml/2006/main">
            <a:off x="6372225" y="5079568"/>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Այդ բիզնես փաստը հետո պահվում է enrollment աղյուսակում</a:t>
            </a:r>
          </a:p>
        </p:txBody>
      </p:sp>
      <p:sp>
        <p:nvSpPr>
          <p:cNvPr id="46" name="">
            <a:extLst xmlns:a="http://schemas.openxmlformats.org/drawingml/2006/main">
              <a:ext uri="{FF2B5EF4-FFF2-40B4-BE49-F238E27FC236}">
                <a16:creationId xmlns:a16="http://schemas.microsoft.com/office/drawing/2014/main" id="{86BA9780-83B7-4D13-906C-7F204B276D0F}"/>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7" name="">
            <a:extLst xmlns:a="http://schemas.openxmlformats.org/drawingml/2006/main">
              <a:ext uri="{FF2B5EF4-FFF2-40B4-BE49-F238E27FC236}">
                <a16:creationId xmlns:a16="http://schemas.microsoft.com/office/drawing/2014/main" id="{F156CDCF-6B42-43CE-873D-03F94E1585ED}"/>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05</a:t>
            </a:r>
          </a:p>
        </p:txBody>
      </p:sp>
    </p:spTree>
    <p:extLst>
      <p:ext uri="{BB962C8B-B14F-4D97-AF65-F5344CB8AC3E}">
        <p14:creationId xmlns:p14="http://schemas.microsoft.com/office/powerpoint/2010/main" val="18684903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09599E-89F9-4C8C-AF57-520E0DB166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E44B3E1A-83C7-4289-B547-41770810196C}"/>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53C62271-5B60-4804-A418-73B4F60E0804}"/>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EDD68F01-4480-4C92-9CB0-82415F059F2D}"/>
              </a:ext>
            </a:extLst>
          </p:cNvPr>
          <p:cNvSpPr>
            <a:spLocks xmlns:a="http://schemas.openxmlformats.org/drawingml/2006/main" noGrp="1"/>
          </p:cNvSpPr>
          <p:nvPr/>
        </p:nvSpPr>
        <p:spPr>
          <a:xfrm xmlns:a="http://schemas.openxmlformats.org/drawingml/2006/main">
            <a:off x="742950" y="876300"/>
            <a:ext cx="1428750" cy="390906"/>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808BF10F-879E-4C63-A8AB-CFE9064851FF}"/>
              </a:ext>
            </a:extLst>
          </p:cNvPr>
          <p:cNvSpPr>
            <a:spLocks xmlns:a="http://schemas.openxmlformats.org/drawingml/2006/main" noGrp="1"/>
          </p:cNvSpPr>
          <p:nvPr/>
        </p:nvSpPr>
        <p:spPr>
          <a:xfrm xmlns:a="http://schemas.openxmlformats.org/drawingml/2006/main">
            <a:off x="819150" y="952500"/>
            <a:ext cx="737902"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Կառուցվածք</a:t>
            </a:r>
          </a:p>
        </p:txBody>
      </p:sp>
      <p:sp>
        <p:nvSpPr>
          <p:cNvPr id="6" name="">
            <a:extLst xmlns:a="http://schemas.openxmlformats.org/drawingml/2006/main">
              <a:ext uri="{FF2B5EF4-FFF2-40B4-BE49-F238E27FC236}">
                <a16:creationId xmlns:a16="http://schemas.microsoft.com/office/drawing/2014/main" id="{0D83ECA3-7031-4BD9-934E-4C1A221B7DB7}"/>
              </a:ext>
            </a:extLst>
          </p:cNvPr>
          <p:cNvSpPr>
            <a:spLocks xmlns:a="http://schemas.openxmlformats.org/drawingml/2006/main" noGrp="1"/>
          </p:cNvSpPr>
          <p:nvPr/>
        </p:nvSpPr>
        <p:spPr>
          <a:xfrm xmlns:a="http://schemas.openxmlformats.org/drawingml/2006/main">
            <a:off x="2286000" y="876300"/>
            <a:ext cx="7524750" cy="3909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`academic_units` և `specializations`</a:t>
            </a:r>
          </a:p>
        </p:txBody>
      </p:sp>
      <p:sp>
        <p:nvSpPr>
          <p:cNvPr id="7" name="">
            <a:extLst xmlns:a="http://schemas.openxmlformats.org/drawingml/2006/main">
              <a:ext uri="{FF2B5EF4-FFF2-40B4-BE49-F238E27FC236}">
                <a16:creationId xmlns:a16="http://schemas.microsoft.com/office/drawing/2014/main" id="{2FA9DCBF-FF00-4A76-AC1D-6C77632EA74D}"/>
              </a:ext>
            </a:extLst>
          </p:cNvPr>
          <p:cNvSpPr>
            <a:spLocks xmlns:a="http://schemas.openxmlformats.org/drawingml/2006/main" noGrp="1"/>
          </p:cNvSpPr>
          <p:nvPr/>
        </p:nvSpPr>
        <p:spPr>
          <a:xfrm xmlns:a="http://schemas.openxmlformats.org/drawingml/2006/main">
            <a:off x="742950" y="1343406"/>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 հատվածը նկարագրում է համալսարանի վերին կազմակերպական շերտը</a:t>
            </a:r>
          </a:p>
        </p:txBody>
      </p:sp>
      <p:sp>
        <p:nvSpPr>
          <p:cNvPr id="8" name="">
            <a:extLst xmlns:a="http://schemas.openxmlformats.org/drawingml/2006/main">
              <a:ext uri="{FF2B5EF4-FFF2-40B4-BE49-F238E27FC236}">
                <a16:creationId xmlns:a16="http://schemas.microsoft.com/office/drawing/2014/main" id="{CE5301F8-624D-4D8B-9E9C-1A286955E218}"/>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B6C11B37-CF9F-4E50-8F5B-55B6CAB3D78B}"/>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06</a:t>
            </a:r>
          </a:p>
        </p:txBody>
      </p:sp>
      <p:sp>
        <p:nvSpPr>
          <p:cNvPr id="10" name="">
            <a:extLst xmlns:a="http://schemas.openxmlformats.org/drawingml/2006/main">
              <a:ext uri="{FF2B5EF4-FFF2-40B4-BE49-F238E27FC236}">
                <a16:creationId xmlns:a16="http://schemas.microsoft.com/office/drawing/2014/main" id="{D1BA37E2-4D03-4F43-B1F5-EC4F3734FC0B}"/>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EE1ADF9F-BB41-44F9-B87C-6348A68B158C}"/>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C7AA3790-3DFE-4D03-9742-E1ABFEA79363}"/>
              </a:ext>
            </a:extLst>
          </p:cNvPr>
          <p:cNvSpPr>
            <a:spLocks xmlns:a="http://schemas.openxmlformats.org/drawingml/2006/main" noGrp="1"/>
          </p:cNvSpPr>
          <p:nvPr/>
        </p:nvSpPr>
        <p:spPr>
          <a:xfrm xmlns:a="http://schemas.openxmlformats.org/drawingml/2006/main">
            <a:off x="742950" y="2064639"/>
            <a:ext cx="1428750" cy="525780"/>
          </a:xfrm>
          <a:prstGeom xmlns:a="http://schemas.openxmlformats.org/drawingml/2006/main" prst="roundRect">
            <a:avLst>
              <a:gd name="adj" fmla="val 21739"/>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9E67FB69-8A1E-4135-B0F3-42F50684E908}"/>
              </a:ext>
            </a:extLst>
          </p:cNvPr>
          <p:cNvSpPr>
            <a:spLocks xmlns:a="http://schemas.openxmlformats.org/drawingml/2006/main" noGrp="1"/>
          </p:cNvSpPr>
          <p:nvPr/>
        </p:nvSpPr>
        <p:spPr>
          <a:xfrm xmlns:a="http://schemas.openxmlformats.org/drawingml/2006/main">
            <a:off x="857250" y="2178939"/>
            <a:ext cx="990029"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`academic_units`</a:t>
            </a:r>
          </a:p>
        </p:txBody>
      </p:sp>
      <p:sp>
        <p:nvSpPr>
          <p:cNvPr id="14" name="">
            <a:extLst xmlns:a="http://schemas.openxmlformats.org/drawingml/2006/main">
              <a:ext uri="{FF2B5EF4-FFF2-40B4-BE49-F238E27FC236}">
                <a16:creationId xmlns:a16="http://schemas.microsoft.com/office/drawing/2014/main" id="{538BF68D-9C14-4542-A75E-4259E009B057}"/>
              </a:ext>
            </a:extLst>
          </p:cNvPr>
          <p:cNvSpPr>
            <a:spLocks xmlns:a="http://schemas.openxmlformats.org/drawingml/2006/main" noGrp="1"/>
          </p:cNvSpPr>
          <p:nvPr/>
        </p:nvSpPr>
        <p:spPr>
          <a:xfrm xmlns:a="http://schemas.openxmlformats.org/drawingml/2006/main">
            <a:off x="2247900" y="2064639"/>
            <a:ext cx="3762375" cy="525780"/>
          </a:xfrm>
          <a:prstGeom xmlns:a="http://schemas.openxmlformats.org/drawingml/2006/main" prst="roundRect">
            <a:avLst>
              <a:gd name="adj" fmla="val 21739"/>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D5D5714E-138F-4EEB-83A8-72EA0679DE03}"/>
              </a:ext>
            </a:extLst>
          </p:cNvPr>
          <p:cNvSpPr>
            <a:spLocks xmlns:a="http://schemas.openxmlformats.org/drawingml/2006/main" noGrp="1"/>
          </p:cNvSpPr>
          <p:nvPr/>
        </p:nvSpPr>
        <p:spPr>
          <a:xfrm xmlns:a="http://schemas.openxmlformats.org/drawingml/2006/main">
            <a:off x="2362200" y="2178939"/>
            <a:ext cx="46462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Իմաստ</a:t>
            </a:r>
          </a:p>
        </p:txBody>
      </p:sp>
      <p:sp>
        <p:nvSpPr>
          <p:cNvPr id="16" name="">
            <a:extLst xmlns:a="http://schemas.openxmlformats.org/drawingml/2006/main">
              <a:ext uri="{FF2B5EF4-FFF2-40B4-BE49-F238E27FC236}">
                <a16:creationId xmlns:a16="http://schemas.microsoft.com/office/drawing/2014/main" id="{96221DD0-69BE-4EF5-BB3C-32B7476CF6BB}"/>
              </a:ext>
            </a:extLst>
          </p:cNvPr>
          <p:cNvSpPr>
            <a:spLocks xmlns:a="http://schemas.openxmlformats.org/drawingml/2006/main" noGrp="1"/>
          </p:cNvSpPr>
          <p:nvPr/>
        </p:nvSpPr>
        <p:spPr>
          <a:xfrm xmlns:a="http://schemas.openxmlformats.org/drawingml/2006/main">
            <a:off x="742950" y="2666619"/>
            <a:ext cx="1428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1F22CD9E-B457-4BF4-AF1D-D4452CCAB155}"/>
              </a:ext>
            </a:extLst>
          </p:cNvPr>
          <p:cNvSpPr>
            <a:spLocks xmlns:a="http://schemas.openxmlformats.org/drawingml/2006/main" noGrp="1"/>
          </p:cNvSpPr>
          <p:nvPr/>
        </p:nvSpPr>
        <p:spPr>
          <a:xfrm xmlns:a="http://schemas.openxmlformats.org/drawingml/2006/main">
            <a:off x="857250" y="2780919"/>
            <a:ext cx="1200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code</a:t>
            </a:r>
          </a:p>
        </p:txBody>
      </p:sp>
      <p:sp>
        <p:nvSpPr>
          <p:cNvPr id="18" name="">
            <a:extLst xmlns:a="http://schemas.openxmlformats.org/drawingml/2006/main">
              <a:ext uri="{FF2B5EF4-FFF2-40B4-BE49-F238E27FC236}">
                <a16:creationId xmlns:a16="http://schemas.microsoft.com/office/drawing/2014/main" id="{C4B989FB-0848-43B8-9633-79CA1056EDCF}"/>
              </a:ext>
            </a:extLst>
          </p:cNvPr>
          <p:cNvSpPr>
            <a:spLocks xmlns:a="http://schemas.openxmlformats.org/drawingml/2006/main" noGrp="1"/>
          </p:cNvSpPr>
          <p:nvPr/>
        </p:nvSpPr>
        <p:spPr>
          <a:xfrm xmlns:a="http://schemas.openxmlformats.org/drawingml/2006/main">
            <a:off x="2247900" y="2666619"/>
            <a:ext cx="37623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BE951966-A8B0-477B-86E7-FA5A30C0DB95}"/>
              </a:ext>
            </a:extLst>
          </p:cNvPr>
          <p:cNvSpPr>
            <a:spLocks xmlns:a="http://schemas.openxmlformats.org/drawingml/2006/main" noGrp="1"/>
          </p:cNvSpPr>
          <p:nvPr/>
        </p:nvSpPr>
        <p:spPr>
          <a:xfrm xmlns:a="http://schemas.openxmlformats.org/drawingml/2006/main">
            <a:off x="2362200" y="2780919"/>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Կարճ կոդ</a:t>
            </a:r>
          </a:p>
        </p:txBody>
      </p:sp>
      <p:sp>
        <p:nvSpPr>
          <p:cNvPr id="20" name="">
            <a:extLst xmlns:a="http://schemas.openxmlformats.org/drawingml/2006/main">
              <a:ext uri="{FF2B5EF4-FFF2-40B4-BE49-F238E27FC236}">
                <a16:creationId xmlns:a16="http://schemas.microsoft.com/office/drawing/2014/main" id="{239F18FA-BF79-4A4B-9EEE-E07E3FB9CBDC}"/>
              </a:ext>
            </a:extLst>
          </p:cNvPr>
          <p:cNvSpPr>
            <a:spLocks xmlns:a="http://schemas.openxmlformats.org/drawingml/2006/main" noGrp="1"/>
          </p:cNvSpPr>
          <p:nvPr/>
        </p:nvSpPr>
        <p:spPr>
          <a:xfrm xmlns:a="http://schemas.openxmlformats.org/drawingml/2006/main">
            <a:off x="742950" y="3182645"/>
            <a:ext cx="1428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9ADA1AF8-C9E4-49E0-A299-3C7642E6BE89}"/>
              </a:ext>
            </a:extLst>
          </p:cNvPr>
          <p:cNvSpPr>
            <a:spLocks xmlns:a="http://schemas.openxmlformats.org/drawingml/2006/main" noGrp="1"/>
          </p:cNvSpPr>
          <p:nvPr/>
        </p:nvSpPr>
        <p:spPr>
          <a:xfrm xmlns:a="http://schemas.openxmlformats.org/drawingml/2006/main">
            <a:off x="857250" y="3296945"/>
            <a:ext cx="1200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name</a:t>
            </a:r>
          </a:p>
        </p:txBody>
      </p:sp>
      <p:sp>
        <p:nvSpPr>
          <p:cNvPr id="22" name="">
            <a:extLst xmlns:a="http://schemas.openxmlformats.org/drawingml/2006/main">
              <a:ext uri="{FF2B5EF4-FFF2-40B4-BE49-F238E27FC236}">
                <a16:creationId xmlns:a16="http://schemas.microsoft.com/office/drawing/2014/main" id="{E13D7206-2CDC-4C32-934C-BAA5FC217FFE}"/>
              </a:ext>
            </a:extLst>
          </p:cNvPr>
          <p:cNvSpPr>
            <a:spLocks xmlns:a="http://schemas.openxmlformats.org/drawingml/2006/main" noGrp="1"/>
          </p:cNvSpPr>
          <p:nvPr/>
        </p:nvSpPr>
        <p:spPr>
          <a:xfrm xmlns:a="http://schemas.openxmlformats.org/drawingml/2006/main">
            <a:off x="2247900" y="3182645"/>
            <a:ext cx="37623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F9B84CCC-6562-4E34-8DE8-B318B4A0C28A}"/>
              </a:ext>
            </a:extLst>
          </p:cNvPr>
          <p:cNvSpPr>
            <a:spLocks xmlns:a="http://schemas.openxmlformats.org/drawingml/2006/main" noGrp="1"/>
          </p:cNvSpPr>
          <p:nvPr/>
        </p:nvSpPr>
        <p:spPr>
          <a:xfrm xmlns:a="http://schemas.openxmlformats.org/drawingml/2006/main">
            <a:off x="2362200" y="3296945"/>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Միավորի անվանում</a:t>
            </a:r>
          </a:p>
        </p:txBody>
      </p:sp>
      <p:sp>
        <p:nvSpPr>
          <p:cNvPr id="24" name="">
            <a:extLst xmlns:a="http://schemas.openxmlformats.org/drawingml/2006/main">
              <a:ext uri="{FF2B5EF4-FFF2-40B4-BE49-F238E27FC236}">
                <a16:creationId xmlns:a16="http://schemas.microsoft.com/office/drawing/2014/main" id="{96419E61-2F57-4FA5-B2C2-3B5EE278DDF8}"/>
              </a:ext>
            </a:extLst>
          </p:cNvPr>
          <p:cNvSpPr>
            <a:spLocks xmlns:a="http://schemas.openxmlformats.org/drawingml/2006/main" noGrp="1"/>
          </p:cNvSpPr>
          <p:nvPr/>
        </p:nvSpPr>
        <p:spPr>
          <a:xfrm xmlns:a="http://schemas.openxmlformats.org/drawingml/2006/main">
            <a:off x="742950" y="3698672"/>
            <a:ext cx="1428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DCE850F5-6701-4DD4-9C08-D03FF9E2C5B5}"/>
              </a:ext>
            </a:extLst>
          </p:cNvPr>
          <p:cNvSpPr>
            <a:spLocks xmlns:a="http://schemas.openxmlformats.org/drawingml/2006/main" noGrp="1"/>
          </p:cNvSpPr>
          <p:nvPr/>
        </p:nvSpPr>
        <p:spPr>
          <a:xfrm xmlns:a="http://schemas.openxmlformats.org/drawingml/2006/main">
            <a:off x="857250" y="3812972"/>
            <a:ext cx="1200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unit_type</a:t>
            </a:r>
          </a:p>
        </p:txBody>
      </p:sp>
      <p:sp>
        <p:nvSpPr>
          <p:cNvPr id="26" name="">
            <a:extLst xmlns:a="http://schemas.openxmlformats.org/drawingml/2006/main">
              <a:ext uri="{FF2B5EF4-FFF2-40B4-BE49-F238E27FC236}">
                <a16:creationId xmlns:a16="http://schemas.microsoft.com/office/drawing/2014/main" id="{90962F08-63D5-4493-B164-47DE74FAD274}"/>
              </a:ext>
            </a:extLst>
          </p:cNvPr>
          <p:cNvSpPr>
            <a:spLocks xmlns:a="http://schemas.openxmlformats.org/drawingml/2006/main" noGrp="1"/>
          </p:cNvSpPr>
          <p:nvPr/>
        </p:nvSpPr>
        <p:spPr>
          <a:xfrm xmlns:a="http://schemas.openxmlformats.org/drawingml/2006/main">
            <a:off x="2247900" y="3698672"/>
            <a:ext cx="37623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665051B0-BF62-4ABD-9161-C8862B07D5D6}"/>
              </a:ext>
            </a:extLst>
          </p:cNvPr>
          <p:cNvSpPr>
            <a:spLocks xmlns:a="http://schemas.openxmlformats.org/drawingml/2006/main" noGrp="1"/>
          </p:cNvSpPr>
          <p:nvPr/>
        </p:nvSpPr>
        <p:spPr>
          <a:xfrm xmlns:a="http://schemas.openxmlformats.org/drawingml/2006/main">
            <a:off x="2362200" y="3812972"/>
            <a:ext cx="35337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Ինստիտուտ կամ ֆակուլտետ</a:t>
            </a:r>
          </a:p>
        </p:txBody>
      </p:sp>
      <p:sp>
        <p:nvSpPr>
          <p:cNvPr id="28" name="">
            <a:extLst xmlns:a="http://schemas.openxmlformats.org/drawingml/2006/main">
              <a:ext uri="{FF2B5EF4-FFF2-40B4-BE49-F238E27FC236}">
                <a16:creationId xmlns:a16="http://schemas.microsoft.com/office/drawing/2014/main" id="{142695F4-9133-4FC9-8923-C58A3D7AE661}"/>
              </a:ext>
            </a:extLst>
          </p:cNvPr>
          <p:cNvSpPr>
            <a:spLocks xmlns:a="http://schemas.openxmlformats.org/drawingml/2006/main" noGrp="1"/>
          </p:cNvSpPr>
          <p:nvPr/>
        </p:nvSpPr>
        <p:spPr>
          <a:xfrm xmlns:a="http://schemas.openxmlformats.org/drawingml/2006/main">
            <a:off x="742950" y="4271848"/>
            <a:ext cx="5267325" cy="1320241"/>
          </a:xfrm>
          <a:prstGeom xmlns:a="http://schemas.openxmlformats.org/drawingml/2006/main" prst="roundRect">
            <a:avLst>
              <a:gd name="adj" fmla="val 12986"/>
            </a:avLst>
          </a:prstGeom>
          <a:solidFill xmlns:a="http://schemas.openxmlformats.org/drawingml/2006/main">
            <a:srgbClr val="F8FBFF"/>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E86484A3-A982-4B76-A0DB-802DCAA81790}"/>
              </a:ext>
            </a:extLst>
          </p:cNvPr>
          <p:cNvSpPr>
            <a:spLocks xmlns:a="http://schemas.openxmlformats.org/drawingml/2006/main" noGrp="1"/>
          </p:cNvSpPr>
          <p:nvPr/>
        </p:nvSpPr>
        <p:spPr>
          <a:xfrm xmlns:a="http://schemas.openxmlformats.org/drawingml/2006/main">
            <a:off x="933450" y="4462348"/>
            <a:ext cx="133350" cy="133350"/>
          </a:xfrm>
          <a:prstGeom xmlns:a="http://schemas.openxmlformats.org/drawingml/2006/main" prst="ellipse">
            <a:avLst/>
          </a:prstGeom>
          <a:solidFill xmlns:a="http://schemas.openxmlformats.org/drawingml/2006/main">
            <a:srgbClr val="0F4C81"/>
          </a:solidFill>
        </p:spPr>
      </p:sp>
      <p:sp>
        <p:nvSpPr>
          <p:cNvPr id="30" name="">
            <a:extLst xmlns:a="http://schemas.openxmlformats.org/drawingml/2006/main">
              <a:ext uri="{FF2B5EF4-FFF2-40B4-BE49-F238E27FC236}">
                <a16:creationId xmlns:a16="http://schemas.microsoft.com/office/drawing/2014/main" id="{E19CBF68-017A-42E5-8DA7-551C4D98D1C5}"/>
              </a:ext>
            </a:extLst>
          </p:cNvPr>
          <p:cNvSpPr>
            <a:spLocks xmlns:a="http://schemas.openxmlformats.org/drawingml/2006/main" noGrp="1"/>
          </p:cNvSpPr>
          <p:nvPr/>
        </p:nvSpPr>
        <p:spPr>
          <a:xfrm xmlns:a="http://schemas.openxmlformats.org/drawingml/2006/main">
            <a:off x="1162050" y="4462348"/>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 է նկարագրում</a:t>
            </a:r>
          </a:p>
        </p:txBody>
      </p:sp>
      <p:sp>
        <p:nvSpPr>
          <p:cNvPr id="31" name="">
            <a:extLst xmlns:a="http://schemas.openxmlformats.org/drawingml/2006/main">
              <a:ext uri="{FF2B5EF4-FFF2-40B4-BE49-F238E27FC236}">
                <a16:creationId xmlns:a16="http://schemas.microsoft.com/office/drawing/2014/main" id="{66D4DE99-7F2B-4FD5-86E0-EA0823345056}"/>
              </a:ext>
            </a:extLst>
          </p:cNvPr>
          <p:cNvSpPr>
            <a:spLocks xmlns:a="http://schemas.openxmlformats.org/drawingml/2006/main" noGrp="1"/>
          </p:cNvSpPr>
          <p:nvPr/>
        </p:nvSpPr>
        <p:spPr>
          <a:xfrm xmlns:a="http://schemas.openxmlformats.org/drawingml/2006/main">
            <a:off x="933450" y="4823536"/>
            <a:ext cx="4886325"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Համալսարանի վերին կազմակերպական մակարդակը</a:t>
            </a:r>
          </a:p>
        </p:txBody>
      </p:sp>
      <p:sp>
        <p:nvSpPr>
          <p:cNvPr id="32" name="">
            <a:extLst xmlns:a="http://schemas.openxmlformats.org/drawingml/2006/main">
              <a:ext uri="{FF2B5EF4-FFF2-40B4-BE49-F238E27FC236}">
                <a16:creationId xmlns:a16="http://schemas.microsoft.com/office/drawing/2014/main" id="{DB4CF7B2-4D5B-4EB6-ABCE-D492B957A2F4}"/>
              </a:ext>
            </a:extLst>
          </p:cNvPr>
          <p:cNvSpPr>
            <a:spLocks xmlns:a="http://schemas.openxmlformats.org/drawingml/2006/main" noGrp="1"/>
          </p:cNvSpPr>
          <p:nvPr/>
        </p:nvSpPr>
        <p:spPr>
          <a:xfrm xmlns:a="http://schemas.openxmlformats.org/drawingml/2006/main">
            <a:off x="933450" y="5160188"/>
            <a:ext cx="4886325"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Կառավարման և մասնագիտությունների ելակետային կետը</a:t>
            </a:r>
          </a:p>
        </p:txBody>
      </p:sp>
      <p:sp>
        <p:nvSpPr>
          <p:cNvPr id="33" name="">
            <a:extLst xmlns:a="http://schemas.openxmlformats.org/drawingml/2006/main">
              <a:ext uri="{FF2B5EF4-FFF2-40B4-BE49-F238E27FC236}">
                <a16:creationId xmlns:a16="http://schemas.microsoft.com/office/drawing/2014/main" id="{5AA062F8-857D-4DCC-BE29-D3076CDAC68E}"/>
              </a:ext>
            </a:extLst>
          </p:cNvPr>
          <p:cNvSpPr>
            <a:spLocks xmlns:a="http://schemas.openxmlformats.org/drawingml/2006/main" noGrp="1"/>
          </p:cNvSpPr>
          <p:nvPr/>
        </p:nvSpPr>
        <p:spPr>
          <a:xfrm xmlns:a="http://schemas.openxmlformats.org/drawingml/2006/main">
            <a:off x="6181725" y="2064639"/>
            <a:ext cx="1619250" cy="525780"/>
          </a:xfrm>
          <a:prstGeom xmlns:a="http://schemas.openxmlformats.org/drawingml/2006/main" prst="roundRect">
            <a:avLst>
              <a:gd name="adj" fmla="val 21739"/>
            </a:avLst>
          </a:prstGeom>
          <a:solidFill xmlns:a="http://schemas.openxmlformats.org/drawingml/2006/main">
            <a:srgbClr val="E9F3FF"/>
          </a:solidFill>
        </p:spPr>
      </p:sp>
      <p:sp>
        <p:nvSpPr>
          <p:cNvPr id="34" name="">
            <a:extLst xmlns:a="http://schemas.openxmlformats.org/drawingml/2006/main">
              <a:ext uri="{FF2B5EF4-FFF2-40B4-BE49-F238E27FC236}">
                <a16:creationId xmlns:a16="http://schemas.microsoft.com/office/drawing/2014/main" id="{05B077C7-AAF7-4BF8-9501-AC6E8DAE804D}"/>
              </a:ext>
            </a:extLst>
          </p:cNvPr>
          <p:cNvSpPr>
            <a:spLocks xmlns:a="http://schemas.openxmlformats.org/drawingml/2006/main" noGrp="1"/>
          </p:cNvSpPr>
          <p:nvPr/>
        </p:nvSpPr>
        <p:spPr>
          <a:xfrm xmlns:a="http://schemas.openxmlformats.org/drawingml/2006/main">
            <a:off x="6296025" y="2178939"/>
            <a:ext cx="94183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`specializations`</a:t>
            </a:r>
          </a:p>
        </p:txBody>
      </p:sp>
      <p:sp>
        <p:nvSpPr>
          <p:cNvPr id="35" name="">
            <a:extLst xmlns:a="http://schemas.openxmlformats.org/drawingml/2006/main">
              <a:ext uri="{FF2B5EF4-FFF2-40B4-BE49-F238E27FC236}">
                <a16:creationId xmlns:a16="http://schemas.microsoft.com/office/drawing/2014/main" id="{E450D7B2-13E3-46E9-94E9-C4D1D566421A}"/>
              </a:ext>
            </a:extLst>
          </p:cNvPr>
          <p:cNvSpPr>
            <a:spLocks xmlns:a="http://schemas.openxmlformats.org/drawingml/2006/main" noGrp="1"/>
          </p:cNvSpPr>
          <p:nvPr/>
        </p:nvSpPr>
        <p:spPr>
          <a:xfrm xmlns:a="http://schemas.openxmlformats.org/drawingml/2006/main">
            <a:off x="7877175" y="2064639"/>
            <a:ext cx="3571875" cy="525780"/>
          </a:xfrm>
          <a:prstGeom xmlns:a="http://schemas.openxmlformats.org/drawingml/2006/main" prst="roundRect">
            <a:avLst>
              <a:gd name="adj" fmla="val 21739"/>
            </a:avLst>
          </a:prstGeom>
          <a:solidFill xmlns:a="http://schemas.openxmlformats.org/drawingml/2006/main">
            <a:srgbClr val="E9F3FF"/>
          </a:solidFill>
        </p:spPr>
      </p:sp>
      <p:sp>
        <p:nvSpPr>
          <p:cNvPr id="36" name="">
            <a:extLst xmlns:a="http://schemas.openxmlformats.org/drawingml/2006/main">
              <a:ext uri="{FF2B5EF4-FFF2-40B4-BE49-F238E27FC236}">
                <a16:creationId xmlns:a16="http://schemas.microsoft.com/office/drawing/2014/main" id="{AEA6F738-FB91-4782-8EF5-B1F3FC837B0C}"/>
              </a:ext>
            </a:extLst>
          </p:cNvPr>
          <p:cNvSpPr>
            <a:spLocks xmlns:a="http://schemas.openxmlformats.org/drawingml/2006/main" noGrp="1"/>
          </p:cNvSpPr>
          <p:nvPr/>
        </p:nvSpPr>
        <p:spPr>
          <a:xfrm xmlns:a="http://schemas.openxmlformats.org/drawingml/2006/main">
            <a:off x="7991475" y="2178939"/>
            <a:ext cx="46462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Իմաստ</a:t>
            </a:r>
          </a:p>
        </p:txBody>
      </p:sp>
      <p:sp>
        <p:nvSpPr>
          <p:cNvPr id="37" name="">
            <a:extLst xmlns:a="http://schemas.openxmlformats.org/drawingml/2006/main">
              <a:ext uri="{FF2B5EF4-FFF2-40B4-BE49-F238E27FC236}">
                <a16:creationId xmlns:a16="http://schemas.microsoft.com/office/drawing/2014/main" id="{767D4B92-F49D-4484-BC2C-355AEA8412F2}"/>
              </a:ext>
            </a:extLst>
          </p:cNvPr>
          <p:cNvSpPr>
            <a:spLocks xmlns:a="http://schemas.openxmlformats.org/drawingml/2006/main" noGrp="1"/>
          </p:cNvSpPr>
          <p:nvPr/>
        </p:nvSpPr>
        <p:spPr>
          <a:xfrm xmlns:a="http://schemas.openxmlformats.org/drawingml/2006/main">
            <a:off x="6181725" y="2666619"/>
            <a:ext cx="16192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38" name="">
            <a:extLst xmlns:a="http://schemas.openxmlformats.org/drawingml/2006/main">
              <a:ext uri="{FF2B5EF4-FFF2-40B4-BE49-F238E27FC236}">
                <a16:creationId xmlns:a16="http://schemas.microsoft.com/office/drawing/2014/main" id="{BA194DBD-EBA2-4A9D-B7AE-63FCDFF05D69}"/>
              </a:ext>
            </a:extLst>
          </p:cNvPr>
          <p:cNvSpPr>
            <a:spLocks xmlns:a="http://schemas.openxmlformats.org/drawingml/2006/main" noGrp="1"/>
          </p:cNvSpPr>
          <p:nvPr/>
        </p:nvSpPr>
        <p:spPr>
          <a:xfrm xmlns:a="http://schemas.openxmlformats.org/drawingml/2006/main">
            <a:off x="6296025" y="2780919"/>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academic_unit_id</a:t>
            </a:r>
          </a:p>
        </p:txBody>
      </p:sp>
      <p:sp>
        <p:nvSpPr>
          <p:cNvPr id="39" name="">
            <a:extLst xmlns:a="http://schemas.openxmlformats.org/drawingml/2006/main">
              <a:ext uri="{FF2B5EF4-FFF2-40B4-BE49-F238E27FC236}">
                <a16:creationId xmlns:a16="http://schemas.microsoft.com/office/drawing/2014/main" id="{1A292AF8-2950-4732-A947-79A2F8F6B223}"/>
              </a:ext>
            </a:extLst>
          </p:cNvPr>
          <p:cNvSpPr>
            <a:spLocks xmlns:a="http://schemas.openxmlformats.org/drawingml/2006/main" noGrp="1"/>
          </p:cNvSpPr>
          <p:nvPr/>
        </p:nvSpPr>
        <p:spPr>
          <a:xfrm xmlns:a="http://schemas.openxmlformats.org/drawingml/2006/main">
            <a:off x="7877175" y="2666619"/>
            <a:ext cx="35718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40" name="">
            <a:extLst xmlns:a="http://schemas.openxmlformats.org/drawingml/2006/main">
              <a:ext uri="{FF2B5EF4-FFF2-40B4-BE49-F238E27FC236}">
                <a16:creationId xmlns:a16="http://schemas.microsoft.com/office/drawing/2014/main" id="{1C3EF8E2-01C0-4ADA-821C-F4A406ADDD3B}"/>
              </a:ext>
            </a:extLst>
          </p:cNvPr>
          <p:cNvSpPr>
            <a:spLocks xmlns:a="http://schemas.openxmlformats.org/drawingml/2006/main" noGrp="1"/>
          </p:cNvSpPr>
          <p:nvPr/>
        </p:nvSpPr>
        <p:spPr>
          <a:xfrm xmlns:a="http://schemas.openxmlformats.org/drawingml/2006/main">
            <a:off x="7991475" y="2780919"/>
            <a:ext cx="33432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academic unit-ի ներսում է</a:t>
            </a:r>
          </a:p>
        </p:txBody>
      </p:sp>
      <p:sp>
        <p:nvSpPr>
          <p:cNvPr id="41" name="">
            <a:extLst xmlns:a="http://schemas.openxmlformats.org/drawingml/2006/main">
              <a:ext uri="{FF2B5EF4-FFF2-40B4-BE49-F238E27FC236}">
                <a16:creationId xmlns:a16="http://schemas.microsoft.com/office/drawing/2014/main" id="{F1644E4C-D4E5-446F-BBB0-4637017F2A8E}"/>
              </a:ext>
            </a:extLst>
          </p:cNvPr>
          <p:cNvSpPr>
            <a:spLocks xmlns:a="http://schemas.openxmlformats.org/drawingml/2006/main" noGrp="1"/>
          </p:cNvSpPr>
          <p:nvPr/>
        </p:nvSpPr>
        <p:spPr>
          <a:xfrm xmlns:a="http://schemas.openxmlformats.org/drawingml/2006/main">
            <a:off x="6181725" y="3182645"/>
            <a:ext cx="16192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42" name="">
            <a:extLst xmlns:a="http://schemas.openxmlformats.org/drawingml/2006/main">
              <a:ext uri="{FF2B5EF4-FFF2-40B4-BE49-F238E27FC236}">
                <a16:creationId xmlns:a16="http://schemas.microsoft.com/office/drawing/2014/main" id="{F5E068C8-D78E-4868-9D36-1B4BE9282EAA}"/>
              </a:ext>
            </a:extLst>
          </p:cNvPr>
          <p:cNvSpPr>
            <a:spLocks xmlns:a="http://schemas.openxmlformats.org/drawingml/2006/main" noGrp="1"/>
          </p:cNvSpPr>
          <p:nvPr/>
        </p:nvSpPr>
        <p:spPr>
          <a:xfrm xmlns:a="http://schemas.openxmlformats.org/drawingml/2006/main">
            <a:off x="6296025" y="3296945"/>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code</a:t>
            </a:r>
          </a:p>
        </p:txBody>
      </p:sp>
      <p:sp>
        <p:nvSpPr>
          <p:cNvPr id="43" name="">
            <a:extLst xmlns:a="http://schemas.openxmlformats.org/drawingml/2006/main">
              <a:ext uri="{FF2B5EF4-FFF2-40B4-BE49-F238E27FC236}">
                <a16:creationId xmlns:a16="http://schemas.microsoft.com/office/drawing/2014/main" id="{F80180F5-C7A1-43CB-8288-81E4D502EA67}"/>
              </a:ext>
            </a:extLst>
          </p:cNvPr>
          <p:cNvSpPr>
            <a:spLocks xmlns:a="http://schemas.openxmlformats.org/drawingml/2006/main" noGrp="1"/>
          </p:cNvSpPr>
          <p:nvPr/>
        </p:nvSpPr>
        <p:spPr>
          <a:xfrm xmlns:a="http://schemas.openxmlformats.org/drawingml/2006/main">
            <a:off x="7877175" y="3182645"/>
            <a:ext cx="35718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44" name="">
            <a:extLst xmlns:a="http://schemas.openxmlformats.org/drawingml/2006/main">
              <a:ext uri="{FF2B5EF4-FFF2-40B4-BE49-F238E27FC236}">
                <a16:creationId xmlns:a16="http://schemas.microsoft.com/office/drawing/2014/main" id="{65A07F9A-16F5-4DF1-AE2D-CBACEB7788E2}"/>
              </a:ext>
            </a:extLst>
          </p:cNvPr>
          <p:cNvSpPr>
            <a:spLocks xmlns:a="http://schemas.openxmlformats.org/drawingml/2006/main" noGrp="1"/>
          </p:cNvSpPr>
          <p:nvPr/>
        </p:nvSpPr>
        <p:spPr>
          <a:xfrm xmlns:a="http://schemas.openxmlformats.org/drawingml/2006/main">
            <a:off x="7991475" y="3296945"/>
            <a:ext cx="33432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Մասնագիտության կոդ</a:t>
            </a:r>
          </a:p>
        </p:txBody>
      </p:sp>
      <p:sp>
        <p:nvSpPr>
          <p:cNvPr id="45" name="">
            <a:extLst xmlns:a="http://schemas.openxmlformats.org/drawingml/2006/main">
              <a:ext uri="{FF2B5EF4-FFF2-40B4-BE49-F238E27FC236}">
                <a16:creationId xmlns:a16="http://schemas.microsoft.com/office/drawing/2014/main" id="{6CF6CF5B-1D34-4DD1-82A8-F0C1BE8E1807}"/>
              </a:ext>
            </a:extLst>
          </p:cNvPr>
          <p:cNvSpPr>
            <a:spLocks xmlns:a="http://schemas.openxmlformats.org/drawingml/2006/main" noGrp="1"/>
          </p:cNvSpPr>
          <p:nvPr/>
        </p:nvSpPr>
        <p:spPr>
          <a:xfrm xmlns:a="http://schemas.openxmlformats.org/drawingml/2006/main">
            <a:off x="6181725" y="3698672"/>
            <a:ext cx="16192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46" name="">
            <a:extLst xmlns:a="http://schemas.openxmlformats.org/drawingml/2006/main">
              <a:ext uri="{FF2B5EF4-FFF2-40B4-BE49-F238E27FC236}">
                <a16:creationId xmlns:a16="http://schemas.microsoft.com/office/drawing/2014/main" id="{7B256110-A17E-4733-9831-EDB56BB0BA43}"/>
              </a:ext>
            </a:extLst>
          </p:cNvPr>
          <p:cNvSpPr>
            <a:spLocks xmlns:a="http://schemas.openxmlformats.org/drawingml/2006/main" noGrp="1"/>
          </p:cNvSpPr>
          <p:nvPr/>
        </p:nvSpPr>
        <p:spPr>
          <a:xfrm xmlns:a="http://schemas.openxmlformats.org/drawingml/2006/main">
            <a:off x="6296025" y="3812972"/>
            <a:ext cx="13906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name</a:t>
            </a:r>
          </a:p>
        </p:txBody>
      </p:sp>
      <p:sp>
        <p:nvSpPr>
          <p:cNvPr id="47" name="">
            <a:extLst xmlns:a="http://schemas.openxmlformats.org/drawingml/2006/main">
              <a:ext uri="{FF2B5EF4-FFF2-40B4-BE49-F238E27FC236}">
                <a16:creationId xmlns:a16="http://schemas.microsoft.com/office/drawing/2014/main" id="{5E69774E-F50C-428C-816E-F5EC2DFB08FE}"/>
              </a:ext>
            </a:extLst>
          </p:cNvPr>
          <p:cNvSpPr>
            <a:spLocks xmlns:a="http://schemas.openxmlformats.org/drawingml/2006/main" noGrp="1"/>
          </p:cNvSpPr>
          <p:nvPr/>
        </p:nvSpPr>
        <p:spPr>
          <a:xfrm xmlns:a="http://schemas.openxmlformats.org/drawingml/2006/main">
            <a:off x="7877175" y="3698672"/>
            <a:ext cx="3571875"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48" name="">
            <a:extLst xmlns:a="http://schemas.openxmlformats.org/drawingml/2006/main">
              <a:ext uri="{FF2B5EF4-FFF2-40B4-BE49-F238E27FC236}">
                <a16:creationId xmlns:a16="http://schemas.microsoft.com/office/drawing/2014/main" id="{86BE400E-FB0F-4DEC-A620-C0A9FC9311A3}"/>
              </a:ext>
            </a:extLst>
          </p:cNvPr>
          <p:cNvSpPr>
            <a:spLocks xmlns:a="http://schemas.openxmlformats.org/drawingml/2006/main" noGrp="1"/>
          </p:cNvSpPr>
          <p:nvPr/>
        </p:nvSpPr>
        <p:spPr>
          <a:xfrm xmlns:a="http://schemas.openxmlformats.org/drawingml/2006/main">
            <a:off x="7991475" y="3812972"/>
            <a:ext cx="3343275"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Մասնագիտության անվանում</a:t>
            </a:r>
          </a:p>
        </p:txBody>
      </p:sp>
      <p:sp>
        <p:nvSpPr>
          <p:cNvPr id="49" name="">
            <a:extLst xmlns:a="http://schemas.openxmlformats.org/drawingml/2006/main">
              <a:ext uri="{FF2B5EF4-FFF2-40B4-BE49-F238E27FC236}">
                <a16:creationId xmlns:a16="http://schemas.microsoft.com/office/drawing/2014/main" id="{B52C5FDC-368F-4994-8967-44A5264B842E}"/>
              </a:ext>
            </a:extLst>
          </p:cNvPr>
          <p:cNvSpPr>
            <a:spLocks xmlns:a="http://schemas.openxmlformats.org/drawingml/2006/main" noGrp="1"/>
          </p:cNvSpPr>
          <p:nvPr/>
        </p:nvSpPr>
        <p:spPr>
          <a:xfrm xmlns:a="http://schemas.openxmlformats.org/drawingml/2006/main">
            <a:off x="6181725" y="4271848"/>
            <a:ext cx="5267325" cy="1516380"/>
          </a:xfrm>
          <a:prstGeom xmlns:a="http://schemas.openxmlformats.org/drawingml/2006/main" prst="roundRect">
            <a:avLst>
              <a:gd name="adj" fmla="val 11307"/>
            </a:avLst>
          </a:prstGeom>
          <a:solidFill xmlns:a="http://schemas.openxmlformats.org/drawingml/2006/main">
            <a:srgbClr val="FFFFFF"/>
          </a:solidFill>
          <a:ln xmlns:a="http://schemas.openxmlformats.org/drawingml/2006/main" w="9525">
            <a:solidFill>
              <a:srgbClr val="DCE7F4"/>
            </a:solidFill>
            <a:prstDash val="solid"/>
          </a:ln>
        </p:spPr>
      </p:sp>
      <p:sp>
        <p:nvSpPr>
          <p:cNvPr id="50" name="">
            <a:extLst xmlns:a="http://schemas.openxmlformats.org/drawingml/2006/main">
              <a:ext uri="{FF2B5EF4-FFF2-40B4-BE49-F238E27FC236}">
                <a16:creationId xmlns:a16="http://schemas.microsoft.com/office/drawing/2014/main" id="{A7A795C9-595A-4AC2-BA7A-DAFF758DB8A7}"/>
              </a:ext>
            </a:extLst>
          </p:cNvPr>
          <p:cNvSpPr>
            <a:spLocks xmlns:a="http://schemas.openxmlformats.org/drawingml/2006/main" noGrp="1"/>
          </p:cNvSpPr>
          <p:nvPr/>
        </p:nvSpPr>
        <p:spPr>
          <a:xfrm xmlns:a="http://schemas.openxmlformats.org/drawingml/2006/main">
            <a:off x="6372225" y="4462348"/>
            <a:ext cx="133350" cy="133350"/>
          </a:xfrm>
          <a:prstGeom xmlns:a="http://schemas.openxmlformats.org/drawingml/2006/main" prst="ellipse">
            <a:avLst/>
          </a:prstGeom>
          <a:solidFill xmlns:a="http://schemas.openxmlformats.org/drawingml/2006/main">
            <a:srgbClr val="2F8F69"/>
          </a:solidFill>
        </p:spPr>
      </p:sp>
      <p:sp>
        <p:nvSpPr>
          <p:cNvPr id="51" name="">
            <a:extLst xmlns:a="http://schemas.openxmlformats.org/drawingml/2006/main">
              <a:ext uri="{FF2B5EF4-FFF2-40B4-BE49-F238E27FC236}">
                <a16:creationId xmlns:a16="http://schemas.microsoft.com/office/drawing/2014/main" id="{726BD501-7C37-4277-8E8C-801D4B309B0F}"/>
              </a:ext>
            </a:extLst>
          </p:cNvPr>
          <p:cNvSpPr>
            <a:spLocks xmlns:a="http://schemas.openxmlformats.org/drawingml/2006/main" noGrp="1"/>
          </p:cNvSpPr>
          <p:nvPr/>
        </p:nvSpPr>
        <p:spPr>
          <a:xfrm xmlns:a="http://schemas.openxmlformats.org/drawingml/2006/main">
            <a:off x="6600825" y="4462348"/>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է պետք</a:t>
            </a:r>
          </a:p>
        </p:txBody>
      </p:sp>
      <p:sp>
        <p:nvSpPr>
          <p:cNvPr id="52" name="">
            <a:extLst xmlns:a="http://schemas.openxmlformats.org/drawingml/2006/main">
              <a:ext uri="{FF2B5EF4-FFF2-40B4-BE49-F238E27FC236}">
                <a16:creationId xmlns:a16="http://schemas.microsoft.com/office/drawing/2014/main" id="{7D360E4D-66C6-4D75-BD9E-0F00B2DE32D8}"/>
              </a:ext>
            </a:extLst>
          </p:cNvPr>
          <p:cNvSpPr>
            <a:spLocks xmlns:a="http://schemas.openxmlformats.org/drawingml/2006/main" noGrp="1"/>
          </p:cNvSpPr>
          <p:nvPr/>
        </p:nvSpPr>
        <p:spPr>
          <a:xfrm xmlns:a="http://schemas.openxmlformats.org/drawingml/2006/main">
            <a:off x="6372225" y="4823536"/>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Քանի որ խմբերը չեն գոյանում օդում</a:t>
            </a:r>
          </a:p>
        </p:txBody>
      </p:sp>
      <p:sp>
        <p:nvSpPr>
          <p:cNvPr id="53" name="">
            <a:extLst xmlns:a="http://schemas.openxmlformats.org/drawingml/2006/main">
              <a:ext uri="{FF2B5EF4-FFF2-40B4-BE49-F238E27FC236}">
                <a16:creationId xmlns:a16="http://schemas.microsoft.com/office/drawing/2014/main" id="{88C423ED-EC81-4E43-B3AF-8EEC792313B5}"/>
              </a:ext>
            </a:extLst>
          </p:cNvPr>
          <p:cNvSpPr>
            <a:spLocks xmlns:a="http://schemas.openxmlformats.org/drawingml/2006/main" noGrp="1"/>
          </p:cNvSpPr>
          <p:nvPr/>
        </p:nvSpPr>
        <p:spPr>
          <a:xfrm xmlns:a="http://schemas.openxmlformats.org/drawingml/2006/main">
            <a:off x="6372225" y="5145100"/>
            <a:ext cx="4886325"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Դրանք պատկանում են կոնկրետ մասնագիտության, իսկ մասնագիտությունը՝ academic unit-ի</a:t>
            </a:r>
          </a:p>
        </p:txBody>
      </p:sp>
      <p:sp>
        <p:nvSpPr>
          <p:cNvPr id="54" name="">
            <a:extLst xmlns:a="http://schemas.openxmlformats.org/drawingml/2006/main">
              <a:ext uri="{FF2B5EF4-FFF2-40B4-BE49-F238E27FC236}">
                <a16:creationId xmlns:a16="http://schemas.microsoft.com/office/drawing/2014/main" id="{0CB1C94D-464B-4CC9-8639-88680627FA06}"/>
              </a:ext>
            </a:extLst>
          </p:cNvPr>
          <p:cNvSpPr>
            <a:spLocks xmlns:a="http://schemas.openxmlformats.org/drawingml/2006/main" noGrp="1"/>
          </p:cNvSpPr>
          <p:nvPr/>
        </p:nvSpPr>
        <p:spPr>
          <a:xfrm xmlns:a="http://schemas.openxmlformats.org/drawingml/2006/main">
            <a:off x="6181725" y="5921578"/>
            <a:ext cx="5267325"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55" name="">
            <a:extLst xmlns:a="http://schemas.openxmlformats.org/drawingml/2006/main">
              <a:ext uri="{FF2B5EF4-FFF2-40B4-BE49-F238E27FC236}">
                <a16:creationId xmlns:a16="http://schemas.microsoft.com/office/drawing/2014/main" id="{279060CB-CB98-42EA-AF47-EFF9CD9D0965}"/>
              </a:ext>
            </a:extLst>
          </p:cNvPr>
          <p:cNvSpPr>
            <a:spLocks xmlns:a="http://schemas.openxmlformats.org/drawingml/2006/main" noGrp="1"/>
          </p:cNvSpPr>
          <p:nvPr/>
        </p:nvSpPr>
        <p:spPr>
          <a:xfrm xmlns:a="http://schemas.openxmlformats.org/drawingml/2006/main">
            <a:off x="6372225" y="6112078"/>
            <a:ext cx="133350" cy="133350"/>
          </a:xfrm>
          <a:prstGeom xmlns:a="http://schemas.openxmlformats.org/drawingml/2006/main" prst="ellipse">
            <a:avLst/>
          </a:prstGeom>
          <a:solidFill xmlns:a="http://schemas.openxmlformats.org/drawingml/2006/main">
            <a:srgbClr val="D98F2B"/>
          </a:solidFill>
        </p:spPr>
      </p:sp>
      <p:sp>
        <p:nvSpPr>
          <p:cNvPr id="56" name="">
            <a:extLst xmlns:a="http://schemas.openxmlformats.org/drawingml/2006/main">
              <a:ext uri="{FF2B5EF4-FFF2-40B4-BE49-F238E27FC236}">
                <a16:creationId xmlns:a16="http://schemas.microsoft.com/office/drawing/2014/main" id="{42A5CCE0-5102-4E35-A26E-9D197B9BC072}"/>
              </a:ext>
            </a:extLst>
          </p:cNvPr>
          <p:cNvSpPr>
            <a:spLocks xmlns:a="http://schemas.openxmlformats.org/drawingml/2006/main" noGrp="1"/>
          </p:cNvSpPr>
          <p:nvPr/>
        </p:nvSpPr>
        <p:spPr>
          <a:xfrm xmlns:a="http://schemas.openxmlformats.org/drawingml/2006/main">
            <a:off x="6600825" y="6112078"/>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57" name="">
            <a:extLst xmlns:a="http://schemas.openxmlformats.org/drawingml/2006/main">
              <a:ext uri="{FF2B5EF4-FFF2-40B4-BE49-F238E27FC236}">
                <a16:creationId xmlns:a16="http://schemas.microsoft.com/office/drawing/2014/main" id="{95BA5EE2-7831-4FFD-961A-8414C23DCFB6}"/>
              </a:ext>
            </a:extLst>
          </p:cNvPr>
          <p:cNvSpPr>
            <a:spLocks xmlns:a="http://schemas.openxmlformats.org/drawingml/2006/main" noGrp="1"/>
          </p:cNvSpPr>
          <p:nvPr/>
        </p:nvSpPr>
        <p:spPr>
          <a:xfrm xmlns:a="http://schemas.openxmlformats.org/drawingml/2006/main">
            <a:off x="6372225" y="6473266"/>
            <a:ext cx="4886325"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academic_units - specializations</a:t>
            </a:r>
          </a:p>
        </p:txBody>
      </p:sp>
      <p:sp>
        <p:nvSpPr>
          <p:cNvPr id="58" name="">
            <a:extLst xmlns:a="http://schemas.openxmlformats.org/drawingml/2006/main">
              <a:ext uri="{FF2B5EF4-FFF2-40B4-BE49-F238E27FC236}">
                <a16:creationId xmlns:a16="http://schemas.microsoft.com/office/drawing/2014/main" id="{07724CBB-183D-4B01-A8C0-07EB818C153B}"/>
              </a:ext>
            </a:extLst>
          </p:cNvPr>
          <p:cNvSpPr>
            <a:spLocks xmlns:a="http://schemas.openxmlformats.org/drawingml/2006/main" noGrp="1"/>
          </p:cNvSpPr>
          <p:nvPr/>
        </p:nvSpPr>
        <p:spPr>
          <a:xfrm xmlns:a="http://schemas.openxmlformats.org/drawingml/2006/main">
            <a:off x="742950" y="707661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59" name="">
            <a:extLst xmlns:a="http://schemas.openxmlformats.org/drawingml/2006/main">
              <a:ext uri="{FF2B5EF4-FFF2-40B4-BE49-F238E27FC236}">
                <a16:creationId xmlns:a16="http://schemas.microsoft.com/office/drawing/2014/main" id="{9CB2BF6F-5A3A-4EFF-88FC-B5B454C737D5}"/>
              </a:ext>
            </a:extLst>
          </p:cNvPr>
          <p:cNvSpPr>
            <a:spLocks xmlns:a="http://schemas.openxmlformats.org/drawingml/2006/main" noGrp="1"/>
          </p:cNvSpPr>
          <p:nvPr/>
        </p:nvSpPr>
        <p:spPr>
          <a:xfrm xmlns:a="http://schemas.openxmlformats.org/drawingml/2006/main">
            <a:off x="10306050" y="707661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06</a:t>
            </a:r>
          </a:p>
        </p:txBody>
      </p:sp>
    </p:spTree>
    <p:extLst>
      <p:ext uri="{BB962C8B-B14F-4D97-AF65-F5344CB8AC3E}">
        <p14:creationId xmlns:p14="http://schemas.microsoft.com/office/powerpoint/2010/main" val="4449906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39B2B5-C798-4971-86D8-6AFA95A942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B820DF59-384C-4ABE-9D8F-9FF704ACEBFC}"/>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339E48CC-2652-4CA9-8C51-D332FBE391CB}"/>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1A6925B2-D0DA-4BFF-901F-F37D1E04F867}"/>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0C96BA7A-1AAF-474B-B7DB-A593524E2ECD}"/>
              </a:ext>
            </a:extLst>
          </p:cNvPr>
          <p:cNvSpPr>
            <a:spLocks xmlns:a="http://schemas.openxmlformats.org/drawingml/2006/main" noGrp="1"/>
          </p:cNvSpPr>
          <p:nvPr/>
        </p:nvSpPr>
        <p:spPr>
          <a:xfrm xmlns:a="http://schemas.openxmlformats.org/drawingml/2006/main">
            <a:off x="819150" y="952500"/>
            <a:ext cx="367284"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Խմբեր</a:t>
            </a:r>
          </a:p>
        </p:txBody>
      </p:sp>
      <p:sp>
        <p:nvSpPr>
          <p:cNvPr id="6" name="">
            <a:extLst xmlns:a="http://schemas.openxmlformats.org/drawingml/2006/main">
              <a:ext uri="{FF2B5EF4-FFF2-40B4-BE49-F238E27FC236}">
                <a16:creationId xmlns:a16="http://schemas.microsoft.com/office/drawing/2014/main" id="{78C5A52F-72B9-4D1F-AEFE-3BD87D5D457B}"/>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`academic_groups` և `lab_groups`</a:t>
            </a:r>
          </a:p>
        </p:txBody>
      </p:sp>
      <p:sp>
        <p:nvSpPr>
          <p:cNvPr id="7" name="">
            <a:extLst xmlns:a="http://schemas.openxmlformats.org/drawingml/2006/main">
              <a:ext uri="{FF2B5EF4-FFF2-40B4-BE49-F238E27FC236}">
                <a16:creationId xmlns:a16="http://schemas.microsoft.com/office/drawing/2014/main" id="{1CF12C71-C1AC-40C8-9DA8-570A739A51A7}"/>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Ակադեմիական խումբը ընդհանուր հոսքն է, իսկ լաբորատոր խումբը նրա ներսում բաժանված ուսումնական ենթախումբը</a:t>
            </a:r>
          </a:p>
        </p:txBody>
      </p:sp>
      <p:sp>
        <p:nvSpPr>
          <p:cNvPr id="8" name="">
            <a:extLst xmlns:a="http://schemas.openxmlformats.org/drawingml/2006/main">
              <a:ext uri="{FF2B5EF4-FFF2-40B4-BE49-F238E27FC236}">
                <a16:creationId xmlns:a16="http://schemas.microsoft.com/office/drawing/2014/main" id="{A025C30A-EF52-447F-AFE2-E7B7553CB946}"/>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5ADBD9D6-A0DD-495C-B084-000BEFB3FE37}"/>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07</a:t>
            </a:r>
          </a:p>
        </p:txBody>
      </p:sp>
      <p:sp>
        <p:nvSpPr>
          <p:cNvPr id="10" name="">
            <a:extLst xmlns:a="http://schemas.openxmlformats.org/drawingml/2006/main">
              <a:ext uri="{FF2B5EF4-FFF2-40B4-BE49-F238E27FC236}">
                <a16:creationId xmlns:a16="http://schemas.microsoft.com/office/drawing/2014/main" id="{5574218B-DEB6-479D-B5D1-FDC018E19661}"/>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57CAB6FB-8EFB-4513-B30F-0F203DD04F80}"/>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2ED8AD07-17BA-4005-AD74-E5F2F0015D49}"/>
              </a:ext>
            </a:extLst>
          </p:cNvPr>
          <p:cNvSpPr>
            <a:spLocks xmlns:a="http://schemas.openxmlformats.org/drawingml/2006/main" noGrp="1"/>
          </p:cNvSpPr>
          <p:nvPr/>
        </p:nvSpPr>
        <p:spPr>
          <a:xfrm xmlns:a="http://schemas.openxmlformats.org/drawingml/2006/main">
            <a:off x="742950" y="2064639"/>
            <a:ext cx="10706100" cy="796595"/>
          </a:xfrm>
          <a:prstGeom xmlns:a="http://schemas.openxmlformats.org/drawingml/2006/main" prst="roundRect">
            <a:avLst>
              <a:gd name="adj" fmla="val 21523"/>
            </a:avLst>
          </a:prstGeom>
          <a:solidFill xmlns:a="http://schemas.openxmlformats.org/drawingml/2006/main">
            <a:srgbClr val="EDF5FF"/>
          </a:solidFill>
          <a:ln xmlns:a="http://schemas.openxmlformats.org/drawingml/2006/main" w="9525">
            <a:solidFill>
              <a:srgbClr val="C8D8EB"/>
            </a:solidFill>
            <a:prstDash val="solid"/>
          </a:ln>
        </p:spPr>
      </p:sp>
      <p:sp>
        <p:nvSpPr>
          <p:cNvPr id="13" name="">
            <a:extLst xmlns:a="http://schemas.openxmlformats.org/drawingml/2006/main">
              <a:ext uri="{FF2B5EF4-FFF2-40B4-BE49-F238E27FC236}">
                <a16:creationId xmlns:a16="http://schemas.microsoft.com/office/drawing/2014/main" id="{BB9B66E1-183C-4613-8492-D3516FC827D6}"/>
              </a:ext>
            </a:extLst>
          </p:cNvPr>
          <p:cNvSpPr>
            <a:spLocks xmlns:a="http://schemas.openxmlformats.org/drawingml/2006/main" noGrp="1"/>
          </p:cNvSpPr>
          <p:nvPr/>
        </p:nvSpPr>
        <p:spPr>
          <a:xfrm xmlns:a="http://schemas.openxmlformats.org/drawingml/2006/main">
            <a:off x="876300" y="2197989"/>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AA74E382-0B17-4FF8-9212-5E76236969A6}"/>
              </a:ext>
            </a:extLst>
          </p:cNvPr>
          <p:cNvSpPr>
            <a:spLocks xmlns:a="http://schemas.openxmlformats.org/drawingml/2006/main" noGrp="1"/>
          </p:cNvSpPr>
          <p:nvPr/>
        </p:nvSpPr>
        <p:spPr>
          <a:xfrm xmlns:a="http://schemas.openxmlformats.org/drawingml/2006/main">
            <a:off x="1104900" y="2197989"/>
            <a:ext cx="10210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Academic Unit</a:t>
            </a:r>
          </a:p>
        </p:txBody>
      </p:sp>
      <p:sp>
        <p:nvSpPr>
          <p:cNvPr id="15" name="">
            <a:extLst xmlns:a="http://schemas.openxmlformats.org/drawingml/2006/main">
              <a:ext uri="{FF2B5EF4-FFF2-40B4-BE49-F238E27FC236}">
                <a16:creationId xmlns:a16="http://schemas.microsoft.com/office/drawing/2014/main" id="{E84CC580-B538-4E72-871E-35F1DB56CC77}"/>
              </a:ext>
            </a:extLst>
          </p:cNvPr>
          <p:cNvSpPr>
            <a:spLocks xmlns:a="http://schemas.openxmlformats.org/drawingml/2006/main" noGrp="1"/>
          </p:cNvSpPr>
          <p:nvPr/>
        </p:nvSpPr>
        <p:spPr>
          <a:xfrm xmlns:a="http://schemas.openxmlformats.org/drawingml/2006/main">
            <a:off x="876300" y="2531745"/>
            <a:ext cx="104394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Օր.` Ֆակուլտետ կամ ինստիտուտ</a:t>
            </a:r>
          </a:p>
        </p:txBody>
      </p:sp>
      <p:sp>
        <p:nvSpPr>
          <p:cNvPr id="16" name="">
            <a:extLst xmlns:a="http://schemas.openxmlformats.org/drawingml/2006/main">
              <a:ext uri="{FF2B5EF4-FFF2-40B4-BE49-F238E27FC236}">
                <a16:creationId xmlns:a16="http://schemas.microsoft.com/office/drawing/2014/main" id="{B54A3281-3818-447C-894D-B9683B69BB49}"/>
              </a:ext>
            </a:extLst>
          </p:cNvPr>
          <p:cNvSpPr>
            <a:spLocks xmlns:a="http://schemas.openxmlformats.org/drawingml/2006/main" noGrp="1"/>
          </p:cNvSpPr>
          <p:nvPr/>
        </p:nvSpPr>
        <p:spPr>
          <a:xfrm xmlns:a="http://schemas.openxmlformats.org/drawingml/2006/main">
            <a:off x="742950" y="2956484"/>
            <a:ext cx="10706100" cy="32004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17" name="">
            <a:extLst xmlns:a="http://schemas.openxmlformats.org/drawingml/2006/main">
              <a:ext uri="{FF2B5EF4-FFF2-40B4-BE49-F238E27FC236}">
                <a16:creationId xmlns:a16="http://schemas.microsoft.com/office/drawing/2014/main" id="{5F27AEDC-42E7-43C1-B931-235F0DE3DD3A}"/>
              </a:ext>
            </a:extLst>
          </p:cNvPr>
          <p:cNvSpPr>
            <a:spLocks xmlns:a="http://schemas.openxmlformats.org/drawingml/2006/main" noGrp="1"/>
          </p:cNvSpPr>
          <p:nvPr/>
        </p:nvSpPr>
        <p:spPr>
          <a:xfrm xmlns:a="http://schemas.openxmlformats.org/drawingml/2006/main">
            <a:off x="742950" y="3371774"/>
            <a:ext cx="107061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18" name="">
            <a:extLst xmlns:a="http://schemas.openxmlformats.org/drawingml/2006/main">
              <a:ext uri="{FF2B5EF4-FFF2-40B4-BE49-F238E27FC236}">
                <a16:creationId xmlns:a16="http://schemas.microsoft.com/office/drawing/2014/main" id="{C787424F-26A9-4BC7-B852-4AC414568025}"/>
              </a:ext>
            </a:extLst>
          </p:cNvPr>
          <p:cNvSpPr>
            <a:spLocks xmlns:a="http://schemas.openxmlformats.org/drawingml/2006/main" noGrp="1"/>
          </p:cNvSpPr>
          <p:nvPr/>
        </p:nvSpPr>
        <p:spPr>
          <a:xfrm xmlns:a="http://schemas.openxmlformats.org/drawingml/2006/main">
            <a:off x="876300" y="3505124"/>
            <a:ext cx="133350" cy="133350"/>
          </a:xfrm>
          <a:prstGeom xmlns:a="http://schemas.openxmlformats.org/drawingml/2006/main" prst="ellipse">
            <a:avLst/>
          </a:prstGeom>
          <a:solidFill xmlns:a="http://schemas.openxmlformats.org/drawingml/2006/main">
            <a:srgbClr val="0F4C81"/>
          </a:solidFill>
        </p:spPr>
      </p:sp>
      <p:sp>
        <p:nvSpPr>
          <p:cNvPr id="19" name="">
            <a:extLst xmlns:a="http://schemas.openxmlformats.org/drawingml/2006/main">
              <a:ext uri="{FF2B5EF4-FFF2-40B4-BE49-F238E27FC236}">
                <a16:creationId xmlns:a16="http://schemas.microsoft.com/office/drawing/2014/main" id="{B788F090-2B2F-40E3-9584-5D84630CB967}"/>
              </a:ext>
            </a:extLst>
          </p:cNvPr>
          <p:cNvSpPr>
            <a:spLocks xmlns:a="http://schemas.openxmlformats.org/drawingml/2006/main" noGrp="1"/>
          </p:cNvSpPr>
          <p:nvPr/>
        </p:nvSpPr>
        <p:spPr>
          <a:xfrm xmlns:a="http://schemas.openxmlformats.org/drawingml/2006/main">
            <a:off x="1104900" y="3505124"/>
            <a:ext cx="10210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Specialization</a:t>
            </a:r>
          </a:p>
        </p:txBody>
      </p:sp>
      <p:sp>
        <p:nvSpPr>
          <p:cNvPr id="20" name="">
            <a:extLst xmlns:a="http://schemas.openxmlformats.org/drawingml/2006/main">
              <a:ext uri="{FF2B5EF4-FFF2-40B4-BE49-F238E27FC236}">
                <a16:creationId xmlns:a16="http://schemas.microsoft.com/office/drawing/2014/main" id="{FED60696-B837-40D2-AE2C-DA31C0D30CB3}"/>
              </a:ext>
            </a:extLst>
          </p:cNvPr>
          <p:cNvSpPr>
            <a:spLocks xmlns:a="http://schemas.openxmlformats.org/drawingml/2006/main" noGrp="1"/>
          </p:cNvSpPr>
          <p:nvPr/>
        </p:nvSpPr>
        <p:spPr>
          <a:xfrm xmlns:a="http://schemas.openxmlformats.org/drawingml/2006/main">
            <a:off x="876300" y="3838880"/>
            <a:ext cx="104394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Օր.` Ծրագրային ճարտարագիտություն</a:t>
            </a:r>
          </a:p>
        </p:txBody>
      </p:sp>
      <p:sp>
        <p:nvSpPr>
          <p:cNvPr id="21" name="">
            <a:extLst xmlns:a="http://schemas.openxmlformats.org/drawingml/2006/main">
              <a:ext uri="{FF2B5EF4-FFF2-40B4-BE49-F238E27FC236}">
                <a16:creationId xmlns:a16="http://schemas.microsoft.com/office/drawing/2014/main" id="{F00DC85D-2AFC-4A3F-BDEA-24AFB8FF331E}"/>
              </a:ext>
            </a:extLst>
          </p:cNvPr>
          <p:cNvSpPr>
            <a:spLocks xmlns:a="http://schemas.openxmlformats.org/drawingml/2006/main" noGrp="1"/>
          </p:cNvSpPr>
          <p:nvPr/>
        </p:nvSpPr>
        <p:spPr>
          <a:xfrm xmlns:a="http://schemas.openxmlformats.org/drawingml/2006/main">
            <a:off x="742950" y="4263619"/>
            <a:ext cx="10706100" cy="32004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22" name="">
            <a:extLst xmlns:a="http://schemas.openxmlformats.org/drawingml/2006/main">
              <a:ext uri="{FF2B5EF4-FFF2-40B4-BE49-F238E27FC236}">
                <a16:creationId xmlns:a16="http://schemas.microsoft.com/office/drawing/2014/main" id="{1386C7D1-3E22-4490-9159-C7D609F8FD68}"/>
              </a:ext>
            </a:extLst>
          </p:cNvPr>
          <p:cNvSpPr>
            <a:spLocks xmlns:a="http://schemas.openxmlformats.org/drawingml/2006/main" noGrp="1"/>
          </p:cNvSpPr>
          <p:nvPr/>
        </p:nvSpPr>
        <p:spPr>
          <a:xfrm xmlns:a="http://schemas.openxmlformats.org/drawingml/2006/main">
            <a:off x="742950" y="4678909"/>
            <a:ext cx="10706100" cy="796595"/>
          </a:xfrm>
          <a:prstGeom xmlns:a="http://schemas.openxmlformats.org/drawingml/2006/main" prst="roundRect">
            <a:avLst>
              <a:gd name="adj" fmla="val 21523"/>
            </a:avLst>
          </a:prstGeom>
          <a:solidFill xmlns:a="http://schemas.openxmlformats.org/drawingml/2006/main">
            <a:srgbClr val="EDF5FF"/>
          </a:solidFill>
          <a:ln xmlns:a="http://schemas.openxmlformats.org/drawingml/2006/main" w="9525">
            <a:solidFill>
              <a:srgbClr val="C8D8EB"/>
            </a:solidFill>
            <a:prstDash val="solid"/>
          </a:ln>
        </p:spPr>
      </p:sp>
      <p:sp>
        <p:nvSpPr>
          <p:cNvPr id="23" name="">
            <a:extLst xmlns:a="http://schemas.openxmlformats.org/drawingml/2006/main">
              <a:ext uri="{FF2B5EF4-FFF2-40B4-BE49-F238E27FC236}">
                <a16:creationId xmlns:a16="http://schemas.microsoft.com/office/drawing/2014/main" id="{213DFD75-D4F6-4F25-AB2B-17C833104628}"/>
              </a:ext>
            </a:extLst>
          </p:cNvPr>
          <p:cNvSpPr>
            <a:spLocks xmlns:a="http://schemas.openxmlformats.org/drawingml/2006/main" noGrp="1"/>
          </p:cNvSpPr>
          <p:nvPr/>
        </p:nvSpPr>
        <p:spPr>
          <a:xfrm xmlns:a="http://schemas.openxmlformats.org/drawingml/2006/main">
            <a:off x="876300" y="4812259"/>
            <a:ext cx="133350" cy="133350"/>
          </a:xfrm>
          <a:prstGeom xmlns:a="http://schemas.openxmlformats.org/drawingml/2006/main" prst="ellipse">
            <a:avLst/>
          </a:prstGeom>
          <a:solidFill xmlns:a="http://schemas.openxmlformats.org/drawingml/2006/main">
            <a:srgbClr val="0F4C81"/>
          </a:solidFill>
        </p:spPr>
      </p:sp>
      <p:sp>
        <p:nvSpPr>
          <p:cNvPr id="24" name="">
            <a:extLst xmlns:a="http://schemas.openxmlformats.org/drawingml/2006/main">
              <a:ext uri="{FF2B5EF4-FFF2-40B4-BE49-F238E27FC236}">
                <a16:creationId xmlns:a16="http://schemas.microsoft.com/office/drawing/2014/main" id="{468CAFDB-0449-45FA-A145-9B8A5EC3E776}"/>
              </a:ext>
            </a:extLst>
          </p:cNvPr>
          <p:cNvSpPr>
            <a:spLocks xmlns:a="http://schemas.openxmlformats.org/drawingml/2006/main" noGrp="1"/>
          </p:cNvSpPr>
          <p:nvPr/>
        </p:nvSpPr>
        <p:spPr>
          <a:xfrm xmlns:a="http://schemas.openxmlformats.org/drawingml/2006/main">
            <a:off x="1104900" y="4812259"/>
            <a:ext cx="10210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Academic Group</a:t>
            </a:r>
          </a:p>
        </p:txBody>
      </p:sp>
      <p:sp>
        <p:nvSpPr>
          <p:cNvPr id="25" name="">
            <a:extLst xmlns:a="http://schemas.openxmlformats.org/drawingml/2006/main">
              <a:ext uri="{FF2B5EF4-FFF2-40B4-BE49-F238E27FC236}">
                <a16:creationId xmlns:a16="http://schemas.microsoft.com/office/drawing/2014/main" id="{E7F8BF19-F5E9-4974-BD51-A9AFE0C22146}"/>
              </a:ext>
            </a:extLst>
          </p:cNvPr>
          <p:cNvSpPr>
            <a:spLocks xmlns:a="http://schemas.openxmlformats.org/drawingml/2006/main" noGrp="1"/>
          </p:cNvSpPr>
          <p:nvPr/>
        </p:nvSpPr>
        <p:spPr>
          <a:xfrm xmlns:a="http://schemas.openxmlformats.org/drawingml/2006/main">
            <a:off x="876300" y="5146015"/>
            <a:ext cx="104394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Օր.` 319</a:t>
            </a:r>
          </a:p>
        </p:txBody>
      </p:sp>
      <p:sp>
        <p:nvSpPr>
          <p:cNvPr id="26" name="">
            <a:extLst xmlns:a="http://schemas.openxmlformats.org/drawingml/2006/main">
              <a:ext uri="{FF2B5EF4-FFF2-40B4-BE49-F238E27FC236}">
                <a16:creationId xmlns:a16="http://schemas.microsoft.com/office/drawing/2014/main" id="{38F5B2C0-15FC-4A31-A755-E7EFD89F9BFA}"/>
              </a:ext>
            </a:extLst>
          </p:cNvPr>
          <p:cNvSpPr>
            <a:spLocks xmlns:a="http://schemas.openxmlformats.org/drawingml/2006/main" noGrp="1"/>
          </p:cNvSpPr>
          <p:nvPr/>
        </p:nvSpPr>
        <p:spPr>
          <a:xfrm xmlns:a="http://schemas.openxmlformats.org/drawingml/2006/main">
            <a:off x="742950" y="5570753"/>
            <a:ext cx="10706100" cy="32004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27" name="">
            <a:extLst xmlns:a="http://schemas.openxmlformats.org/drawingml/2006/main">
              <a:ext uri="{FF2B5EF4-FFF2-40B4-BE49-F238E27FC236}">
                <a16:creationId xmlns:a16="http://schemas.microsoft.com/office/drawing/2014/main" id="{9DECBB9E-BBC8-416A-85B3-7CF6BFEAE7AE}"/>
              </a:ext>
            </a:extLst>
          </p:cNvPr>
          <p:cNvSpPr>
            <a:spLocks xmlns:a="http://schemas.openxmlformats.org/drawingml/2006/main" noGrp="1"/>
          </p:cNvSpPr>
          <p:nvPr/>
        </p:nvSpPr>
        <p:spPr>
          <a:xfrm xmlns:a="http://schemas.openxmlformats.org/drawingml/2006/main">
            <a:off x="742950" y="5986043"/>
            <a:ext cx="107061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28" name="">
            <a:extLst xmlns:a="http://schemas.openxmlformats.org/drawingml/2006/main">
              <a:ext uri="{FF2B5EF4-FFF2-40B4-BE49-F238E27FC236}">
                <a16:creationId xmlns:a16="http://schemas.microsoft.com/office/drawing/2014/main" id="{0797289F-6D2F-4025-A7C3-91E81E1F6EB7}"/>
              </a:ext>
            </a:extLst>
          </p:cNvPr>
          <p:cNvSpPr>
            <a:spLocks xmlns:a="http://schemas.openxmlformats.org/drawingml/2006/main" noGrp="1"/>
          </p:cNvSpPr>
          <p:nvPr/>
        </p:nvSpPr>
        <p:spPr>
          <a:xfrm xmlns:a="http://schemas.openxmlformats.org/drawingml/2006/main">
            <a:off x="876300" y="6119393"/>
            <a:ext cx="133350" cy="133350"/>
          </a:xfrm>
          <a:prstGeom xmlns:a="http://schemas.openxmlformats.org/drawingml/2006/main" prst="ellipse">
            <a:avLst/>
          </a:prstGeom>
          <a:solidFill xmlns:a="http://schemas.openxmlformats.org/drawingml/2006/main">
            <a:srgbClr val="0F4C81"/>
          </a:solidFill>
        </p:spPr>
      </p:sp>
      <p:sp>
        <p:nvSpPr>
          <p:cNvPr id="29" name="">
            <a:extLst xmlns:a="http://schemas.openxmlformats.org/drawingml/2006/main">
              <a:ext uri="{FF2B5EF4-FFF2-40B4-BE49-F238E27FC236}">
                <a16:creationId xmlns:a16="http://schemas.microsoft.com/office/drawing/2014/main" id="{F9A67672-129C-49E8-B9F4-1E66A0C8BB66}"/>
              </a:ext>
            </a:extLst>
          </p:cNvPr>
          <p:cNvSpPr>
            <a:spLocks xmlns:a="http://schemas.openxmlformats.org/drawingml/2006/main" noGrp="1"/>
          </p:cNvSpPr>
          <p:nvPr/>
        </p:nvSpPr>
        <p:spPr>
          <a:xfrm xmlns:a="http://schemas.openxmlformats.org/drawingml/2006/main">
            <a:off x="1104900" y="6119393"/>
            <a:ext cx="10210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Lab Group</a:t>
            </a:r>
          </a:p>
        </p:txBody>
      </p:sp>
      <p:sp>
        <p:nvSpPr>
          <p:cNvPr id="30" name="">
            <a:extLst xmlns:a="http://schemas.openxmlformats.org/drawingml/2006/main">
              <a:ext uri="{FF2B5EF4-FFF2-40B4-BE49-F238E27FC236}">
                <a16:creationId xmlns:a16="http://schemas.microsoft.com/office/drawing/2014/main" id="{1CC48C31-3036-4254-A058-A8F119346B4E}"/>
              </a:ext>
            </a:extLst>
          </p:cNvPr>
          <p:cNvSpPr>
            <a:spLocks xmlns:a="http://schemas.openxmlformats.org/drawingml/2006/main" noGrp="1"/>
          </p:cNvSpPr>
          <p:nvPr/>
        </p:nvSpPr>
        <p:spPr>
          <a:xfrm xmlns:a="http://schemas.openxmlformats.org/drawingml/2006/main">
            <a:off x="876300" y="6453149"/>
            <a:ext cx="104394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Օր.` 319-1, 319-2</a:t>
            </a:r>
          </a:p>
        </p:txBody>
      </p:sp>
      <p:sp>
        <p:nvSpPr>
          <p:cNvPr id="31" name="">
            <a:extLst xmlns:a="http://schemas.openxmlformats.org/drawingml/2006/main">
              <a:ext uri="{FF2B5EF4-FFF2-40B4-BE49-F238E27FC236}">
                <a16:creationId xmlns:a16="http://schemas.microsoft.com/office/drawing/2014/main" id="{B802AF0A-3431-4508-B597-13B632B7677B}"/>
              </a:ext>
            </a:extLst>
          </p:cNvPr>
          <p:cNvSpPr>
            <a:spLocks xmlns:a="http://schemas.openxmlformats.org/drawingml/2006/main" noGrp="1"/>
          </p:cNvSpPr>
          <p:nvPr/>
        </p:nvSpPr>
        <p:spPr>
          <a:xfrm xmlns:a="http://schemas.openxmlformats.org/drawingml/2006/main">
            <a:off x="742950" y="6954088"/>
            <a:ext cx="5276850" cy="1742694"/>
          </a:xfrm>
          <a:prstGeom xmlns:a="http://schemas.openxmlformats.org/drawingml/2006/main" prst="roundRect">
            <a:avLst>
              <a:gd name="adj" fmla="val 9838"/>
            </a:avLst>
          </a:prstGeom>
          <a:solidFill xmlns:a="http://schemas.openxmlformats.org/drawingml/2006/main">
            <a:srgbClr val="F8FBFF"/>
          </a:solidFill>
          <a:ln xmlns:a="http://schemas.openxmlformats.org/drawingml/2006/main" w="9525">
            <a:solidFill>
              <a:srgbClr val="DCE7F4"/>
            </a:solidFill>
            <a:prstDash val="solid"/>
          </a:ln>
        </p:spPr>
      </p:sp>
      <p:sp>
        <p:nvSpPr>
          <p:cNvPr id="32" name="">
            <a:extLst xmlns:a="http://schemas.openxmlformats.org/drawingml/2006/main">
              <a:ext uri="{FF2B5EF4-FFF2-40B4-BE49-F238E27FC236}">
                <a16:creationId xmlns:a16="http://schemas.microsoft.com/office/drawing/2014/main" id="{8FA2B0C0-CB94-4AF1-BE01-429028D9FC53}"/>
              </a:ext>
            </a:extLst>
          </p:cNvPr>
          <p:cNvSpPr>
            <a:spLocks xmlns:a="http://schemas.openxmlformats.org/drawingml/2006/main" noGrp="1"/>
          </p:cNvSpPr>
          <p:nvPr/>
        </p:nvSpPr>
        <p:spPr>
          <a:xfrm xmlns:a="http://schemas.openxmlformats.org/drawingml/2006/main">
            <a:off x="933450" y="7144588"/>
            <a:ext cx="133350" cy="133350"/>
          </a:xfrm>
          <a:prstGeom xmlns:a="http://schemas.openxmlformats.org/drawingml/2006/main" prst="ellipse">
            <a:avLst/>
          </a:prstGeom>
          <a:solidFill xmlns:a="http://schemas.openxmlformats.org/drawingml/2006/main">
            <a:srgbClr val="0F4C81"/>
          </a:solidFill>
        </p:spPr>
      </p:sp>
      <p:sp>
        <p:nvSpPr>
          <p:cNvPr id="33" name="">
            <a:extLst xmlns:a="http://schemas.openxmlformats.org/drawingml/2006/main">
              <a:ext uri="{FF2B5EF4-FFF2-40B4-BE49-F238E27FC236}">
                <a16:creationId xmlns:a16="http://schemas.microsoft.com/office/drawing/2014/main" id="{C5C69E94-43BF-4F06-BF80-F2EE3C2A258E}"/>
              </a:ext>
            </a:extLst>
          </p:cNvPr>
          <p:cNvSpPr>
            <a:spLocks xmlns:a="http://schemas.openxmlformats.org/drawingml/2006/main" noGrp="1"/>
          </p:cNvSpPr>
          <p:nvPr/>
        </p:nvSpPr>
        <p:spPr>
          <a:xfrm xmlns:a="http://schemas.openxmlformats.org/drawingml/2006/main">
            <a:off x="1162050" y="7144588"/>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Ամենակարևոր բիզնես միտքը</a:t>
            </a:r>
          </a:p>
        </p:txBody>
      </p:sp>
      <p:sp>
        <p:nvSpPr>
          <p:cNvPr id="34" name="">
            <a:extLst xmlns:a="http://schemas.openxmlformats.org/drawingml/2006/main">
              <a:ext uri="{FF2B5EF4-FFF2-40B4-BE49-F238E27FC236}">
                <a16:creationId xmlns:a16="http://schemas.microsoft.com/office/drawing/2014/main" id="{BAEA95CE-7E17-49D0-A5C5-B46466DE1F0B}"/>
              </a:ext>
            </a:extLst>
          </p:cNvPr>
          <p:cNvSpPr>
            <a:spLocks xmlns:a="http://schemas.openxmlformats.org/drawingml/2006/main" noGrp="1"/>
          </p:cNvSpPr>
          <p:nvPr/>
        </p:nvSpPr>
        <p:spPr>
          <a:xfrm xmlns:a="http://schemas.openxmlformats.org/drawingml/2006/main">
            <a:off x="933450" y="7505776"/>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Academic group-ը ընդհանուր հոսքն է</a:t>
            </a:r>
          </a:p>
        </p:txBody>
      </p:sp>
      <p:sp>
        <p:nvSpPr>
          <p:cNvPr id="35" name="">
            <a:extLst xmlns:a="http://schemas.openxmlformats.org/drawingml/2006/main">
              <a:ext uri="{FF2B5EF4-FFF2-40B4-BE49-F238E27FC236}">
                <a16:creationId xmlns:a16="http://schemas.microsoft.com/office/drawing/2014/main" id="{3A19FF9D-3DA4-4006-A921-A4308BB9B3B0}"/>
              </a:ext>
            </a:extLst>
          </p:cNvPr>
          <p:cNvSpPr>
            <a:spLocks xmlns:a="http://schemas.openxmlformats.org/drawingml/2006/main" noGrp="1"/>
          </p:cNvSpPr>
          <p:nvPr/>
        </p:nvSpPr>
        <p:spPr>
          <a:xfrm xmlns:a="http://schemas.openxmlformats.org/drawingml/2006/main">
            <a:off x="933450" y="7842428"/>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Lab group-ը այդ հոսքի ներսում բաժանված աշխատանքային ենթախումբն է</a:t>
            </a:r>
          </a:p>
        </p:txBody>
      </p:sp>
      <p:sp>
        <p:nvSpPr>
          <p:cNvPr id="36" name="">
            <a:extLst xmlns:a="http://schemas.openxmlformats.org/drawingml/2006/main">
              <a:ext uri="{FF2B5EF4-FFF2-40B4-BE49-F238E27FC236}">
                <a16:creationId xmlns:a16="http://schemas.microsoft.com/office/drawing/2014/main" id="{4BD2A370-1F6E-47DE-B7F2-24E7E42040DA}"/>
              </a:ext>
            </a:extLst>
          </p:cNvPr>
          <p:cNvSpPr>
            <a:spLocks xmlns:a="http://schemas.openxmlformats.org/drawingml/2006/main" noGrp="1"/>
          </p:cNvSpPr>
          <p:nvPr/>
        </p:nvSpPr>
        <p:spPr>
          <a:xfrm xmlns:a="http://schemas.openxmlformats.org/drawingml/2006/main">
            <a:off x="6172200" y="6954088"/>
            <a:ext cx="5276850" cy="1742694"/>
          </a:xfrm>
          <a:prstGeom xmlns:a="http://schemas.openxmlformats.org/drawingml/2006/main" prst="roundRect">
            <a:avLst>
              <a:gd name="adj" fmla="val 9838"/>
            </a:avLst>
          </a:prstGeom>
          <a:solidFill xmlns:a="http://schemas.openxmlformats.org/drawingml/2006/main">
            <a:srgbClr val="EDF5FF"/>
          </a:solidFill>
          <a:ln xmlns:a="http://schemas.openxmlformats.org/drawingml/2006/main" w="9525">
            <a:solidFill>
              <a:srgbClr val="DCE7F4"/>
            </a:solidFill>
            <a:prstDash val="solid"/>
          </a:ln>
        </p:spPr>
      </p:sp>
      <p:sp>
        <p:nvSpPr>
          <p:cNvPr id="37" name="">
            <a:extLst xmlns:a="http://schemas.openxmlformats.org/drawingml/2006/main">
              <a:ext uri="{FF2B5EF4-FFF2-40B4-BE49-F238E27FC236}">
                <a16:creationId xmlns:a16="http://schemas.microsoft.com/office/drawing/2014/main" id="{B556F050-1C6D-4AC5-A5C0-E5D190A19B2B}"/>
              </a:ext>
            </a:extLst>
          </p:cNvPr>
          <p:cNvSpPr>
            <a:spLocks xmlns:a="http://schemas.openxmlformats.org/drawingml/2006/main" noGrp="1"/>
          </p:cNvSpPr>
          <p:nvPr/>
        </p:nvSpPr>
        <p:spPr>
          <a:xfrm xmlns:a="http://schemas.openxmlformats.org/drawingml/2006/main">
            <a:off x="6362700" y="7144588"/>
            <a:ext cx="133350" cy="133350"/>
          </a:xfrm>
          <a:prstGeom xmlns:a="http://schemas.openxmlformats.org/drawingml/2006/main" prst="ellipse">
            <a:avLst/>
          </a:prstGeom>
          <a:solidFill xmlns:a="http://schemas.openxmlformats.org/drawingml/2006/main">
            <a:srgbClr val="2F8F69"/>
          </a:solidFill>
        </p:spPr>
      </p:sp>
      <p:sp>
        <p:nvSpPr>
          <p:cNvPr id="38" name="">
            <a:extLst xmlns:a="http://schemas.openxmlformats.org/drawingml/2006/main">
              <a:ext uri="{FF2B5EF4-FFF2-40B4-BE49-F238E27FC236}">
                <a16:creationId xmlns:a16="http://schemas.microsoft.com/office/drawing/2014/main" id="{03CA3F26-54C0-4A9E-8E60-234F6BB2D58A}"/>
              </a:ext>
            </a:extLst>
          </p:cNvPr>
          <p:cNvSpPr>
            <a:spLocks xmlns:a="http://schemas.openxmlformats.org/drawingml/2006/main" noGrp="1"/>
          </p:cNvSpPr>
          <p:nvPr/>
        </p:nvSpPr>
        <p:spPr>
          <a:xfrm xmlns:a="http://schemas.openxmlformats.org/drawingml/2006/main">
            <a:off x="6591300" y="7144588"/>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սա կարևոր է</a:t>
            </a:r>
          </a:p>
        </p:txBody>
      </p:sp>
      <p:sp>
        <p:nvSpPr>
          <p:cNvPr id="39" name="">
            <a:extLst xmlns:a="http://schemas.openxmlformats.org/drawingml/2006/main">
              <a:ext uri="{FF2B5EF4-FFF2-40B4-BE49-F238E27FC236}">
                <a16:creationId xmlns:a16="http://schemas.microsoft.com/office/drawing/2014/main" id="{D9139A55-F8CC-4FAD-8A23-3913DE1CA139}"/>
              </a:ext>
            </a:extLst>
          </p:cNvPr>
          <p:cNvSpPr>
            <a:spLocks xmlns:a="http://schemas.openxmlformats.org/drawingml/2006/main" noGrp="1"/>
          </p:cNvSpPr>
          <p:nvPr/>
        </p:nvSpPr>
        <p:spPr>
          <a:xfrm xmlns:a="http://schemas.openxmlformats.org/drawingml/2006/main">
            <a:off x="6362700" y="7505776"/>
            <a:ext cx="48958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Նույն ակադեմիական խմբի տարբեր lab group-ներ կարող են ունենալ տարբեր դասախոսներ</a:t>
            </a:r>
          </a:p>
        </p:txBody>
      </p:sp>
      <p:sp>
        <p:nvSpPr>
          <p:cNvPr id="40" name="">
            <a:extLst xmlns:a="http://schemas.openxmlformats.org/drawingml/2006/main">
              <a:ext uri="{FF2B5EF4-FFF2-40B4-BE49-F238E27FC236}">
                <a16:creationId xmlns:a16="http://schemas.microsoft.com/office/drawing/2014/main" id="{3D944D7D-BE0F-468A-87B6-E46C2E1180DF}"/>
              </a:ext>
            </a:extLst>
          </p:cNvPr>
          <p:cNvSpPr>
            <a:spLocks xmlns:a="http://schemas.openxmlformats.org/drawingml/2006/main" noGrp="1"/>
          </p:cNvSpPr>
          <p:nvPr/>
        </p:nvSpPr>
        <p:spPr>
          <a:xfrm xmlns:a="http://schemas.openxmlformats.org/drawingml/2006/main">
            <a:off x="6362700" y="8053654"/>
            <a:ext cx="48958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Ուսանողի ճիշտ լաբորատորներն ու արդյունքները կախված են հենց այս բաժանումից</a:t>
            </a:r>
          </a:p>
        </p:txBody>
      </p:sp>
      <p:sp>
        <p:nvSpPr>
          <p:cNvPr id="41" name="">
            <a:extLst xmlns:a="http://schemas.openxmlformats.org/drawingml/2006/main">
              <a:ext uri="{FF2B5EF4-FFF2-40B4-BE49-F238E27FC236}">
                <a16:creationId xmlns:a16="http://schemas.microsoft.com/office/drawing/2014/main" id="{7D337F2C-DB15-4C85-A440-EDD022BACCE3}"/>
              </a:ext>
            </a:extLst>
          </p:cNvPr>
          <p:cNvSpPr>
            <a:spLocks xmlns:a="http://schemas.openxmlformats.org/drawingml/2006/main" noGrp="1"/>
          </p:cNvSpPr>
          <p:nvPr/>
        </p:nvSpPr>
        <p:spPr>
          <a:xfrm xmlns:a="http://schemas.openxmlformats.org/drawingml/2006/main">
            <a:off x="742950" y="8868232"/>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2" name="">
            <a:extLst xmlns:a="http://schemas.openxmlformats.org/drawingml/2006/main">
              <a:ext uri="{FF2B5EF4-FFF2-40B4-BE49-F238E27FC236}">
                <a16:creationId xmlns:a16="http://schemas.microsoft.com/office/drawing/2014/main" id="{68B13973-D754-4DCC-9356-11445FA6FDE6}"/>
              </a:ext>
            </a:extLst>
          </p:cNvPr>
          <p:cNvSpPr>
            <a:spLocks xmlns:a="http://schemas.openxmlformats.org/drawingml/2006/main" noGrp="1"/>
          </p:cNvSpPr>
          <p:nvPr/>
        </p:nvSpPr>
        <p:spPr>
          <a:xfrm xmlns:a="http://schemas.openxmlformats.org/drawingml/2006/main">
            <a:off x="10306050" y="8868232"/>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07</a:t>
            </a:r>
          </a:p>
        </p:txBody>
      </p:sp>
    </p:spTree>
    <p:extLst>
      <p:ext uri="{BB962C8B-B14F-4D97-AF65-F5344CB8AC3E}">
        <p14:creationId xmlns:p14="http://schemas.microsoft.com/office/powerpoint/2010/main" val="11391686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C64AD6-FBD6-4293-942A-F78A0C5B3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779A6DFD-8BF3-4AD0-AD38-51E1A162D4C0}"/>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4F59CCD4-53C5-4C4D-B2FB-644E8D8FE6EE}"/>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431647FD-10C7-4C12-845E-6EE098A3A07D}"/>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EF02AF5D-3620-4574-AF20-DBCE3832B4A6}"/>
              </a:ext>
            </a:extLst>
          </p:cNvPr>
          <p:cNvSpPr>
            <a:spLocks xmlns:a="http://schemas.openxmlformats.org/drawingml/2006/main" noGrp="1"/>
          </p:cNvSpPr>
          <p:nvPr/>
        </p:nvSpPr>
        <p:spPr>
          <a:xfrm xmlns:a="http://schemas.openxmlformats.org/drawingml/2006/main">
            <a:off x="819150" y="952500"/>
            <a:ext cx="717518"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Առարկաներ</a:t>
            </a:r>
          </a:p>
        </p:txBody>
      </p:sp>
      <p:sp>
        <p:nvSpPr>
          <p:cNvPr id="6" name="">
            <a:extLst xmlns:a="http://schemas.openxmlformats.org/drawingml/2006/main">
              <a:ext uri="{FF2B5EF4-FFF2-40B4-BE49-F238E27FC236}">
                <a16:creationId xmlns:a16="http://schemas.microsoft.com/office/drawing/2014/main" id="{9195F782-6FE5-40CF-B979-842652C286AC}"/>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`subjects` աղյուսակը</a:t>
            </a:r>
          </a:p>
        </p:txBody>
      </p:sp>
      <p:sp>
        <p:nvSpPr>
          <p:cNvPr id="7" name="">
            <a:extLst xmlns:a="http://schemas.openxmlformats.org/drawingml/2006/main">
              <a:ext uri="{FF2B5EF4-FFF2-40B4-BE49-F238E27FC236}">
                <a16:creationId xmlns:a16="http://schemas.microsoft.com/office/drawing/2014/main" id="{FE825DD2-81F3-4F4D-8B59-C8ECA38010E4}"/>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Այստեղ պահվում է առարկան որպես կատալոգային միավոր, ոչ թե որպես կոնկրետ անցկացվող դասընթաց</a:t>
            </a:r>
          </a:p>
        </p:txBody>
      </p:sp>
      <p:sp>
        <p:nvSpPr>
          <p:cNvPr id="8" name="">
            <a:extLst xmlns:a="http://schemas.openxmlformats.org/drawingml/2006/main">
              <a:ext uri="{FF2B5EF4-FFF2-40B4-BE49-F238E27FC236}">
                <a16:creationId xmlns:a16="http://schemas.microsoft.com/office/drawing/2014/main" id="{8D93DDB6-634E-4DF3-ADBE-6B40A00BB7F3}"/>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B68D4411-3E02-4A07-A7DF-FF35456E6FD1}"/>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08</a:t>
            </a:r>
          </a:p>
        </p:txBody>
      </p:sp>
      <p:sp>
        <p:nvSpPr>
          <p:cNvPr id="10" name="">
            <a:extLst xmlns:a="http://schemas.openxmlformats.org/drawingml/2006/main">
              <a:ext uri="{FF2B5EF4-FFF2-40B4-BE49-F238E27FC236}">
                <a16:creationId xmlns:a16="http://schemas.microsoft.com/office/drawing/2014/main" id="{34BD175B-4FB4-4F99-8A99-1E55CBC71160}"/>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C2448EFE-9F5B-4821-907B-D3A9DF44809E}"/>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931BE581-B253-4CCD-B0CC-5D5AC6A54038}"/>
              </a:ext>
            </a:extLst>
          </p:cNvPr>
          <p:cNvSpPr>
            <a:spLocks xmlns:a="http://schemas.openxmlformats.org/drawingml/2006/main" noGrp="1"/>
          </p:cNvSpPr>
          <p:nvPr/>
        </p:nvSpPr>
        <p:spPr>
          <a:xfrm xmlns:a="http://schemas.openxmlformats.org/drawingml/2006/main">
            <a:off x="742950" y="2064639"/>
            <a:ext cx="1333500" cy="525780"/>
          </a:xfrm>
          <a:prstGeom xmlns:a="http://schemas.openxmlformats.org/drawingml/2006/main" prst="roundRect">
            <a:avLst>
              <a:gd name="adj" fmla="val 21739"/>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7D8EC687-1045-4FAD-B3D4-8761C63C6E72}"/>
              </a:ext>
            </a:extLst>
          </p:cNvPr>
          <p:cNvSpPr>
            <a:spLocks xmlns:a="http://schemas.openxmlformats.org/drawingml/2006/main" noGrp="1"/>
          </p:cNvSpPr>
          <p:nvPr/>
        </p:nvSpPr>
        <p:spPr>
          <a:xfrm xmlns:a="http://schemas.openxmlformats.org/drawingml/2006/main">
            <a:off x="857250" y="2178939"/>
            <a:ext cx="960596"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`subjects` դաշտ</a:t>
            </a:r>
          </a:p>
        </p:txBody>
      </p:sp>
      <p:sp>
        <p:nvSpPr>
          <p:cNvPr id="14" name="">
            <a:extLst xmlns:a="http://schemas.openxmlformats.org/drawingml/2006/main">
              <a:ext uri="{FF2B5EF4-FFF2-40B4-BE49-F238E27FC236}">
                <a16:creationId xmlns:a16="http://schemas.microsoft.com/office/drawing/2014/main" id="{D7B76A7C-58A9-4C67-A80A-401934CA5A02}"/>
              </a:ext>
            </a:extLst>
          </p:cNvPr>
          <p:cNvSpPr>
            <a:spLocks xmlns:a="http://schemas.openxmlformats.org/drawingml/2006/main" noGrp="1"/>
          </p:cNvSpPr>
          <p:nvPr/>
        </p:nvSpPr>
        <p:spPr>
          <a:xfrm xmlns:a="http://schemas.openxmlformats.org/drawingml/2006/main">
            <a:off x="2152650" y="2064639"/>
            <a:ext cx="2590800" cy="525780"/>
          </a:xfrm>
          <a:prstGeom xmlns:a="http://schemas.openxmlformats.org/drawingml/2006/main" prst="roundRect">
            <a:avLst>
              <a:gd name="adj" fmla="val 21739"/>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0FCD51E4-5221-41E9-ACE7-24DD0DB37799}"/>
              </a:ext>
            </a:extLst>
          </p:cNvPr>
          <p:cNvSpPr>
            <a:spLocks xmlns:a="http://schemas.openxmlformats.org/drawingml/2006/main" noGrp="1"/>
          </p:cNvSpPr>
          <p:nvPr/>
        </p:nvSpPr>
        <p:spPr>
          <a:xfrm xmlns:a="http://schemas.openxmlformats.org/drawingml/2006/main">
            <a:off x="2266950" y="2178939"/>
            <a:ext cx="99117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Բացատրություն</a:t>
            </a:r>
          </a:p>
        </p:txBody>
      </p:sp>
      <p:sp>
        <p:nvSpPr>
          <p:cNvPr id="16" name="">
            <a:extLst xmlns:a="http://schemas.openxmlformats.org/drawingml/2006/main">
              <a:ext uri="{FF2B5EF4-FFF2-40B4-BE49-F238E27FC236}">
                <a16:creationId xmlns:a16="http://schemas.microsoft.com/office/drawing/2014/main" id="{34CA3B87-B559-472E-ACFA-900EDC635CA9}"/>
              </a:ext>
            </a:extLst>
          </p:cNvPr>
          <p:cNvSpPr>
            <a:spLocks xmlns:a="http://schemas.openxmlformats.org/drawingml/2006/main" noGrp="1"/>
          </p:cNvSpPr>
          <p:nvPr/>
        </p:nvSpPr>
        <p:spPr>
          <a:xfrm xmlns:a="http://schemas.openxmlformats.org/drawingml/2006/main">
            <a:off x="742950" y="2666619"/>
            <a:ext cx="1333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6C4E78DB-F897-4EC3-B8A7-4DBD8BB09D40}"/>
              </a:ext>
            </a:extLst>
          </p:cNvPr>
          <p:cNvSpPr>
            <a:spLocks xmlns:a="http://schemas.openxmlformats.org/drawingml/2006/main" noGrp="1"/>
          </p:cNvSpPr>
          <p:nvPr/>
        </p:nvSpPr>
        <p:spPr>
          <a:xfrm xmlns:a="http://schemas.openxmlformats.org/drawingml/2006/main">
            <a:off x="857250" y="2780919"/>
            <a:ext cx="1104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code</a:t>
            </a:r>
          </a:p>
        </p:txBody>
      </p:sp>
      <p:sp>
        <p:nvSpPr>
          <p:cNvPr id="18" name="">
            <a:extLst xmlns:a="http://schemas.openxmlformats.org/drawingml/2006/main">
              <a:ext uri="{FF2B5EF4-FFF2-40B4-BE49-F238E27FC236}">
                <a16:creationId xmlns:a16="http://schemas.microsoft.com/office/drawing/2014/main" id="{5BE34CAC-FF8C-4505-90B5-D95A83D91F1B}"/>
              </a:ext>
            </a:extLst>
          </p:cNvPr>
          <p:cNvSpPr>
            <a:spLocks xmlns:a="http://schemas.openxmlformats.org/drawingml/2006/main" noGrp="1"/>
          </p:cNvSpPr>
          <p:nvPr/>
        </p:nvSpPr>
        <p:spPr>
          <a:xfrm xmlns:a="http://schemas.openxmlformats.org/drawingml/2006/main">
            <a:off x="2152650" y="2666619"/>
            <a:ext cx="2590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46727DAF-F73A-40A6-893B-7CE72AE3A67E}"/>
              </a:ext>
            </a:extLst>
          </p:cNvPr>
          <p:cNvSpPr>
            <a:spLocks xmlns:a="http://schemas.openxmlformats.org/drawingml/2006/main" noGrp="1"/>
          </p:cNvSpPr>
          <p:nvPr/>
        </p:nvSpPr>
        <p:spPr>
          <a:xfrm xmlns:a="http://schemas.openxmlformats.org/drawingml/2006/main">
            <a:off x="2266950" y="2780919"/>
            <a:ext cx="2362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Առարկայի կոդ</a:t>
            </a:r>
          </a:p>
        </p:txBody>
      </p:sp>
      <p:sp>
        <p:nvSpPr>
          <p:cNvPr id="20" name="">
            <a:extLst xmlns:a="http://schemas.openxmlformats.org/drawingml/2006/main">
              <a:ext uri="{FF2B5EF4-FFF2-40B4-BE49-F238E27FC236}">
                <a16:creationId xmlns:a16="http://schemas.microsoft.com/office/drawing/2014/main" id="{0159506F-ECCB-4FE2-91DC-D0A8CA47DA0F}"/>
              </a:ext>
            </a:extLst>
          </p:cNvPr>
          <p:cNvSpPr>
            <a:spLocks xmlns:a="http://schemas.openxmlformats.org/drawingml/2006/main" noGrp="1"/>
          </p:cNvSpPr>
          <p:nvPr/>
        </p:nvSpPr>
        <p:spPr>
          <a:xfrm xmlns:a="http://schemas.openxmlformats.org/drawingml/2006/main">
            <a:off x="742950" y="3182645"/>
            <a:ext cx="1333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5ED7861F-FB66-423B-A994-985BE4A289BC}"/>
              </a:ext>
            </a:extLst>
          </p:cNvPr>
          <p:cNvSpPr>
            <a:spLocks xmlns:a="http://schemas.openxmlformats.org/drawingml/2006/main" noGrp="1"/>
          </p:cNvSpPr>
          <p:nvPr/>
        </p:nvSpPr>
        <p:spPr>
          <a:xfrm xmlns:a="http://schemas.openxmlformats.org/drawingml/2006/main">
            <a:off x="857250" y="3296945"/>
            <a:ext cx="1104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name</a:t>
            </a:r>
          </a:p>
        </p:txBody>
      </p:sp>
      <p:sp>
        <p:nvSpPr>
          <p:cNvPr id="22" name="">
            <a:extLst xmlns:a="http://schemas.openxmlformats.org/drawingml/2006/main">
              <a:ext uri="{FF2B5EF4-FFF2-40B4-BE49-F238E27FC236}">
                <a16:creationId xmlns:a16="http://schemas.microsoft.com/office/drawing/2014/main" id="{0492DFED-E65B-4CFE-8901-C3C181760CC3}"/>
              </a:ext>
            </a:extLst>
          </p:cNvPr>
          <p:cNvSpPr>
            <a:spLocks xmlns:a="http://schemas.openxmlformats.org/drawingml/2006/main" noGrp="1"/>
          </p:cNvSpPr>
          <p:nvPr/>
        </p:nvSpPr>
        <p:spPr>
          <a:xfrm xmlns:a="http://schemas.openxmlformats.org/drawingml/2006/main">
            <a:off x="2152650" y="3182645"/>
            <a:ext cx="2590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469EAF7B-559B-4874-86CE-B60796FB32EE}"/>
              </a:ext>
            </a:extLst>
          </p:cNvPr>
          <p:cNvSpPr>
            <a:spLocks xmlns:a="http://schemas.openxmlformats.org/drawingml/2006/main" noGrp="1"/>
          </p:cNvSpPr>
          <p:nvPr/>
        </p:nvSpPr>
        <p:spPr>
          <a:xfrm xmlns:a="http://schemas.openxmlformats.org/drawingml/2006/main">
            <a:off x="2266950" y="3296945"/>
            <a:ext cx="2362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Առարկայի անվանում</a:t>
            </a:r>
          </a:p>
        </p:txBody>
      </p:sp>
      <p:sp>
        <p:nvSpPr>
          <p:cNvPr id="24" name="">
            <a:extLst xmlns:a="http://schemas.openxmlformats.org/drawingml/2006/main">
              <a:ext uri="{FF2B5EF4-FFF2-40B4-BE49-F238E27FC236}">
                <a16:creationId xmlns:a16="http://schemas.microsoft.com/office/drawing/2014/main" id="{C2020300-4125-42C0-9FAA-3B06E6FAEFBD}"/>
              </a:ext>
            </a:extLst>
          </p:cNvPr>
          <p:cNvSpPr>
            <a:spLocks xmlns:a="http://schemas.openxmlformats.org/drawingml/2006/main" noGrp="1"/>
          </p:cNvSpPr>
          <p:nvPr/>
        </p:nvSpPr>
        <p:spPr>
          <a:xfrm xmlns:a="http://schemas.openxmlformats.org/drawingml/2006/main">
            <a:off x="742950" y="3755822"/>
            <a:ext cx="4000500" cy="1561643"/>
          </a:xfrm>
          <a:prstGeom xmlns:a="http://schemas.openxmlformats.org/drawingml/2006/main" prst="roundRect">
            <a:avLst>
              <a:gd name="adj" fmla="val 10979"/>
            </a:avLst>
          </a:prstGeom>
          <a:solidFill xmlns:a="http://schemas.openxmlformats.org/drawingml/2006/main">
            <a:srgbClr val="FFFAF3"/>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52E22FF5-AC58-4BF1-976F-0FD7924C965D}"/>
              </a:ext>
            </a:extLst>
          </p:cNvPr>
          <p:cNvSpPr>
            <a:spLocks xmlns:a="http://schemas.openxmlformats.org/drawingml/2006/main" noGrp="1"/>
          </p:cNvSpPr>
          <p:nvPr/>
        </p:nvSpPr>
        <p:spPr>
          <a:xfrm xmlns:a="http://schemas.openxmlformats.org/drawingml/2006/main">
            <a:off x="933450" y="3946322"/>
            <a:ext cx="133350" cy="133350"/>
          </a:xfrm>
          <a:prstGeom xmlns:a="http://schemas.openxmlformats.org/drawingml/2006/main" prst="ellipse">
            <a:avLst/>
          </a:prstGeom>
          <a:solidFill xmlns:a="http://schemas.openxmlformats.org/drawingml/2006/main">
            <a:srgbClr val="D98F2B"/>
          </a:solidFill>
        </p:spPr>
      </p:sp>
      <p:sp>
        <p:nvSpPr>
          <p:cNvPr id="26" name="">
            <a:extLst xmlns:a="http://schemas.openxmlformats.org/drawingml/2006/main">
              <a:ext uri="{FF2B5EF4-FFF2-40B4-BE49-F238E27FC236}">
                <a16:creationId xmlns:a16="http://schemas.microsoft.com/office/drawing/2014/main" id="{865B1896-6CD5-4435-B9C3-E1C5F861BB3A}"/>
              </a:ext>
            </a:extLst>
          </p:cNvPr>
          <p:cNvSpPr>
            <a:spLocks xmlns:a="http://schemas.openxmlformats.org/drawingml/2006/main" noGrp="1"/>
          </p:cNvSpPr>
          <p:nvPr/>
        </p:nvSpPr>
        <p:spPr>
          <a:xfrm xmlns:a="http://schemas.openxmlformats.org/drawingml/2006/main">
            <a:off x="1162050" y="3946322"/>
            <a:ext cx="33909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Այս աղյուսակը ինչ չի ասում</a:t>
            </a:r>
          </a:p>
        </p:txBody>
      </p:sp>
      <p:sp>
        <p:nvSpPr>
          <p:cNvPr id="27" name="">
            <a:extLst xmlns:a="http://schemas.openxmlformats.org/drawingml/2006/main">
              <a:ext uri="{FF2B5EF4-FFF2-40B4-BE49-F238E27FC236}">
                <a16:creationId xmlns:a16="http://schemas.microsoft.com/office/drawing/2014/main" id="{90D00C08-43AD-427B-A411-9B5ED3730E98}"/>
              </a:ext>
            </a:extLst>
          </p:cNvPr>
          <p:cNvSpPr>
            <a:spLocks xmlns:a="http://schemas.openxmlformats.org/drawingml/2006/main" noGrp="1"/>
          </p:cNvSpPr>
          <p:nvPr/>
        </p:nvSpPr>
        <p:spPr>
          <a:xfrm xmlns:a="http://schemas.openxmlformats.org/drawingml/2006/main">
            <a:off x="933450" y="4307510"/>
            <a:ext cx="36195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Այն չի ասում որ խմբին է դասավանդվում</a:t>
            </a:r>
          </a:p>
        </p:txBody>
      </p:sp>
      <p:sp>
        <p:nvSpPr>
          <p:cNvPr id="28" name="">
            <a:extLst xmlns:a="http://schemas.openxmlformats.org/drawingml/2006/main">
              <a:ext uri="{FF2B5EF4-FFF2-40B4-BE49-F238E27FC236}">
                <a16:creationId xmlns:a16="http://schemas.microsoft.com/office/drawing/2014/main" id="{27A8FF38-40D6-4913-8A9D-10D1CED20362}"/>
              </a:ext>
            </a:extLst>
          </p:cNvPr>
          <p:cNvSpPr>
            <a:spLocks xmlns:a="http://schemas.openxmlformats.org/drawingml/2006/main" noGrp="1"/>
          </p:cNvSpPr>
          <p:nvPr/>
        </p:nvSpPr>
        <p:spPr>
          <a:xfrm xmlns:a="http://schemas.openxmlformats.org/drawingml/2006/main">
            <a:off x="933450" y="4644161"/>
            <a:ext cx="361950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Այն չի ասում որ տարում կամ որ կիսամյակում է գնում</a:t>
            </a:r>
          </a:p>
        </p:txBody>
      </p:sp>
      <p:sp>
        <p:nvSpPr>
          <p:cNvPr id="29" name="">
            <a:extLst xmlns:a="http://schemas.openxmlformats.org/drawingml/2006/main">
              <a:ext uri="{FF2B5EF4-FFF2-40B4-BE49-F238E27FC236}">
                <a16:creationId xmlns:a16="http://schemas.microsoft.com/office/drawing/2014/main" id="{A14FA286-1563-4711-BECD-A41DDFBEB589}"/>
              </a:ext>
            </a:extLst>
          </p:cNvPr>
          <p:cNvSpPr>
            <a:spLocks xmlns:a="http://schemas.openxmlformats.org/drawingml/2006/main" noGrp="1"/>
          </p:cNvSpPr>
          <p:nvPr/>
        </p:nvSpPr>
        <p:spPr>
          <a:xfrm xmlns:a="http://schemas.openxmlformats.org/drawingml/2006/main">
            <a:off x="4914900" y="2064639"/>
            <a:ext cx="6534150" cy="1290066"/>
          </a:xfrm>
          <a:prstGeom xmlns:a="http://schemas.openxmlformats.org/drawingml/2006/main" prst="roundRect">
            <a:avLst>
              <a:gd name="adj" fmla="val 13290"/>
            </a:avLst>
          </a:prstGeom>
          <a:solidFill xmlns:a="http://schemas.openxmlformats.org/drawingml/2006/main">
            <a:srgbClr val="F8FBFF"/>
          </a:solidFill>
          <a:ln xmlns:a="http://schemas.openxmlformats.org/drawingml/2006/main" w="9525">
            <a:solidFill>
              <a:srgbClr val="DCE7F4"/>
            </a:solidFill>
            <a:prstDash val="solid"/>
          </a:ln>
        </p:spPr>
      </p:sp>
      <p:sp>
        <p:nvSpPr>
          <p:cNvPr id="30" name="">
            <a:extLst xmlns:a="http://schemas.openxmlformats.org/drawingml/2006/main">
              <a:ext uri="{FF2B5EF4-FFF2-40B4-BE49-F238E27FC236}">
                <a16:creationId xmlns:a16="http://schemas.microsoft.com/office/drawing/2014/main" id="{A79ACBD5-92B6-4288-89A9-1B3D096FB9CE}"/>
              </a:ext>
            </a:extLst>
          </p:cNvPr>
          <p:cNvSpPr>
            <a:spLocks xmlns:a="http://schemas.openxmlformats.org/drawingml/2006/main" noGrp="1"/>
          </p:cNvSpPr>
          <p:nvPr/>
        </p:nvSpPr>
        <p:spPr>
          <a:xfrm xmlns:a="http://schemas.openxmlformats.org/drawingml/2006/main">
            <a:off x="5105400" y="2255139"/>
            <a:ext cx="133350" cy="133350"/>
          </a:xfrm>
          <a:prstGeom xmlns:a="http://schemas.openxmlformats.org/drawingml/2006/main" prst="ellipse">
            <a:avLst/>
          </a:prstGeom>
          <a:solidFill xmlns:a="http://schemas.openxmlformats.org/drawingml/2006/main">
            <a:srgbClr val="0F4C81"/>
          </a:solidFill>
        </p:spPr>
      </p:sp>
      <p:sp>
        <p:nvSpPr>
          <p:cNvPr id="31" name="">
            <a:extLst xmlns:a="http://schemas.openxmlformats.org/drawingml/2006/main">
              <a:ext uri="{FF2B5EF4-FFF2-40B4-BE49-F238E27FC236}">
                <a16:creationId xmlns:a16="http://schemas.microsoft.com/office/drawing/2014/main" id="{8590B7DF-51EE-4449-8F40-C0926CCCCE4D}"/>
              </a:ext>
            </a:extLst>
          </p:cNvPr>
          <p:cNvSpPr>
            <a:spLocks xmlns:a="http://schemas.openxmlformats.org/drawingml/2006/main" noGrp="1"/>
          </p:cNvSpPr>
          <p:nvPr/>
        </p:nvSpPr>
        <p:spPr>
          <a:xfrm xmlns:a="http://schemas.openxmlformats.org/drawingml/2006/main">
            <a:off x="5334000" y="2255139"/>
            <a:ext cx="59245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 է ասում `subjects`-ը</a:t>
            </a:r>
          </a:p>
        </p:txBody>
      </p:sp>
      <p:sp>
        <p:nvSpPr>
          <p:cNvPr id="32" name="">
            <a:extLst xmlns:a="http://schemas.openxmlformats.org/drawingml/2006/main">
              <a:ext uri="{FF2B5EF4-FFF2-40B4-BE49-F238E27FC236}">
                <a16:creationId xmlns:a16="http://schemas.microsoft.com/office/drawing/2014/main" id="{5308115E-C180-4726-A7EF-49FE1C888C56}"/>
              </a:ext>
            </a:extLst>
          </p:cNvPr>
          <p:cNvSpPr>
            <a:spLocks xmlns:a="http://schemas.openxmlformats.org/drawingml/2006/main" noGrp="1"/>
          </p:cNvSpPr>
          <p:nvPr/>
        </p:nvSpPr>
        <p:spPr>
          <a:xfrm xmlns:a="http://schemas.openxmlformats.org/drawingml/2006/main">
            <a:off x="5105400" y="2616327"/>
            <a:ext cx="61531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Սա առարկայի մաքուր կատալոգային նկարագրությունն է</a:t>
            </a:r>
          </a:p>
        </p:txBody>
      </p:sp>
      <p:sp>
        <p:nvSpPr>
          <p:cNvPr id="33" name="">
            <a:extLst xmlns:a="http://schemas.openxmlformats.org/drawingml/2006/main">
              <a:ext uri="{FF2B5EF4-FFF2-40B4-BE49-F238E27FC236}">
                <a16:creationId xmlns:a16="http://schemas.microsoft.com/office/drawing/2014/main" id="{7D53EABB-8030-48D4-BF74-81B03B609586}"/>
              </a:ext>
            </a:extLst>
          </p:cNvPr>
          <p:cNvSpPr>
            <a:spLocks xmlns:a="http://schemas.openxmlformats.org/drawingml/2006/main" noGrp="1"/>
          </p:cNvSpPr>
          <p:nvPr/>
        </p:nvSpPr>
        <p:spPr>
          <a:xfrm xmlns:a="http://schemas.openxmlformats.org/drawingml/2006/main">
            <a:off x="5105400" y="2937891"/>
            <a:ext cx="61531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Միևնույն առարկան կարող է հետո բազմիցս օգտագործվել տարբեր offering-ներում</a:t>
            </a:r>
          </a:p>
        </p:txBody>
      </p:sp>
      <p:sp>
        <p:nvSpPr>
          <p:cNvPr id="34" name="">
            <a:extLst xmlns:a="http://schemas.openxmlformats.org/drawingml/2006/main">
              <a:ext uri="{FF2B5EF4-FFF2-40B4-BE49-F238E27FC236}">
                <a16:creationId xmlns:a16="http://schemas.microsoft.com/office/drawing/2014/main" id="{AE910432-0A2F-42E3-9743-4458D70D0C39}"/>
              </a:ext>
            </a:extLst>
          </p:cNvPr>
          <p:cNvSpPr>
            <a:spLocks xmlns:a="http://schemas.openxmlformats.org/drawingml/2006/main" noGrp="1"/>
          </p:cNvSpPr>
          <p:nvPr/>
        </p:nvSpPr>
        <p:spPr>
          <a:xfrm xmlns:a="http://schemas.openxmlformats.org/drawingml/2006/main">
            <a:off x="4914900" y="3507105"/>
            <a:ext cx="6534150" cy="1224991"/>
          </a:xfrm>
          <a:prstGeom xmlns:a="http://schemas.openxmlformats.org/drawingml/2006/main" prst="roundRect">
            <a:avLst>
              <a:gd name="adj" fmla="val 13996"/>
            </a:avLst>
          </a:prstGeom>
          <a:solidFill xmlns:a="http://schemas.openxmlformats.org/drawingml/2006/main">
            <a:srgbClr val="FFFFFF"/>
          </a:solidFill>
          <a:ln xmlns:a="http://schemas.openxmlformats.org/drawingml/2006/main" w="9525">
            <a:solidFill>
              <a:srgbClr val="DCE7F4"/>
            </a:solidFill>
            <a:prstDash val="solid"/>
          </a:ln>
        </p:spPr>
      </p:sp>
      <p:sp>
        <p:nvSpPr>
          <p:cNvPr id="35" name="">
            <a:extLst xmlns:a="http://schemas.openxmlformats.org/drawingml/2006/main">
              <a:ext uri="{FF2B5EF4-FFF2-40B4-BE49-F238E27FC236}">
                <a16:creationId xmlns:a16="http://schemas.microsoft.com/office/drawing/2014/main" id="{8446FED3-AF35-42C6-9D3E-EDF0D4C1442A}"/>
              </a:ext>
            </a:extLst>
          </p:cNvPr>
          <p:cNvSpPr>
            <a:spLocks xmlns:a="http://schemas.openxmlformats.org/drawingml/2006/main" noGrp="1"/>
          </p:cNvSpPr>
          <p:nvPr/>
        </p:nvSpPr>
        <p:spPr>
          <a:xfrm xmlns:a="http://schemas.openxmlformats.org/drawingml/2006/main">
            <a:off x="5105400" y="3697605"/>
            <a:ext cx="133350" cy="133350"/>
          </a:xfrm>
          <a:prstGeom xmlns:a="http://schemas.openxmlformats.org/drawingml/2006/main" prst="ellipse">
            <a:avLst/>
          </a:prstGeom>
          <a:solidFill xmlns:a="http://schemas.openxmlformats.org/drawingml/2006/main">
            <a:srgbClr val="2F8F69"/>
          </a:solidFill>
        </p:spPr>
      </p:sp>
      <p:sp>
        <p:nvSpPr>
          <p:cNvPr id="36" name="">
            <a:extLst xmlns:a="http://schemas.openxmlformats.org/drawingml/2006/main">
              <a:ext uri="{FF2B5EF4-FFF2-40B4-BE49-F238E27FC236}">
                <a16:creationId xmlns:a16="http://schemas.microsoft.com/office/drawing/2014/main" id="{F9F39357-86E3-488C-B30B-02F9BBDC936B}"/>
              </a:ext>
            </a:extLst>
          </p:cNvPr>
          <p:cNvSpPr>
            <a:spLocks xmlns:a="http://schemas.openxmlformats.org/drawingml/2006/main" noGrp="1"/>
          </p:cNvSpPr>
          <p:nvPr/>
        </p:nvSpPr>
        <p:spPr>
          <a:xfrm xmlns:a="http://schemas.openxmlformats.org/drawingml/2006/main">
            <a:off x="5334000" y="3697605"/>
            <a:ext cx="59245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է այս ձևը ճիշտ</a:t>
            </a:r>
          </a:p>
        </p:txBody>
      </p:sp>
      <p:sp>
        <p:nvSpPr>
          <p:cNvPr id="37" name="">
            <a:extLst xmlns:a="http://schemas.openxmlformats.org/drawingml/2006/main">
              <a:ext uri="{FF2B5EF4-FFF2-40B4-BE49-F238E27FC236}">
                <a16:creationId xmlns:a16="http://schemas.microsoft.com/office/drawing/2014/main" id="{79F39838-CF38-4C4A-9450-8E3A9355BCB3}"/>
              </a:ext>
            </a:extLst>
          </p:cNvPr>
          <p:cNvSpPr>
            <a:spLocks xmlns:a="http://schemas.openxmlformats.org/drawingml/2006/main" noGrp="1"/>
          </p:cNvSpPr>
          <p:nvPr/>
        </p:nvSpPr>
        <p:spPr>
          <a:xfrm xmlns:a="http://schemas.openxmlformats.org/drawingml/2006/main">
            <a:off x="5105400" y="4058793"/>
            <a:ext cx="61531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Քանի որ նույն առարկան չպետք է կրկնվի ամեն խմբի կամ ամեն կիսամյակի համար առանձին</a:t>
            </a:r>
          </a:p>
        </p:txBody>
      </p:sp>
      <p:sp>
        <p:nvSpPr>
          <p:cNvPr id="38" name="">
            <a:extLst xmlns:a="http://schemas.openxmlformats.org/drawingml/2006/main">
              <a:ext uri="{FF2B5EF4-FFF2-40B4-BE49-F238E27FC236}">
                <a16:creationId xmlns:a16="http://schemas.microsoft.com/office/drawing/2014/main" id="{A8BC1CF7-6BF5-4934-B93B-7AC01DB706A5}"/>
              </a:ext>
            </a:extLst>
          </p:cNvPr>
          <p:cNvSpPr>
            <a:spLocks xmlns:a="http://schemas.openxmlformats.org/drawingml/2006/main" noGrp="1"/>
          </p:cNvSpPr>
          <p:nvPr/>
        </p:nvSpPr>
        <p:spPr>
          <a:xfrm xmlns:a="http://schemas.openxmlformats.org/drawingml/2006/main">
            <a:off x="4914900" y="4884496"/>
            <a:ext cx="653415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39" name="">
            <a:extLst xmlns:a="http://schemas.openxmlformats.org/drawingml/2006/main">
              <a:ext uri="{FF2B5EF4-FFF2-40B4-BE49-F238E27FC236}">
                <a16:creationId xmlns:a16="http://schemas.microsoft.com/office/drawing/2014/main" id="{7FA42922-F019-4501-A8D0-529DCFBABBF6}"/>
              </a:ext>
            </a:extLst>
          </p:cNvPr>
          <p:cNvSpPr>
            <a:spLocks xmlns:a="http://schemas.openxmlformats.org/drawingml/2006/main" noGrp="1"/>
          </p:cNvSpPr>
          <p:nvPr/>
        </p:nvSpPr>
        <p:spPr>
          <a:xfrm xmlns:a="http://schemas.openxmlformats.org/drawingml/2006/main">
            <a:off x="5105400" y="5074996"/>
            <a:ext cx="133350" cy="133350"/>
          </a:xfrm>
          <a:prstGeom xmlns:a="http://schemas.openxmlformats.org/drawingml/2006/main" prst="ellipse">
            <a:avLst/>
          </a:prstGeom>
          <a:solidFill xmlns:a="http://schemas.openxmlformats.org/drawingml/2006/main">
            <a:srgbClr val="D98F2B"/>
          </a:solidFill>
        </p:spPr>
      </p:sp>
      <p:sp>
        <p:nvSpPr>
          <p:cNvPr id="40" name="">
            <a:extLst xmlns:a="http://schemas.openxmlformats.org/drawingml/2006/main">
              <a:ext uri="{FF2B5EF4-FFF2-40B4-BE49-F238E27FC236}">
                <a16:creationId xmlns:a16="http://schemas.microsoft.com/office/drawing/2014/main" id="{A42D0D58-C026-4261-9701-262F85810796}"/>
              </a:ext>
            </a:extLst>
          </p:cNvPr>
          <p:cNvSpPr>
            <a:spLocks xmlns:a="http://schemas.openxmlformats.org/drawingml/2006/main" noGrp="1"/>
          </p:cNvSpPr>
          <p:nvPr/>
        </p:nvSpPr>
        <p:spPr>
          <a:xfrm xmlns:a="http://schemas.openxmlformats.org/drawingml/2006/main">
            <a:off x="5334000" y="5074996"/>
            <a:ext cx="59245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Screenshot placeholder</a:t>
            </a:r>
          </a:p>
        </p:txBody>
      </p:sp>
      <p:sp>
        <p:nvSpPr>
          <p:cNvPr id="41" name="">
            <a:extLst xmlns:a="http://schemas.openxmlformats.org/drawingml/2006/main">
              <a:ext uri="{FF2B5EF4-FFF2-40B4-BE49-F238E27FC236}">
                <a16:creationId xmlns:a16="http://schemas.microsoft.com/office/drawing/2014/main" id="{F99B26D4-0C58-4D2B-A388-5CBEE4A29918}"/>
              </a:ext>
            </a:extLst>
          </p:cNvPr>
          <p:cNvSpPr>
            <a:spLocks xmlns:a="http://schemas.openxmlformats.org/drawingml/2006/main" noGrp="1"/>
          </p:cNvSpPr>
          <p:nvPr/>
        </p:nvSpPr>
        <p:spPr>
          <a:xfrm xmlns:a="http://schemas.openxmlformats.org/drawingml/2006/main">
            <a:off x="5105400" y="5436184"/>
            <a:ext cx="61531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Տեղադրել `subjects` table screenshot</a:t>
            </a:r>
          </a:p>
        </p:txBody>
      </p:sp>
      <p:sp>
        <p:nvSpPr>
          <p:cNvPr id="42" name="">
            <a:extLst xmlns:a="http://schemas.openxmlformats.org/drawingml/2006/main">
              <a:ext uri="{FF2B5EF4-FFF2-40B4-BE49-F238E27FC236}">
                <a16:creationId xmlns:a16="http://schemas.microsoft.com/office/drawing/2014/main" id="{1775B3D1-F92F-4006-9A4D-2F9A776B54BA}"/>
              </a:ext>
            </a:extLst>
          </p:cNvPr>
          <p:cNvSpPr>
            <a:spLocks xmlns:a="http://schemas.openxmlformats.org/drawingml/2006/main" noGrp="1"/>
          </p:cNvSpPr>
          <p:nvPr/>
        </p:nvSpPr>
        <p:spPr>
          <a:xfrm xmlns:a="http://schemas.openxmlformats.org/drawingml/2006/main">
            <a:off x="742950" y="6039536"/>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3" name="">
            <a:extLst xmlns:a="http://schemas.openxmlformats.org/drawingml/2006/main">
              <a:ext uri="{FF2B5EF4-FFF2-40B4-BE49-F238E27FC236}">
                <a16:creationId xmlns:a16="http://schemas.microsoft.com/office/drawing/2014/main" id="{0ADC18C1-00FC-4868-8415-745BAED190AF}"/>
              </a:ext>
            </a:extLst>
          </p:cNvPr>
          <p:cNvSpPr>
            <a:spLocks xmlns:a="http://schemas.openxmlformats.org/drawingml/2006/main" noGrp="1"/>
          </p:cNvSpPr>
          <p:nvPr/>
        </p:nvSpPr>
        <p:spPr>
          <a:xfrm xmlns:a="http://schemas.openxmlformats.org/drawingml/2006/main">
            <a:off x="10306050" y="6039536"/>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08</a:t>
            </a:r>
          </a:p>
        </p:txBody>
      </p:sp>
    </p:spTree>
    <p:extLst>
      <p:ext uri="{BB962C8B-B14F-4D97-AF65-F5344CB8AC3E}">
        <p14:creationId xmlns:p14="http://schemas.microsoft.com/office/powerpoint/2010/main" val="9496664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BA6AB8-D0FA-4B00-A013-A95F1F4EFD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435D3577-2FB0-40BF-8719-59F8C43EB2AB}"/>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B80F1399-5F21-419E-B6FD-48AC47B8D4E7}"/>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1867D897-DC87-4B0E-B564-7F940000FF35}"/>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8AA27934-211B-49BB-9597-D68A1052BA71}"/>
              </a:ext>
            </a:extLst>
          </p:cNvPr>
          <p:cNvSpPr>
            <a:spLocks xmlns:a="http://schemas.openxmlformats.org/drawingml/2006/main" noGrp="1"/>
          </p:cNvSpPr>
          <p:nvPr/>
        </p:nvSpPr>
        <p:spPr>
          <a:xfrm xmlns:a="http://schemas.openxmlformats.org/drawingml/2006/main">
            <a:off x="819150" y="952500"/>
            <a:ext cx="776573"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Առաջարկներ</a:t>
            </a:r>
          </a:p>
        </p:txBody>
      </p:sp>
      <p:sp>
        <p:nvSpPr>
          <p:cNvPr id="6" name="">
            <a:extLst xmlns:a="http://schemas.openxmlformats.org/drawingml/2006/main">
              <a:ext uri="{FF2B5EF4-FFF2-40B4-BE49-F238E27FC236}">
                <a16:creationId xmlns:a16="http://schemas.microsoft.com/office/drawing/2014/main" id="{10A7B2A1-44D3-407F-B1E3-9E8794CD2501}"/>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`subject_group_offerings` աղյուսակը</a:t>
            </a:r>
          </a:p>
        </p:txBody>
      </p:sp>
      <p:sp>
        <p:nvSpPr>
          <p:cNvPr id="7" name="">
            <a:extLst xmlns:a="http://schemas.openxmlformats.org/drawingml/2006/main">
              <a:ext uri="{FF2B5EF4-FFF2-40B4-BE49-F238E27FC236}">
                <a16:creationId xmlns:a16="http://schemas.microsoft.com/office/drawing/2014/main" id="{8C65FDFB-8C27-4D48-B803-5F48E597A696}"/>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Սա ասում է, թե կոնկրետ որ առարկան է դասավանդվում կոնկրետ որ խմբին, որ տարում և որ կիսամյակում</a:t>
            </a:r>
          </a:p>
        </p:txBody>
      </p:sp>
      <p:sp>
        <p:nvSpPr>
          <p:cNvPr id="8" name="">
            <a:extLst xmlns:a="http://schemas.openxmlformats.org/drawingml/2006/main">
              <a:ext uri="{FF2B5EF4-FFF2-40B4-BE49-F238E27FC236}">
                <a16:creationId xmlns:a16="http://schemas.microsoft.com/office/drawing/2014/main" id="{6DFA2F52-3E1D-4B36-A17E-CBE46787795D}"/>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A47A166E-091B-4055-8D88-68D2C18C76C7}"/>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09</a:t>
            </a:r>
          </a:p>
        </p:txBody>
      </p:sp>
      <p:sp>
        <p:nvSpPr>
          <p:cNvPr id="10" name="">
            <a:extLst xmlns:a="http://schemas.openxmlformats.org/drawingml/2006/main">
              <a:ext uri="{FF2B5EF4-FFF2-40B4-BE49-F238E27FC236}">
                <a16:creationId xmlns:a16="http://schemas.microsoft.com/office/drawing/2014/main" id="{78014B82-0960-4583-8E9C-2B3CA71839B5}"/>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261653B1-5736-4183-B10D-11E36B10B57C}"/>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BD033012-6E72-4016-B693-F11E5342AD24}"/>
              </a:ext>
            </a:extLst>
          </p:cNvPr>
          <p:cNvSpPr>
            <a:spLocks xmlns:a="http://schemas.openxmlformats.org/drawingml/2006/main" noGrp="1"/>
          </p:cNvSpPr>
          <p:nvPr/>
        </p:nvSpPr>
        <p:spPr>
          <a:xfrm xmlns:a="http://schemas.openxmlformats.org/drawingml/2006/main">
            <a:off x="742950" y="2064639"/>
            <a:ext cx="1714500" cy="377190"/>
          </a:xfrm>
          <a:prstGeom xmlns:a="http://schemas.openxmlformats.org/drawingml/2006/main" prst="roundRect">
            <a:avLst>
              <a:gd name="adj" fmla="val 30303"/>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389C1B03-1A9D-4071-9A4D-29A1C1E2AEC2}"/>
              </a:ext>
            </a:extLst>
          </p:cNvPr>
          <p:cNvSpPr>
            <a:spLocks xmlns:a="http://schemas.openxmlformats.org/drawingml/2006/main" noGrp="1"/>
          </p:cNvSpPr>
          <p:nvPr/>
        </p:nvSpPr>
        <p:spPr>
          <a:xfrm xmlns:a="http://schemas.openxmlformats.org/drawingml/2006/main">
            <a:off x="857250" y="2178939"/>
            <a:ext cx="1491234"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`subject_group_offerings`</a:t>
            </a:r>
          </a:p>
        </p:txBody>
      </p:sp>
      <p:sp>
        <p:nvSpPr>
          <p:cNvPr id="14" name="">
            <a:extLst xmlns:a="http://schemas.openxmlformats.org/drawingml/2006/main">
              <a:ext uri="{FF2B5EF4-FFF2-40B4-BE49-F238E27FC236}">
                <a16:creationId xmlns:a16="http://schemas.microsoft.com/office/drawing/2014/main" id="{7DEF3A4E-DED1-4B59-BD79-3794ACC8C03D}"/>
              </a:ext>
            </a:extLst>
          </p:cNvPr>
          <p:cNvSpPr>
            <a:spLocks xmlns:a="http://schemas.openxmlformats.org/drawingml/2006/main" noGrp="1"/>
          </p:cNvSpPr>
          <p:nvPr/>
        </p:nvSpPr>
        <p:spPr>
          <a:xfrm xmlns:a="http://schemas.openxmlformats.org/drawingml/2006/main">
            <a:off x="2533650" y="2064639"/>
            <a:ext cx="2686050" cy="377190"/>
          </a:xfrm>
          <a:prstGeom xmlns:a="http://schemas.openxmlformats.org/drawingml/2006/main" prst="roundRect">
            <a:avLst>
              <a:gd name="adj" fmla="val 30303"/>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ABE125CA-9B2A-4A98-8BD9-B00C1B55066F}"/>
              </a:ext>
            </a:extLst>
          </p:cNvPr>
          <p:cNvSpPr>
            <a:spLocks xmlns:a="http://schemas.openxmlformats.org/drawingml/2006/main" noGrp="1"/>
          </p:cNvSpPr>
          <p:nvPr/>
        </p:nvSpPr>
        <p:spPr>
          <a:xfrm xmlns:a="http://schemas.openxmlformats.org/drawingml/2006/main">
            <a:off x="2647950" y="2178939"/>
            <a:ext cx="99117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Բացատրություն</a:t>
            </a:r>
          </a:p>
        </p:txBody>
      </p:sp>
      <p:sp>
        <p:nvSpPr>
          <p:cNvPr id="16" name="">
            <a:extLst xmlns:a="http://schemas.openxmlformats.org/drawingml/2006/main">
              <a:ext uri="{FF2B5EF4-FFF2-40B4-BE49-F238E27FC236}">
                <a16:creationId xmlns:a16="http://schemas.microsoft.com/office/drawing/2014/main" id="{D55DFE41-9733-433B-9D19-B0EBE625175C}"/>
              </a:ext>
            </a:extLst>
          </p:cNvPr>
          <p:cNvSpPr>
            <a:spLocks xmlns:a="http://schemas.openxmlformats.org/drawingml/2006/main" noGrp="1"/>
          </p:cNvSpPr>
          <p:nvPr/>
        </p:nvSpPr>
        <p:spPr>
          <a:xfrm xmlns:a="http://schemas.openxmlformats.org/drawingml/2006/main">
            <a:off x="742950" y="2518029"/>
            <a:ext cx="1714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C0218C59-6BBB-40C8-A048-1A5BF52CB2FA}"/>
              </a:ext>
            </a:extLst>
          </p:cNvPr>
          <p:cNvSpPr>
            <a:spLocks xmlns:a="http://schemas.openxmlformats.org/drawingml/2006/main" noGrp="1"/>
          </p:cNvSpPr>
          <p:nvPr/>
        </p:nvSpPr>
        <p:spPr>
          <a:xfrm xmlns:a="http://schemas.openxmlformats.org/drawingml/2006/main">
            <a:off x="857250" y="2632329"/>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subject_id</a:t>
            </a:r>
          </a:p>
        </p:txBody>
      </p:sp>
      <p:sp>
        <p:nvSpPr>
          <p:cNvPr id="18" name="">
            <a:extLst xmlns:a="http://schemas.openxmlformats.org/drawingml/2006/main">
              <a:ext uri="{FF2B5EF4-FFF2-40B4-BE49-F238E27FC236}">
                <a16:creationId xmlns:a16="http://schemas.microsoft.com/office/drawing/2014/main" id="{6C9A84F7-83F2-4ABD-B845-C73925C7C3D4}"/>
              </a:ext>
            </a:extLst>
          </p:cNvPr>
          <p:cNvSpPr>
            <a:spLocks xmlns:a="http://schemas.openxmlformats.org/drawingml/2006/main" noGrp="1"/>
          </p:cNvSpPr>
          <p:nvPr/>
        </p:nvSpPr>
        <p:spPr>
          <a:xfrm xmlns:a="http://schemas.openxmlformats.org/drawingml/2006/main">
            <a:off x="2533650" y="2518029"/>
            <a:ext cx="26860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8F45AE34-FAD5-455D-BEFE-76CB16066B60}"/>
              </a:ext>
            </a:extLst>
          </p:cNvPr>
          <p:cNvSpPr>
            <a:spLocks xmlns:a="http://schemas.openxmlformats.org/drawingml/2006/main" noGrp="1"/>
          </p:cNvSpPr>
          <p:nvPr/>
        </p:nvSpPr>
        <p:spPr>
          <a:xfrm xmlns:a="http://schemas.openxmlformats.org/drawingml/2006/main">
            <a:off x="2647950" y="2632329"/>
            <a:ext cx="24574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առարկան է</a:t>
            </a:r>
          </a:p>
        </p:txBody>
      </p:sp>
      <p:sp>
        <p:nvSpPr>
          <p:cNvPr id="20" name="">
            <a:extLst xmlns:a="http://schemas.openxmlformats.org/drawingml/2006/main">
              <a:ext uri="{FF2B5EF4-FFF2-40B4-BE49-F238E27FC236}">
                <a16:creationId xmlns:a16="http://schemas.microsoft.com/office/drawing/2014/main" id="{1BFB577D-0335-4A8A-B7B7-D5A76EF77B47}"/>
              </a:ext>
            </a:extLst>
          </p:cNvPr>
          <p:cNvSpPr>
            <a:spLocks xmlns:a="http://schemas.openxmlformats.org/drawingml/2006/main" noGrp="1"/>
          </p:cNvSpPr>
          <p:nvPr/>
        </p:nvSpPr>
        <p:spPr>
          <a:xfrm xmlns:a="http://schemas.openxmlformats.org/drawingml/2006/main">
            <a:off x="742950" y="3034055"/>
            <a:ext cx="1714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F6BE5145-B101-4BB2-B134-08A77D63C427}"/>
              </a:ext>
            </a:extLst>
          </p:cNvPr>
          <p:cNvSpPr>
            <a:spLocks xmlns:a="http://schemas.openxmlformats.org/drawingml/2006/main" noGrp="1"/>
          </p:cNvSpPr>
          <p:nvPr/>
        </p:nvSpPr>
        <p:spPr>
          <a:xfrm xmlns:a="http://schemas.openxmlformats.org/drawingml/2006/main">
            <a:off x="857250" y="3148355"/>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academic_group_id</a:t>
            </a:r>
          </a:p>
        </p:txBody>
      </p:sp>
      <p:sp>
        <p:nvSpPr>
          <p:cNvPr id="22" name="">
            <a:extLst xmlns:a="http://schemas.openxmlformats.org/drawingml/2006/main">
              <a:ext uri="{FF2B5EF4-FFF2-40B4-BE49-F238E27FC236}">
                <a16:creationId xmlns:a16="http://schemas.microsoft.com/office/drawing/2014/main" id="{DEB45677-AA7B-4779-9705-83EAE1D33BF6}"/>
              </a:ext>
            </a:extLst>
          </p:cNvPr>
          <p:cNvSpPr>
            <a:spLocks xmlns:a="http://schemas.openxmlformats.org/drawingml/2006/main" noGrp="1"/>
          </p:cNvSpPr>
          <p:nvPr/>
        </p:nvSpPr>
        <p:spPr>
          <a:xfrm xmlns:a="http://schemas.openxmlformats.org/drawingml/2006/main">
            <a:off x="2533650" y="3034055"/>
            <a:ext cx="26860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68DE4A06-C0B5-43C8-8038-445C308E61BE}"/>
              </a:ext>
            </a:extLst>
          </p:cNvPr>
          <p:cNvSpPr>
            <a:spLocks xmlns:a="http://schemas.openxmlformats.org/drawingml/2006/main" noGrp="1"/>
          </p:cNvSpPr>
          <p:nvPr/>
        </p:nvSpPr>
        <p:spPr>
          <a:xfrm xmlns:a="http://schemas.openxmlformats.org/drawingml/2006/main">
            <a:off x="2647950" y="3148355"/>
            <a:ext cx="24574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խմբի համար է</a:t>
            </a:r>
          </a:p>
        </p:txBody>
      </p:sp>
      <p:sp>
        <p:nvSpPr>
          <p:cNvPr id="24" name="">
            <a:extLst xmlns:a="http://schemas.openxmlformats.org/drawingml/2006/main">
              <a:ext uri="{FF2B5EF4-FFF2-40B4-BE49-F238E27FC236}">
                <a16:creationId xmlns:a16="http://schemas.microsoft.com/office/drawing/2014/main" id="{16749B41-76C2-497F-A4A8-193F18EC70D0}"/>
              </a:ext>
            </a:extLst>
          </p:cNvPr>
          <p:cNvSpPr>
            <a:spLocks xmlns:a="http://schemas.openxmlformats.org/drawingml/2006/main" noGrp="1"/>
          </p:cNvSpPr>
          <p:nvPr/>
        </p:nvSpPr>
        <p:spPr>
          <a:xfrm xmlns:a="http://schemas.openxmlformats.org/drawingml/2006/main">
            <a:off x="742950" y="3550082"/>
            <a:ext cx="1714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30ADC18A-4263-407F-B76F-41F2D7E1390A}"/>
              </a:ext>
            </a:extLst>
          </p:cNvPr>
          <p:cNvSpPr>
            <a:spLocks xmlns:a="http://schemas.openxmlformats.org/drawingml/2006/main" noGrp="1"/>
          </p:cNvSpPr>
          <p:nvPr/>
        </p:nvSpPr>
        <p:spPr>
          <a:xfrm xmlns:a="http://schemas.openxmlformats.org/drawingml/2006/main">
            <a:off x="857250" y="3664382"/>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academic_year</a:t>
            </a:r>
          </a:p>
        </p:txBody>
      </p:sp>
      <p:sp>
        <p:nvSpPr>
          <p:cNvPr id="26" name="">
            <a:extLst xmlns:a="http://schemas.openxmlformats.org/drawingml/2006/main">
              <a:ext uri="{FF2B5EF4-FFF2-40B4-BE49-F238E27FC236}">
                <a16:creationId xmlns:a16="http://schemas.microsoft.com/office/drawing/2014/main" id="{A1E97AC9-D45F-4C7B-9068-442EBC953E7E}"/>
              </a:ext>
            </a:extLst>
          </p:cNvPr>
          <p:cNvSpPr>
            <a:spLocks xmlns:a="http://schemas.openxmlformats.org/drawingml/2006/main" noGrp="1"/>
          </p:cNvSpPr>
          <p:nvPr/>
        </p:nvSpPr>
        <p:spPr>
          <a:xfrm xmlns:a="http://schemas.openxmlformats.org/drawingml/2006/main">
            <a:off x="2533650" y="3550082"/>
            <a:ext cx="26860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E4B71721-674C-4958-A5E8-496FE8BCCF8A}"/>
              </a:ext>
            </a:extLst>
          </p:cNvPr>
          <p:cNvSpPr>
            <a:spLocks xmlns:a="http://schemas.openxmlformats.org/drawingml/2006/main" noGrp="1"/>
          </p:cNvSpPr>
          <p:nvPr/>
        </p:nvSpPr>
        <p:spPr>
          <a:xfrm xmlns:a="http://schemas.openxmlformats.org/drawingml/2006/main">
            <a:off x="2647950" y="3664382"/>
            <a:ext cx="24574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ուս. տարում է</a:t>
            </a:r>
          </a:p>
        </p:txBody>
      </p:sp>
      <p:sp>
        <p:nvSpPr>
          <p:cNvPr id="28" name="">
            <a:extLst xmlns:a="http://schemas.openxmlformats.org/drawingml/2006/main">
              <a:ext uri="{FF2B5EF4-FFF2-40B4-BE49-F238E27FC236}">
                <a16:creationId xmlns:a16="http://schemas.microsoft.com/office/drawing/2014/main" id="{EBE7657B-8438-4AA4-81EB-78D40FA5ED55}"/>
              </a:ext>
            </a:extLst>
          </p:cNvPr>
          <p:cNvSpPr>
            <a:spLocks xmlns:a="http://schemas.openxmlformats.org/drawingml/2006/main" noGrp="1"/>
          </p:cNvSpPr>
          <p:nvPr/>
        </p:nvSpPr>
        <p:spPr>
          <a:xfrm xmlns:a="http://schemas.openxmlformats.org/drawingml/2006/main">
            <a:off x="742950" y="4066108"/>
            <a:ext cx="1714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1D57387B-A43A-4790-82F6-EE5C55AB5257}"/>
              </a:ext>
            </a:extLst>
          </p:cNvPr>
          <p:cNvSpPr>
            <a:spLocks xmlns:a="http://schemas.openxmlformats.org/drawingml/2006/main" noGrp="1"/>
          </p:cNvSpPr>
          <p:nvPr/>
        </p:nvSpPr>
        <p:spPr>
          <a:xfrm xmlns:a="http://schemas.openxmlformats.org/drawingml/2006/main">
            <a:off x="857250" y="4180408"/>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semester</a:t>
            </a:r>
          </a:p>
        </p:txBody>
      </p:sp>
      <p:sp>
        <p:nvSpPr>
          <p:cNvPr id="30" name="">
            <a:extLst xmlns:a="http://schemas.openxmlformats.org/drawingml/2006/main">
              <a:ext uri="{FF2B5EF4-FFF2-40B4-BE49-F238E27FC236}">
                <a16:creationId xmlns:a16="http://schemas.microsoft.com/office/drawing/2014/main" id="{98D4CE63-465F-46C2-88F1-59BA7CB198F5}"/>
              </a:ext>
            </a:extLst>
          </p:cNvPr>
          <p:cNvSpPr>
            <a:spLocks xmlns:a="http://schemas.openxmlformats.org/drawingml/2006/main" noGrp="1"/>
          </p:cNvSpPr>
          <p:nvPr/>
        </p:nvSpPr>
        <p:spPr>
          <a:xfrm xmlns:a="http://schemas.openxmlformats.org/drawingml/2006/main">
            <a:off x="2533650" y="4066108"/>
            <a:ext cx="26860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31" name="">
            <a:extLst xmlns:a="http://schemas.openxmlformats.org/drawingml/2006/main">
              <a:ext uri="{FF2B5EF4-FFF2-40B4-BE49-F238E27FC236}">
                <a16:creationId xmlns:a16="http://schemas.microsoft.com/office/drawing/2014/main" id="{A38B60A9-6CEE-4435-8D3A-86B6FF619794}"/>
              </a:ext>
            </a:extLst>
          </p:cNvPr>
          <p:cNvSpPr>
            <a:spLocks xmlns:a="http://schemas.openxmlformats.org/drawingml/2006/main" noGrp="1"/>
          </p:cNvSpPr>
          <p:nvPr/>
        </p:nvSpPr>
        <p:spPr>
          <a:xfrm xmlns:a="http://schemas.openxmlformats.org/drawingml/2006/main">
            <a:off x="2647950" y="4180408"/>
            <a:ext cx="24574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կիսամյակում է</a:t>
            </a:r>
          </a:p>
        </p:txBody>
      </p:sp>
      <p:sp>
        <p:nvSpPr>
          <p:cNvPr id="32" name="">
            <a:extLst xmlns:a="http://schemas.openxmlformats.org/drawingml/2006/main">
              <a:ext uri="{FF2B5EF4-FFF2-40B4-BE49-F238E27FC236}">
                <a16:creationId xmlns:a16="http://schemas.microsoft.com/office/drawing/2014/main" id="{21755BF2-0595-4B55-A140-2DF319A6D634}"/>
              </a:ext>
            </a:extLst>
          </p:cNvPr>
          <p:cNvSpPr>
            <a:spLocks xmlns:a="http://schemas.openxmlformats.org/drawingml/2006/main" noGrp="1"/>
          </p:cNvSpPr>
          <p:nvPr/>
        </p:nvSpPr>
        <p:spPr>
          <a:xfrm xmlns:a="http://schemas.openxmlformats.org/drawingml/2006/main">
            <a:off x="742950" y="4582135"/>
            <a:ext cx="17145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33" name="">
            <a:extLst xmlns:a="http://schemas.openxmlformats.org/drawingml/2006/main">
              <a:ext uri="{FF2B5EF4-FFF2-40B4-BE49-F238E27FC236}">
                <a16:creationId xmlns:a16="http://schemas.microsoft.com/office/drawing/2014/main" id="{4C23AD81-F5ED-411E-ABF8-1FD77E2C2348}"/>
              </a:ext>
            </a:extLst>
          </p:cNvPr>
          <p:cNvSpPr>
            <a:spLocks xmlns:a="http://schemas.openxmlformats.org/drawingml/2006/main" noGrp="1"/>
          </p:cNvSpPr>
          <p:nvPr/>
        </p:nvSpPr>
        <p:spPr>
          <a:xfrm xmlns:a="http://schemas.openxmlformats.org/drawingml/2006/main">
            <a:off x="857250" y="4696435"/>
            <a:ext cx="14859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total_grade</a:t>
            </a:r>
          </a:p>
        </p:txBody>
      </p:sp>
      <p:sp>
        <p:nvSpPr>
          <p:cNvPr id="34" name="">
            <a:extLst xmlns:a="http://schemas.openxmlformats.org/drawingml/2006/main">
              <a:ext uri="{FF2B5EF4-FFF2-40B4-BE49-F238E27FC236}">
                <a16:creationId xmlns:a16="http://schemas.microsoft.com/office/drawing/2014/main" id="{E8EBB43E-8E46-4802-B150-B932742C26DC}"/>
              </a:ext>
            </a:extLst>
          </p:cNvPr>
          <p:cNvSpPr>
            <a:spLocks xmlns:a="http://schemas.openxmlformats.org/drawingml/2006/main" noGrp="1"/>
          </p:cNvSpPr>
          <p:nvPr/>
        </p:nvSpPr>
        <p:spPr>
          <a:xfrm xmlns:a="http://schemas.openxmlformats.org/drawingml/2006/main">
            <a:off x="2533650" y="4582135"/>
            <a:ext cx="26860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35" name="">
            <a:extLst xmlns:a="http://schemas.openxmlformats.org/drawingml/2006/main">
              <a:ext uri="{FF2B5EF4-FFF2-40B4-BE49-F238E27FC236}">
                <a16:creationId xmlns:a16="http://schemas.microsoft.com/office/drawing/2014/main" id="{8004D271-EF51-4754-9459-19E4BD89A881}"/>
              </a:ext>
            </a:extLst>
          </p:cNvPr>
          <p:cNvSpPr>
            <a:spLocks xmlns:a="http://schemas.openxmlformats.org/drawingml/2006/main" noGrp="1"/>
          </p:cNvSpPr>
          <p:nvPr/>
        </p:nvSpPr>
        <p:spPr>
          <a:xfrm xmlns:a="http://schemas.openxmlformats.org/drawingml/2006/main">
            <a:off x="2647950" y="4696435"/>
            <a:ext cx="24574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Ընդհանուր գնահատման չափը</a:t>
            </a:r>
          </a:p>
        </p:txBody>
      </p:sp>
      <p:sp>
        <p:nvSpPr>
          <p:cNvPr id="36" name="">
            <a:extLst xmlns:a="http://schemas.openxmlformats.org/drawingml/2006/main">
              <a:ext uri="{FF2B5EF4-FFF2-40B4-BE49-F238E27FC236}">
                <a16:creationId xmlns:a16="http://schemas.microsoft.com/office/drawing/2014/main" id="{6E92140B-736B-4A10-AF87-0823BD5D64F6}"/>
              </a:ext>
            </a:extLst>
          </p:cNvPr>
          <p:cNvSpPr>
            <a:spLocks xmlns:a="http://schemas.openxmlformats.org/drawingml/2006/main" noGrp="1"/>
          </p:cNvSpPr>
          <p:nvPr/>
        </p:nvSpPr>
        <p:spPr>
          <a:xfrm xmlns:a="http://schemas.openxmlformats.org/drawingml/2006/main">
            <a:off x="5391150" y="2064639"/>
            <a:ext cx="6057900" cy="1611630"/>
          </a:xfrm>
          <a:prstGeom xmlns:a="http://schemas.openxmlformats.org/drawingml/2006/main" prst="roundRect">
            <a:avLst>
              <a:gd name="adj" fmla="val 10638"/>
            </a:avLst>
          </a:prstGeom>
          <a:solidFill xmlns:a="http://schemas.openxmlformats.org/drawingml/2006/main">
            <a:srgbClr val="F8FBFF"/>
          </a:solidFill>
          <a:ln xmlns:a="http://schemas.openxmlformats.org/drawingml/2006/main" w="9525">
            <a:solidFill>
              <a:srgbClr val="DCE7F4"/>
            </a:solidFill>
            <a:prstDash val="solid"/>
          </a:ln>
        </p:spPr>
      </p:sp>
      <p:sp>
        <p:nvSpPr>
          <p:cNvPr id="37" name="">
            <a:extLst xmlns:a="http://schemas.openxmlformats.org/drawingml/2006/main">
              <a:ext uri="{FF2B5EF4-FFF2-40B4-BE49-F238E27FC236}">
                <a16:creationId xmlns:a16="http://schemas.microsoft.com/office/drawing/2014/main" id="{25DF3987-7079-4712-A74F-D80FC01987D5}"/>
              </a:ext>
            </a:extLst>
          </p:cNvPr>
          <p:cNvSpPr>
            <a:spLocks xmlns:a="http://schemas.openxmlformats.org/drawingml/2006/main" noGrp="1"/>
          </p:cNvSpPr>
          <p:nvPr/>
        </p:nvSpPr>
        <p:spPr>
          <a:xfrm xmlns:a="http://schemas.openxmlformats.org/drawingml/2006/main">
            <a:off x="5581650" y="2255139"/>
            <a:ext cx="133350" cy="133350"/>
          </a:xfrm>
          <a:prstGeom xmlns:a="http://schemas.openxmlformats.org/drawingml/2006/main" prst="ellipse">
            <a:avLst/>
          </a:prstGeom>
          <a:solidFill xmlns:a="http://schemas.openxmlformats.org/drawingml/2006/main">
            <a:srgbClr val="0F4C81"/>
          </a:solidFill>
        </p:spPr>
      </p:sp>
      <p:sp>
        <p:nvSpPr>
          <p:cNvPr id="38" name="">
            <a:extLst xmlns:a="http://schemas.openxmlformats.org/drawingml/2006/main">
              <a:ext uri="{FF2B5EF4-FFF2-40B4-BE49-F238E27FC236}">
                <a16:creationId xmlns:a16="http://schemas.microsoft.com/office/drawing/2014/main" id="{CCE56E59-30E1-4E82-8412-A489D4BD3BE0}"/>
              </a:ext>
            </a:extLst>
          </p:cNvPr>
          <p:cNvSpPr>
            <a:spLocks xmlns:a="http://schemas.openxmlformats.org/drawingml/2006/main" noGrp="1"/>
          </p:cNvSpPr>
          <p:nvPr/>
        </p:nvSpPr>
        <p:spPr>
          <a:xfrm xmlns:a="http://schemas.openxmlformats.org/drawingml/2006/main">
            <a:off x="5810250" y="2255139"/>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Offering-ի բիզնես իմաստը</a:t>
            </a:r>
          </a:p>
        </p:txBody>
      </p:sp>
      <p:sp>
        <p:nvSpPr>
          <p:cNvPr id="39" name="">
            <a:extLst xmlns:a="http://schemas.openxmlformats.org/drawingml/2006/main">
              <a:ext uri="{FF2B5EF4-FFF2-40B4-BE49-F238E27FC236}">
                <a16:creationId xmlns:a16="http://schemas.microsoft.com/office/drawing/2014/main" id="{C213D800-9D81-4A07-8C00-E48800700C54}"/>
              </a:ext>
            </a:extLst>
          </p:cNvPr>
          <p:cNvSpPr>
            <a:spLocks xmlns:a="http://schemas.openxmlformats.org/drawingml/2006/main" noGrp="1"/>
          </p:cNvSpPr>
          <p:nvPr/>
        </p:nvSpPr>
        <p:spPr>
          <a:xfrm xmlns:a="http://schemas.openxmlformats.org/drawingml/2006/main">
            <a:off x="5581650" y="2616327"/>
            <a:ext cx="56769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Սա առարկայի կոնկրետ անցկացումն է</a:t>
            </a:r>
          </a:p>
        </p:txBody>
      </p:sp>
      <p:sp>
        <p:nvSpPr>
          <p:cNvPr id="40" name="">
            <a:extLst xmlns:a="http://schemas.openxmlformats.org/drawingml/2006/main">
              <a:ext uri="{FF2B5EF4-FFF2-40B4-BE49-F238E27FC236}">
                <a16:creationId xmlns:a16="http://schemas.microsoft.com/office/drawing/2014/main" id="{0297D50A-0101-48A8-87BE-3E4B8257A115}"/>
              </a:ext>
            </a:extLst>
          </p:cNvPr>
          <p:cNvSpPr>
            <a:spLocks xmlns:a="http://schemas.openxmlformats.org/drawingml/2006/main" noGrp="1"/>
          </p:cNvSpPr>
          <p:nvPr/>
        </p:nvSpPr>
        <p:spPr>
          <a:xfrm xmlns:a="http://schemas.openxmlformats.org/drawingml/2006/main">
            <a:off x="5581650" y="2937891"/>
            <a:ext cx="56769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Այստեղ արդեն առարկան կապվում է խմբի, տարվա և կիսամյակի հետ</a:t>
            </a:r>
          </a:p>
        </p:txBody>
      </p:sp>
      <p:sp>
        <p:nvSpPr>
          <p:cNvPr id="41" name="">
            <a:extLst xmlns:a="http://schemas.openxmlformats.org/drawingml/2006/main">
              <a:ext uri="{FF2B5EF4-FFF2-40B4-BE49-F238E27FC236}">
                <a16:creationId xmlns:a16="http://schemas.microsoft.com/office/drawing/2014/main" id="{051AE0DD-9144-444D-B070-7E180E433D0F}"/>
              </a:ext>
            </a:extLst>
          </p:cNvPr>
          <p:cNvSpPr>
            <a:spLocks xmlns:a="http://schemas.openxmlformats.org/drawingml/2006/main" noGrp="1"/>
          </p:cNvSpPr>
          <p:nvPr/>
        </p:nvSpPr>
        <p:spPr>
          <a:xfrm xmlns:a="http://schemas.openxmlformats.org/drawingml/2006/main">
            <a:off x="5581650" y="3259455"/>
            <a:ext cx="56769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Հետագա բոլոր ուսումնական գործողությունները կկապվեն հենց offering-ի շուրջ</a:t>
            </a:r>
          </a:p>
        </p:txBody>
      </p:sp>
      <p:sp>
        <p:nvSpPr>
          <p:cNvPr id="42" name="">
            <a:extLst xmlns:a="http://schemas.openxmlformats.org/drawingml/2006/main">
              <a:ext uri="{FF2B5EF4-FFF2-40B4-BE49-F238E27FC236}">
                <a16:creationId xmlns:a16="http://schemas.microsoft.com/office/drawing/2014/main" id="{F3839603-C9E0-4746-AB50-C9549961ED01}"/>
              </a:ext>
            </a:extLst>
          </p:cNvPr>
          <p:cNvSpPr>
            <a:spLocks xmlns:a="http://schemas.openxmlformats.org/drawingml/2006/main" noGrp="1"/>
          </p:cNvSpPr>
          <p:nvPr/>
        </p:nvSpPr>
        <p:spPr>
          <a:xfrm xmlns:a="http://schemas.openxmlformats.org/drawingml/2006/main">
            <a:off x="5391150" y="3828669"/>
            <a:ext cx="605790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43" name="">
            <a:extLst xmlns:a="http://schemas.openxmlformats.org/drawingml/2006/main">
              <a:ext uri="{FF2B5EF4-FFF2-40B4-BE49-F238E27FC236}">
                <a16:creationId xmlns:a16="http://schemas.microsoft.com/office/drawing/2014/main" id="{A5DEE03A-BFF3-419F-9C29-7F4D76CC1421}"/>
              </a:ext>
            </a:extLst>
          </p:cNvPr>
          <p:cNvSpPr>
            <a:spLocks xmlns:a="http://schemas.openxmlformats.org/drawingml/2006/main" noGrp="1"/>
          </p:cNvSpPr>
          <p:nvPr/>
        </p:nvSpPr>
        <p:spPr>
          <a:xfrm xmlns:a="http://schemas.openxmlformats.org/drawingml/2006/main">
            <a:off x="5581650" y="4019169"/>
            <a:ext cx="133350" cy="133350"/>
          </a:xfrm>
          <a:prstGeom xmlns:a="http://schemas.openxmlformats.org/drawingml/2006/main" prst="ellipse">
            <a:avLst/>
          </a:prstGeom>
          <a:solidFill xmlns:a="http://schemas.openxmlformats.org/drawingml/2006/main">
            <a:srgbClr val="D98F2B"/>
          </a:solidFill>
        </p:spPr>
      </p:sp>
      <p:sp>
        <p:nvSpPr>
          <p:cNvPr id="44" name="">
            <a:extLst xmlns:a="http://schemas.openxmlformats.org/drawingml/2006/main">
              <a:ext uri="{FF2B5EF4-FFF2-40B4-BE49-F238E27FC236}">
                <a16:creationId xmlns:a16="http://schemas.microsoft.com/office/drawing/2014/main" id="{F6608B9D-4F4C-4D9F-8757-63E6AF442BD6}"/>
              </a:ext>
            </a:extLst>
          </p:cNvPr>
          <p:cNvSpPr>
            <a:spLocks xmlns:a="http://schemas.openxmlformats.org/drawingml/2006/main" noGrp="1"/>
          </p:cNvSpPr>
          <p:nvPr/>
        </p:nvSpPr>
        <p:spPr>
          <a:xfrm xmlns:a="http://schemas.openxmlformats.org/drawingml/2006/main">
            <a:off x="5810250" y="4019169"/>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45" name="">
            <a:extLst xmlns:a="http://schemas.openxmlformats.org/drawingml/2006/main">
              <a:ext uri="{FF2B5EF4-FFF2-40B4-BE49-F238E27FC236}">
                <a16:creationId xmlns:a16="http://schemas.microsoft.com/office/drawing/2014/main" id="{87120AB5-BAF1-4D6F-B6CB-A59577AA0249}"/>
              </a:ext>
            </a:extLst>
          </p:cNvPr>
          <p:cNvSpPr>
            <a:spLocks xmlns:a="http://schemas.openxmlformats.org/drawingml/2006/main" noGrp="1"/>
          </p:cNvSpPr>
          <p:nvPr/>
        </p:nvSpPr>
        <p:spPr>
          <a:xfrm xmlns:a="http://schemas.openxmlformats.org/drawingml/2006/main">
            <a:off x="5581650" y="4380357"/>
            <a:ext cx="56769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subjects - subject_group_offerings - academic_groups</a:t>
            </a:r>
          </a:p>
        </p:txBody>
      </p:sp>
      <p:sp>
        <p:nvSpPr>
          <p:cNvPr id="46" name="">
            <a:extLst xmlns:a="http://schemas.openxmlformats.org/drawingml/2006/main">
              <a:ext uri="{FF2B5EF4-FFF2-40B4-BE49-F238E27FC236}">
                <a16:creationId xmlns:a16="http://schemas.microsoft.com/office/drawing/2014/main" id="{EE9CD25A-E4DB-4288-9EFC-F49EBAB9B767}"/>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7" name="">
            <a:extLst xmlns:a="http://schemas.openxmlformats.org/drawingml/2006/main">
              <a:ext uri="{FF2B5EF4-FFF2-40B4-BE49-F238E27FC236}">
                <a16:creationId xmlns:a16="http://schemas.microsoft.com/office/drawing/2014/main" id="{9C684A08-89F9-44FB-BE58-BC0B00750CFA}"/>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09</a:t>
            </a:r>
          </a:p>
        </p:txBody>
      </p:sp>
    </p:spTree>
    <p:extLst>
      <p:ext uri="{BB962C8B-B14F-4D97-AF65-F5344CB8AC3E}">
        <p14:creationId xmlns:p14="http://schemas.microsoft.com/office/powerpoint/2010/main" val="208584065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194522-8686-4FD8-96C4-4CA71385AB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AEED9451-4681-4EAD-9049-0F37C87F3071}"/>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D24007B2-6958-428A-9F1B-70E85A126FCA}"/>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9BD79D82-8EC2-4FA7-B475-E93B6F9BBE6C}"/>
              </a:ext>
            </a:extLst>
          </p:cNvPr>
          <p:cNvSpPr>
            <a:spLocks xmlns:a="http://schemas.openxmlformats.org/drawingml/2006/main" noGrp="1"/>
          </p:cNvSpPr>
          <p:nvPr/>
        </p:nvSpPr>
        <p:spPr>
          <a:xfrm xmlns:a="http://schemas.openxmlformats.org/drawingml/2006/main">
            <a:off x="742950" y="876300"/>
            <a:ext cx="1428750" cy="390906"/>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2CB589E5-F2F8-4DC1-B701-07B8DDF6F2A3}"/>
              </a:ext>
            </a:extLst>
          </p:cNvPr>
          <p:cNvSpPr>
            <a:spLocks xmlns:a="http://schemas.openxmlformats.org/drawingml/2006/main" noGrp="1"/>
          </p:cNvSpPr>
          <p:nvPr/>
        </p:nvSpPr>
        <p:spPr>
          <a:xfrm xmlns:a="http://schemas.openxmlformats.org/drawingml/2006/main">
            <a:off x="819150" y="952500"/>
            <a:ext cx="1411129"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Դասախոսի նշանակումը</a:t>
            </a:r>
          </a:p>
        </p:txBody>
      </p:sp>
      <p:sp>
        <p:nvSpPr>
          <p:cNvPr id="6" name="">
            <a:extLst xmlns:a="http://schemas.openxmlformats.org/drawingml/2006/main">
              <a:ext uri="{FF2B5EF4-FFF2-40B4-BE49-F238E27FC236}">
                <a16:creationId xmlns:a16="http://schemas.microsoft.com/office/drawing/2014/main" id="{149A5D91-6CBB-4C58-90F3-6B772F4976FC}"/>
              </a:ext>
            </a:extLst>
          </p:cNvPr>
          <p:cNvSpPr>
            <a:spLocks xmlns:a="http://schemas.openxmlformats.org/drawingml/2006/main" noGrp="1"/>
          </p:cNvSpPr>
          <p:nvPr/>
        </p:nvSpPr>
        <p:spPr>
          <a:xfrm xmlns:a="http://schemas.openxmlformats.org/drawingml/2006/main">
            <a:off x="2286000" y="876300"/>
            <a:ext cx="7524750" cy="3909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`teacher_subject_assignments` աղյուսակը</a:t>
            </a:r>
          </a:p>
        </p:txBody>
      </p:sp>
      <p:sp>
        <p:nvSpPr>
          <p:cNvPr id="7" name="">
            <a:extLst xmlns:a="http://schemas.openxmlformats.org/drawingml/2006/main">
              <a:ext uri="{FF2B5EF4-FFF2-40B4-BE49-F238E27FC236}">
                <a16:creationId xmlns:a16="http://schemas.microsoft.com/office/drawing/2014/main" id="{2DB70D9F-19DE-47DC-8802-58BC5F5543BE}"/>
              </a:ext>
            </a:extLst>
          </p:cNvPr>
          <p:cNvSpPr>
            <a:spLocks xmlns:a="http://schemas.openxmlformats.org/drawingml/2006/main" noGrp="1"/>
          </p:cNvSpPr>
          <p:nvPr/>
        </p:nvSpPr>
        <p:spPr>
          <a:xfrm xmlns:a="http://schemas.openxmlformats.org/drawingml/2006/main">
            <a:off x="742950" y="1343406"/>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Այստեղ որոշվում է, թե որ դասախոսն է տվյալ առարկայի առաջարկի մեջ աշխատում կոնկրետ որ lab group-ի հետ</a:t>
            </a:r>
          </a:p>
        </p:txBody>
      </p:sp>
      <p:sp>
        <p:nvSpPr>
          <p:cNvPr id="8" name="">
            <a:extLst xmlns:a="http://schemas.openxmlformats.org/drawingml/2006/main">
              <a:ext uri="{FF2B5EF4-FFF2-40B4-BE49-F238E27FC236}">
                <a16:creationId xmlns:a16="http://schemas.microsoft.com/office/drawing/2014/main" id="{C6ED25B8-7275-47B3-99DE-C058037D87AF}"/>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F87B5879-5840-4805-B861-97867FE2E101}"/>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10</a:t>
            </a:r>
          </a:p>
        </p:txBody>
      </p:sp>
      <p:sp>
        <p:nvSpPr>
          <p:cNvPr id="10" name="">
            <a:extLst xmlns:a="http://schemas.openxmlformats.org/drawingml/2006/main">
              <a:ext uri="{FF2B5EF4-FFF2-40B4-BE49-F238E27FC236}">
                <a16:creationId xmlns:a16="http://schemas.microsoft.com/office/drawing/2014/main" id="{1D3793C7-ADDB-41FB-89D6-D2CFCE8C0B11}"/>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BCCD7E53-5D1C-4C85-B919-F37A0B421851}"/>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86CDDA79-91A3-4DB1-8CEA-EA777F2716D6}"/>
              </a:ext>
            </a:extLst>
          </p:cNvPr>
          <p:cNvSpPr>
            <a:spLocks xmlns:a="http://schemas.openxmlformats.org/drawingml/2006/main" noGrp="1"/>
          </p:cNvSpPr>
          <p:nvPr/>
        </p:nvSpPr>
        <p:spPr>
          <a:xfrm xmlns:a="http://schemas.openxmlformats.org/drawingml/2006/main">
            <a:off x="742950" y="2064639"/>
            <a:ext cx="31369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13" name="">
            <a:extLst xmlns:a="http://schemas.openxmlformats.org/drawingml/2006/main">
              <a:ext uri="{FF2B5EF4-FFF2-40B4-BE49-F238E27FC236}">
                <a16:creationId xmlns:a16="http://schemas.microsoft.com/office/drawing/2014/main" id="{0096758D-DE03-44AC-A956-0B91FB790F2C}"/>
              </a:ext>
            </a:extLst>
          </p:cNvPr>
          <p:cNvSpPr>
            <a:spLocks xmlns:a="http://schemas.openxmlformats.org/drawingml/2006/main" noGrp="1"/>
          </p:cNvSpPr>
          <p:nvPr/>
        </p:nvSpPr>
        <p:spPr>
          <a:xfrm xmlns:a="http://schemas.openxmlformats.org/drawingml/2006/main">
            <a:off x="876300" y="2197989"/>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FD04545C-0620-4CB6-88F1-D1FFB798A6C8}"/>
              </a:ext>
            </a:extLst>
          </p:cNvPr>
          <p:cNvSpPr>
            <a:spLocks xmlns:a="http://schemas.openxmlformats.org/drawingml/2006/main" noGrp="1"/>
          </p:cNvSpPr>
          <p:nvPr/>
        </p:nvSpPr>
        <p:spPr>
          <a:xfrm xmlns:a="http://schemas.openxmlformats.org/drawingml/2006/main">
            <a:off x="1104900" y="2197989"/>
            <a:ext cx="26416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Teacher</a:t>
            </a:r>
          </a:p>
        </p:txBody>
      </p:sp>
      <p:sp>
        <p:nvSpPr>
          <p:cNvPr id="15" name="">
            <a:extLst xmlns:a="http://schemas.openxmlformats.org/drawingml/2006/main">
              <a:ext uri="{FF2B5EF4-FFF2-40B4-BE49-F238E27FC236}">
                <a16:creationId xmlns:a16="http://schemas.microsoft.com/office/drawing/2014/main" id="{EAEABFFF-0106-4E80-AB31-AC6A6981BD25}"/>
              </a:ext>
            </a:extLst>
          </p:cNvPr>
          <p:cNvSpPr>
            <a:spLocks xmlns:a="http://schemas.openxmlformats.org/drawingml/2006/main" noGrp="1"/>
          </p:cNvSpPr>
          <p:nvPr/>
        </p:nvSpPr>
        <p:spPr>
          <a:xfrm xmlns:a="http://schemas.openxmlformats.org/drawingml/2006/main">
            <a:off x="876300" y="2531745"/>
            <a:ext cx="28702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Ով է դասավանդում</a:t>
            </a:r>
          </a:p>
        </p:txBody>
      </p:sp>
      <p:sp>
        <p:nvSpPr>
          <p:cNvPr id="16" name="">
            <a:extLst xmlns:a="http://schemas.openxmlformats.org/drawingml/2006/main">
              <a:ext uri="{FF2B5EF4-FFF2-40B4-BE49-F238E27FC236}">
                <a16:creationId xmlns:a16="http://schemas.microsoft.com/office/drawing/2014/main" id="{B443B39E-F587-40F3-AD8E-3D42F03EE5C1}"/>
              </a:ext>
            </a:extLst>
          </p:cNvPr>
          <p:cNvSpPr>
            <a:spLocks xmlns:a="http://schemas.openxmlformats.org/drawingml/2006/main" noGrp="1"/>
          </p:cNvSpPr>
          <p:nvPr/>
        </p:nvSpPr>
        <p:spPr>
          <a:xfrm xmlns:a="http://schemas.openxmlformats.org/drawingml/2006/main">
            <a:off x="3975100" y="2064639"/>
            <a:ext cx="457200" cy="79659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17" name="">
            <a:extLst xmlns:a="http://schemas.openxmlformats.org/drawingml/2006/main">
              <a:ext uri="{FF2B5EF4-FFF2-40B4-BE49-F238E27FC236}">
                <a16:creationId xmlns:a16="http://schemas.microsoft.com/office/drawing/2014/main" id="{A23918D8-F3DC-4BBC-9D07-F7E8EAD2FA21}"/>
              </a:ext>
            </a:extLst>
          </p:cNvPr>
          <p:cNvSpPr>
            <a:spLocks xmlns:a="http://schemas.openxmlformats.org/drawingml/2006/main" noGrp="1"/>
          </p:cNvSpPr>
          <p:nvPr/>
        </p:nvSpPr>
        <p:spPr>
          <a:xfrm xmlns:a="http://schemas.openxmlformats.org/drawingml/2006/main">
            <a:off x="4527550" y="2064639"/>
            <a:ext cx="3136900" cy="796595"/>
          </a:xfrm>
          <a:prstGeom xmlns:a="http://schemas.openxmlformats.org/drawingml/2006/main" prst="roundRect">
            <a:avLst>
              <a:gd name="adj" fmla="val 21523"/>
            </a:avLst>
          </a:prstGeom>
          <a:solidFill xmlns:a="http://schemas.openxmlformats.org/drawingml/2006/main">
            <a:srgbClr val="F7FBFF"/>
          </a:solidFill>
          <a:ln xmlns:a="http://schemas.openxmlformats.org/drawingml/2006/main" w="9525">
            <a:solidFill>
              <a:srgbClr val="C8D8EB"/>
            </a:solidFill>
            <a:prstDash val="solid"/>
          </a:ln>
        </p:spPr>
      </p:sp>
      <p:sp>
        <p:nvSpPr>
          <p:cNvPr id="18" name="">
            <a:extLst xmlns:a="http://schemas.openxmlformats.org/drawingml/2006/main">
              <a:ext uri="{FF2B5EF4-FFF2-40B4-BE49-F238E27FC236}">
                <a16:creationId xmlns:a16="http://schemas.microsoft.com/office/drawing/2014/main" id="{D821F6DF-BA17-4636-8B3F-A243A27480DD}"/>
              </a:ext>
            </a:extLst>
          </p:cNvPr>
          <p:cNvSpPr>
            <a:spLocks xmlns:a="http://schemas.openxmlformats.org/drawingml/2006/main" noGrp="1"/>
          </p:cNvSpPr>
          <p:nvPr/>
        </p:nvSpPr>
        <p:spPr>
          <a:xfrm xmlns:a="http://schemas.openxmlformats.org/drawingml/2006/main">
            <a:off x="4660900" y="2197989"/>
            <a:ext cx="133350" cy="133350"/>
          </a:xfrm>
          <a:prstGeom xmlns:a="http://schemas.openxmlformats.org/drawingml/2006/main" prst="ellipse">
            <a:avLst/>
          </a:prstGeom>
          <a:solidFill xmlns:a="http://schemas.openxmlformats.org/drawingml/2006/main">
            <a:srgbClr val="0F4C81"/>
          </a:solidFill>
        </p:spPr>
      </p:sp>
      <p:sp>
        <p:nvSpPr>
          <p:cNvPr id="19" name="">
            <a:extLst xmlns:a="http://schemas.openxmlformats.org/drawingml/2006/main">
              <a:ext uri="{FF2B5EF4-FFF2-40B4-BE49-F238E27FC236}">
                <a16:creationId xmlns:a16="http://schemas.microsoft.com/office/drawing/2014/main" id="{4B78DD38-8A0F-478F-BE13-3B619A74F247}"/>
              </a:ext>
            </a:extLst>
          </p:cNvPr>
          <p:cNvSpPr>
            <a:spLocks xmlns:a="http://schemas.openxmlformats.org/drawingml/2006/main" noGrp="1"/>
          </p:cNvSpPr>
          <p:nvPr/>
        </p:nvSpPr>
        <p:spPr>
          <a:xfrm xmlns:a="http://schemas.openxmlformats.org/drawingml/2006/main">
            <a:off x="4889500" y="2197989"/>
            <a:ext cx="26416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Subject Offering</a:t>
            </a:r>
          </a:p>
        </p:txBody>
      </p:sp>
      <p:sp>
        <p:nvSpPr>
          <p:cNvPr id="20" name="">
            <a:extLst xmlns:a="http://schemas.openxmlformats.org/drawingml/2006/main">
              <a:ext uri="{FF2B5EF4-FFF2-40B4-BE49-F238E27FC236}">
                <a16:creationId xmlns:a16="http://schemas.microsoft.com/office/drawing/2014/main" id="{6B6588EE-6F25-42D9-BD63-7489CDDCAA52}"/>
              </a:ext>
            </a:extLst>
          </p:cNvPr>
          <p:cNvSpPr>
            <a:spLocks xmlns:a="http://schemas.openxmlformats.org/drawingml/2006/main" noGrp="1"/>
          </p:cNvSpPr>
          <p:nvPr/>
        </p:nvSpPr>
        <p:spPr>
          <a:xfrm xmlns:a="http://schemas.openxmlformats.org/drawingml/2006/main">
            <a:off x="4660900" y="2531745"/>
            <a:ext cx="28702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Ինչն է անցկացվում</a:t>
            </a:r>
          </a:p>
        </p:txBody>
      </p:sp>
      <p:sp>
        <p:nvSpPr>
          <p:cNvPr id="21" name="">
            <a:extLst xmlns:a="http://schemas.openxmlformats.org/drawingml/2006/main">
              <a:ext uri="{FF2B5EF4-FFF2-40B4-BE49-F238E27FC236}">
                <a16:creationId xmlns:a16="http://schemas.microsoft.com/office/drawing/2014/main" id="{5156F287-D339-439C-BA16-9B5080148835}"/>
              </a:ext>
            </a:extLst>
          </p:cNvPr>
          <p:cNvSpPr>
            <a:spLocks xmlns:a="http://schemas.openxmlformats.org/drawingml/2006/main" noGrp="1"/>
          </p:cNvSpPr>
          <p:nvPr/>
        </p:nvSpPr>
        <p:spPr>
          <a:xfrm xmlns:a="http://schemas.openxmlformats.org/drawingml/2006/main">
            <a:off x="7759700" y="2064639"/>
            <a:ext cx="457200" cy="79659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22" name="">
            <a:extLst xmlns:a="http://schemas.openxmlformats.org/drawingml/2006/main">
              <a:ext uri="{FF2B5EF4-FFF2-40B4-BE49-F238E27FC236}">
                <a16:creationId xmlns:a16="http://schemas.microsoft.com/office/drawing/2014/main" id="{E88D8883-BDE7-4FEA-BD40-526A8BA0AD3C}"/>
              </a:ext>
            </a:extLst>
          </p:cNvPr>
          <p:cNvSpPr>
            <a:spLocks xmlns:a="http://schemas.openxmlformats.org/drawingml/2006/main" noGrp="1"/>
          </p:cNvSpPr>
          <p:nvPr/>
        </p:nvSpPr>
        <p:spPr>
          <a:xfrm xmlns:a="http://schemas.openxmlformats.org/drawingml/2006/main">
            <a:off x="8312150" y="2064639"/>
            <a:ext cx="31369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23" name="">
            <a:extLst xmlns:a="http://schemas.openxmlformats.org/drawingml/2006/main">
              <a:ext uri="{FF2B5EF4-FFF2-40B4-BE49-F238E27FC236}">
                <a16:creationId xmlns:a16="http://schemas.microsoft.com/office/drawing/2014/main" id="{FD20F5BB-F973-4CA9-84ED-394BA8655A2C}"/>
              </a:ext>
            </a:extLst>
          </p:cNvPr>
          <p:cNvSpPr>
            <a:spLocks xmlns:a="http://schemas.openxmlformats.org/drawingml/2006/main" noGrp="1"/>
          </p:cNvSpPr>
          <p:nvPr/>
        </p:nvSpPr>
        <p:spPr>
          <a:xfrm xmlns:a="http://schemas.openxmlformats.org/drawingml/2006/main">
            <a:off x="8445500" y="2197989"/>
            <a:ext cx="133350" cy="133350"/>
          </a:xfrm>
          <a:prstGeom xmlns:a="http://schemas.openxmlformats.org/drawingml/2006/main" prst="ellipse">
            <a:avLst/>
          </a:prstGeom>
          <a:solidFill xmlns:a="http://schemas.openxmlformats.org/drawingml/2006/main">
            <a:srgbClr val="0F4C81"/>
          </a:solidFill>
        </p:spPr>
      </p:sp>
      <p:sp>
        <p:nvSpPr>
          <p:cNvPr id="24" name="">
            <a:extLst xmlns:a="http://schemas.openxmlformats.org/drawingml/2006/main">
              <a:ext uri="{FF2B5EF4-FFF2-40B4-BE49-F238E27FC236}">
                <a16:creationId xmlns:a16="http://schemas.microsoft.com/office/drawing/2014/main" id="{50B5FBD0-FBA4-4CB1-9B0B-5F543398492F}"/>
              </a:ext>
            </a:extLst>
          </p:cNvPr>
          <p:cNvSpPr>
            <a:spLocks xmlns:a="http://schemas.openxmlformats.org/drawingml/2006/main" noGrp="1"/>
          </p:cNvSpPr>
          <p:nvPr/>
        </p:nvSpPr>
        <p:spPr>
          <a:xfrm xmlns:a="http://schemas.openxmlformats.org/drawingml/2006/main">
            <a:off x="8674100" y="2197989"/>
            <a:ext cx="26416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Lab Group</a:t>
            </a:r>
          </a:p>
        </p:txBody>
      </p:sp>
      <p:sp>
        <p:nvSpPr>
          <p:cNvPr id="25" name="">
            <a:extLst xmlns:a="http://schemas.openxmlformats.org/drawingml/2006/main">
              <a:ext uri="{FF2B5EF4-FFF2-40B4-BE49-F238E27FC236}">
                <a16:creationId xmlns:a16="http://schemas.microsoft.com/office/drawing/2014/main" id="{ECDB5CE0-90BE-4B03-B578-06CE1F399061}"/>
              </a:ext>
            </a:extLst>
          </p:cNvPr>
          <p:cNvSpPr>
            <a:spLocks xmlns:a="http://schemas.openxmlformats.org/drawingml/2006/main" noGrp="1"/>
          </p:cNvSpPr>
          <p:nvPr/>
        </p:nvSpPr>
        <p:spPr>
          <a:xfrm xmlns:a="http://schemas.openxmlformats.org/drawingml/2006/main">
            <a:off x="8445500" y="2531745"/>
            <a:ext cx="28702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Որ ենթախմբի համար</a:t>
            </a:r>
          </a:p>
        </p:txBody>
      </p:sp>
      <p:sp>
        <p:nvSpPr>
          <p:cNvPr id="26" name="">
            <a:extLst xmlns:a="http://schemas.openxmlformats.org/drawingml/2006/main">
              <a:ext uri="{FF2B5EF4-FFF2-40B4-BE49-F238E27FC236}">
                <a16:creationId xmlns:a16="http://schemas.microsoft.com/office/drawing/2014/main" id="{73B8065F-4905-4CD1-A6D4-AB4A6FEFED38}"/>
              </a:ext>
            </a:extLst>
          </p:cNvPr>
          <p:cNvSpPr>
            <a:spLocks xmlns:a="http://schemas.openxmlformats.org/drawingml/2006/main" noGrp="1"/>
          </p:cNvSpPr>
          <p:nvPr/>
        </p:nvSpPr>
        <p:spPr>
          <a:xfrm xmlns:a="http://schemas.openxmlformats.org/drawingml/2006/main">
            <a:off x="742950" y="3032684"/>
            <a:ext cx="5276850" cy="1516380"/>
          </a:xfrm>
          <a:prstGeom xmlns:a="http://schemas.openxmlformats.org/drawingml/2006/main" prst="roundRect">
            <a:avLst>
              <a:gd name="adj" fmla="val 11307"/>
            </a:avLst>
          </a:prstGeom>
          <a:solidFill xmlns:a="http://schemas.openxmlformats.org/drawingml/2006/main">
            <a:srgbClr val="EDF5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C2C49941-D3B8-49BF-A4A9-C5398C3A06F9}"/>
              </a:ext>
            </a:extLst>
          </p:cNvPr>
          <p:cNvSpPr>
            <a:spLocks xmlns:a="http://schemas.openxmlformats.org/drawingml/2006/main" noGrp="1"/>
          </p:cNvSpPr>
          <p:nvPr/>
        </p:nvSpPr>
        <p:spPr>
          <a:xfrm xmlns:a="http://schemas.openxmlformats.org/drawingml/2006/main">
            <a:off x="933450" y="3223184"/>
            <a:ext cx="133350" cy="133350"/>
          </a:xfrm>
          <a:prstGeom xmlns:a="http://schemas.openxmlformats.org/drawingml/2006/main" prst="ellipse">
            <a:avLst/>
          </a:prstGeom>
          <a:solidFill xmlns:a="http://schemas.openxmlformats.org/drawingml/2006/main">
            <a:srgbClr val="0F4C81"/>
          </a:solidFill>
        </p:spPr>
      </p:sp>
      <p:sp>
        <p:nvSpPr>
          <p:cNvPr id="28" name="">
            <a:extLst xmlns:a="http://schemas.openxmlformats.org/drawingml/2006/main">
              <a:ext uri="{FF2B5EF4-FFF2-40B4-BE49-F238E27FC236}">
                <a16:creationId xmlns:a16="http://schemas.microsoft.com/office/drawing/2014/main" id="{97608D66-D3FB-402D-A030-A259FFCEE25B}"/>
              </a:ext>
            </a:extLst>
          </p:cNvPr>
          <p:cNvSpPr>
            <a:spLocks xmlns:a="http://schemas.openxmlformats.org/drawingml/2006/main" noGrp="1"/>
          </p:cNvSpPr>
          <p:nvPr/>
        </p:nvSpPr>
        <p:spPr>
          <a:xfrm xmlns:a="http://schemas.openxmlformats.org/drawingml/2006/main">
            <a:off x="1162050" y="322318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`teacher_subject_assignments` աղյուսակը ինչ է ասում</a:t>
            </a:r>
          </a:p>
        </p:txBody>
      </p:sp>
      <p:sp>
        <p:nvSpPr>
          <p:cNvPr id="29" name="">
            <a:extLst xmlns:a="http://schemas.openxmlformats.org/drawingml/2006/main">
              <a:ext uri="{FF2B5EF4-FFF2-40B4-BE49-F238E27FC236}">
                <a16:creationId xmlns:a16="http://schemas.microsoft.com/office/drawing/2014/main" id="{DCD5D63A-2ED4-489F-B155-3C00F070284D}"/>
              </a:ext>
            </a:extLst>
          </p:cNvPr>
          <p:cNvSpPr>
            <a:spLocks xmlns:a="http://schemas.openxmlformats.org/drawingml/2006/main" noGrp="1"/>
          </p:cNvSpPr>
          <p:nvPr/>
        </p:nvSpPr>
        <p:spPr>
          <a:xfrm xmlns:a="http://schemas.openxmlformats.org/drawingml/2006/main">
            <a:off x="933450" y="3584372"/>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Այս դասախոսը աշխատում է այս offering-ի մեջ</a:t>
            </a:r>
          </a:p>
        </p:txBody>
      </p:sp>
      <p:sp>
        <p:nvSpPr>
          <p:cNvPr id="30" name="">
            <a:extLst xmlns:a="http://schemas.openxmlformats.org/drawingml/2006/main">
              <a:ext uri="{FF2B5EF4-FFF2-40B4-BE49-F238E27FC236}">
                <a16:creationId xmlns:a16="http://schemas.microsoft.com/office/drawing/2014/main" id="{8EA9026D-8F0E-4F19-981A-62B8519651D4}"/>
              </a:ext>
            </a:extLst>
          </p:cNvPr>
          <p:cNvSpPr>
            <a:spLocks xmlns:a="http://schemas.openxmlformats.org/drawingml/2006/main" noGrp="1"/>
          </p:cNvSpPr>
          <p:nvPr/>
        </p:nvSpPr>
        <p:spPr>
          <a:xfrm xmlns:a="http://schemas.openxmlformats.org/drawingml/2006/main">
            <a:off x="933450" y="3905936"/>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Բայց ոչ ամբողջ academic group-ի, այլ կոնկրետ lab group-ի հետ</a:t>
            </a:r>
          </a:p>
        </p:txBody>
      </p:sp>
      <p:sp>
        <p:nvSpPr>
          <p:cNvPr id="31" name="">
            <a:extLst xmlns:a="http://schemas.openxmlformats.org/drawingml/2006/main">
              <a:ext uri="{FF2B5EF4-FFF2-40B4-BE49-F238E27FC236}">
                <a16:creationId xmlns:a16="http://schemas.microsoft.com/office/drawing/2014/main" id="{23B6A8F6-F858-4565-9AEF-1C0F4394884B}"/>
              </a:ext>
            </a:extLst>
          </p:cNvPr>
          <p:cNvSpPr>
            <a:spLocks xmlns:a="http://schemas.openxmlformats.org/drawingml/2006/main" noGrp="1"/>
          </p:cNvSpPr>
          <p:nvPr/>
        </p:nvSpPr>
        <p:spPr>
          <a:xfrm xmlns:a="http://schemas.openxmlformats.org/drawingml/2006/main">
            <a:off x="6172200" y="3032684"/>
            <a:ext cx="5276850" cy="1516380"/>
          </a:xfrm>
          <a:prstGeom xmlns:a="http://schemas.openxmlformats.org/drawingml/2006/main" prst="roundRect">
            <a:avLst>
              <a:gd name="adj" fmla="val 11307"/>
            </a:avLst>
          </a:prstGeom>
          <a:solidFill xmlns:a="http://schemas.openxmlformats.org/drawingml/2006/main">
            <a:srgbClr val="F8FBFF"/>
          </a:solidFill>
          <a:ln xmlns:a="http://schemas.openxmlformats.org/drawingml/2006/main" w="9525">
            <a:solidFill>
              <a:srgbClr val="DCE7F4"/>
            </a:solidFill>
            <a:prstDash val="solid"/>
          </a:ln>
        </p:spPr>
      </p:sp>
      <p:sp>
        <p:nvSpPr>
          <p:cNvPr id="32" name="">
            <a:extLst xmlns:a="http://schemas.openxmlformats.org/drawingml/2006/main">
              <a:ext uri="{FF2B5EF4-FFF2-40B4-BE49-F238E27FC236}">
                <a16:creationId xmlns:a16="http://schemas.microsoft.com/office/drawing/2014/main" id="{B16C33C2-15A3-4EF5-872B-0FCDE14836DA}"/>
              </a:ext>
            </a:extLst>
          </p:cNvPr>
          <p:cNvSpPr>
            <a:spLocks xmlns:a="http://schemas.openxmlformats.org/drawingml/2006/main" noGrp="1"/>
          </p:cNvSpPr>
          <p:nvPr/>
        </p:nvSpPr>
        <p:spPr>
          <a:xfrm xmlns:a="http://schemas.openxmlformats.org/drawingml/2006/main">
            <a:off x="6362700" y="3223184"/>
            <a:ext cx="133350" cy="133350"/>
          </a:xfrm>
          <a:prstGeom xmlns:a="http://schemas.openxmlformats.org/drawingml/2006/main" prst="ellipse">
            <a:avLst/>
          </a:prstGeom>
          <a:solidFill xmlns:a="http://schemas.openxmlformats.org/drawingml/2006/main">
            <a:srgbClr val="2F8F69"/>
          </a:solidFill>
        </p:spPr>
      </p:sp>
      <p:sp>
        <p:nvSpPr>
          <p:cNvPr id="33" name="">
            <a:extLst xmlns:a="http://schemas.openxmlformats.org/drawingml/2006/main">
              <a:ext uri="{FF2B5EF4-FFF2-40B4-BE49-F238E27FC236}">
                <a16:creationId xmlns:a16="http://schemas.microsoft.com/office/drawing/2014/main" id="{A71C3D7F-1348-4BDE-B543-25DCBD3EAA79}"/>
              </a:ext>
            </a:extLst>
          </p:cNvPr>
          <p:cNvSpPr>
            <a:spLocks xmlns:a="http://schemas.openxmlformats.org/drawingml/2006/main" noGrp="1"/>
          </p:cNvSpPr>
          <p:nvPr/>
        </p:nvSpPr>
        <p:spPr>
          <a:xfrm xmlns:a="http://schemas.openxmlformats.org/drawingml/2006/main">
            <a:off x="6591300" y="322318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Սա ինչ բիզնես խնդիր է լուծում</a:t>
            </a:r>
          </a:p>
        </p:txBody>
      </p:sp>
      <p:sp>
        <p:nvSpPr>
          <p:cNvPr id="34" name="">
            <a:extLst xmlns:a="http://schemas.openxmlformats.org/drawingml/2006/main">
              <a:ext uri="{FF2B5EF4-FFF2-40B4-BE49-F238E27FC236}">
                <a16:creationId xmlns:a16="http://schemas.microsoft.com/office/drawing/2014/main" id="{AFD771DA-BC0E-4C4E-A24A-54A23CA23B97}"/>
              </a:ext>
            </a:extLst>
          </p:cNvPr>
          <p:cNvSpPr>
            <a:spLocks xmlns:a="http://schemas.openxmlformats.org/drawingml/2006/main" noGrp="1"/>
          </p:cNvSpPr>
          <p:nvPr/>
        </p:nvSpPr>
        <p:spPr>
          <a:xfrm xmlns:a="http://schemas.openxmlformats.org/drawingml/2006/main">
            <a:off x="6362700" y="3584372"/>
            <a:ext cx="48958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Մեկ academic group-ի ներսում տարբեր lab group-ներ կարող են ունենալ տարբեր դասախոսներ</a:t>
            </a:r>
          </a:p>
        </p:txBody>
      </p:sp>
      <p:sp>
        <p:nvSpPr>
          <p:cNvPr id="35" name="">
            <a:extLst xmlns:a="http://schemas.openxmlformats.org/drawingml/2006/main">
              <a:ext uri="{FF2B5EF4-FFF2-40B4-BE49-F238E27FC236}">
                <a16:creationId xmlns:a16="http://schemas.microsoft.com/office/drawing/2014/main" id="{4470A494-17F7-4250-8B24-E2B3D6911191}"/>
              </a:ext>
            </a:extLst>
          </p:cNvPr>
          <p:cNvSpPr>
            <a:spLocks xmlns:a="http://schemas.openxmlformats.org/drawingml/2006/main" noGrp="1"/>
          </p:cNvSpPr>
          <p:nvPr/>
        </p:nvSpPr>
        <p:spPr>
          <a:xfrm xmlns:a="http://schemas.openxmlformats.org/drawingml/2006/main">
            <a:off x="6362700" y="4132250"/>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Նույն առարկան կարելի է բաժանել ենթախմբային ուսուցման</a:t>
            </a:r>
          </a:p>
        </p:txBody>
      </p:sp>
      <p:sp>
        <p:nvSpPr>
          <p:cNvPr id="36" name="">
            <a:extLst xmlns:a="http://schemas.openxmlformats.org/drawingml/2006/main">
              <a:ext uri="{FF2B5EF4-FFF2-40B4-BE49-F238E27FC236}">
                <a16:creationId xmlns:a16="http://schemas.microsoft.com/office/drawing/2014/main" id="{3AFC656D-23DE-4971-B784-A0B3ABD675A2}"/>
              </a:ext>
            </a:extLst>
          </p:cNvPr>
          <p:cNvSpPr>
            <a:spLocks xmlns:a="http://schemas.openxmlformats.org/drawingml/2006/main" noGrp="1"/>
          </p:cNvSpPr>
          <p:nvPr/>
        </p:nvSpPr>
        <p:spPr>
          <a:xfrm xmlns:a="http://schemas.openxmlformats.org/drawingml/2006/main">
            <a:off x="742950" y="4720514"/>
            <a:ext cx="1070610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37" name="">
            <a:extLst xmlns:a="http://schemas.openxmlformats.org/drawingml/2006/main">
              <a:ext uri="{FF2B5EF4-FFF2-40B4-BE49-F238E27FC236}">
                <a16:creationId xmlns:a16="http://schemas.microsoft.com/office/drawing/2014/main" id="{CAF85477-D4A9-4140-9F02-1A7BAABD9B4E}"/>
              </a:ext>
            </a:extLst>
          </p:cNvPr>
          <p:cNvSpPr>
            <a:spLocks xmlns:a="http://schemas.openxmlformats.org/drawingml/2006/main" noGrp="1"/>
          </p:cNvSpPr>
          <p:nvPr/>
        </p:nvSpPr>
        <p:spPr>
          <a:xfrm xmlns:a="http://schemas.openxmlformats.org/drawingml/2006/main">
            <a:off x="933450" y="4911014"/>
            <a:ext cx="133350" cy="133350"/>
          </a:xfrm>
          <a:prstGeom xmlns:a="http://schemas.openxmlformats.org/drawingml/2006/main" prst="ellipse">
            <a:avLst/>
          </a:prstGeom>
          <a:solidFill xmlns:a="http://schemas.openxmlformats.org/drawingml/2006/main">
            <a:srgbClr val="D98F2B"/>
          </a:solidFill>
        </p:spPr>
      </p:sp>
      <p:sp>
        <p:nvSpPr>
          <p:cNvPr id="38" name="">
            <a:extLst xmlns:a="http://schemas.openxmlformats.org/drawingml/2006/main">
              <a:ext uri="{FF2B5EF4-FFF2-40B4-BE49-F238E27FC236}">
                <a16:creationId xmlns:a16="http://schemas.microsoft.com/office/drawing/2014/main" id="{78967CEA-E2A0-46CD-8013-A3350233C084}"/>
              </a:ext>
            </a:extLst>
          </p:cNvPr>
          <p:cNvSpPr>
            <a:spLocks xmlns:a="http://schemas.openxmlformats.org/drawingml/2006/main" noGrp="1"/>
          </p:cNvSpPr>
          <p:nvPr/>
        </p:nvSpPr>
        <p:spPr>
          <a:xfrm xmlns:a="http://schemas.openxmlformats.org/drawingml/2006/main">
            <a:off x="1162050" y="4911014"/>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39" name="">
            <a:extLst xmlns:a="http://schemas.openxmlformats.org/drawingml/2006/main">
              <a:ext uri="{FF2B5EF4-FFF2-40B4-BE49-F238E27FC236}">
                <a16:creationId xmlns:a16="http://schemas.microsoft.com/office/drawing/2014/main" id="{E4B05717-9E9E-4841-9A61-40CAFFBB9000}"/>
              </a:ext>
            </a:extLst>
          </p:cNvPr>
          <p:cNvSpPr>
            <a:spLocks xmlns:a="http://schemas.openxmlformats.org/drawingml/2006/main" noGrp="1"/>
          </p:cNvSpPr>
          <p:nvPr/>
        </p:nvSpPr>
        <p:spPr>
          <a:xfrm xmlns:a="http://schemas.openxmlformats.org/drawingml/2006/main">
            <a:off x="933450" y="5272202"/>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teachers - teacher_subject_assignments - subject_group_offerings - lab_groups</a:t>
            </a:r>
          </a:p>
        </p:txBody>
      </p:sp>
      <p:sp>
        <p:nvSpPr>
          <p:cNvPr id="40" name="">
            <a:extLst xmlns:a="http://schemas.openxmlformats.org/drawingml/2006/main">
              <a:ext uri="{FF2B5EF4-FFF2-40B4-BE49-F238E27FC236}">
                <a16:creationId xmlns:a16="http://schemas.microsoft.com/office/drawing/2014/main" id="{34580A4B-2476-4E22-92BE-36AC8F3D7DC8}"/>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1" name="">
            <a:extLst xmlns:a="http://schemas.openxmlformats.org/drawingml/2006/main">
              <a:ext uri="{FF2B5EF4-FFF2-40B4-BE49-F238E27FC236}">
                <a16:creationId xmlns:a16="http://schemas.microsoft.com/office/drawing/2014/main" id="{8063C6BC-521B-44B5-BC65-1DEC2CEA0A56}"/>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10</a:t>
            </a:r>
          </a:p>
        </p:txBody>
      </p:sp>
    </p:spTree>
    <p:extLst>
      <p:ext uri="{BB962C8B-B14F-4D97-AF65-F5344CB8AC3E}">
        <p14:creationId xmlns:p14="http://schemas.microsoft.com/office/powerpoint/2010/main" val="15848868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421226-122A-4C5E-BF0D-541B28E462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C7424BF0-5903-4B50-8250-EB87FC55F20D}"/>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8C55BC9D-D91B-43EF-BE04-005CEAD3B329}"/>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48CB405D-320D-41EB-9F2B-90443EA55322}"/>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D7BE57A8-78CC-4B12-AD11-EE808A74CDC2}"/>
              </a:ext>
            </a:extLst>
          </p:cNvPr>
          <p:cNvSpPr>
            <a:spLocks xmlns:a="http://schemas.openxmlformats.org/drawingml/2006/main" noGrp="1"/>
          </p:cNvSpPr>
          <p:nvPr/>
        </p:nvSpPr>
        <p:spPr>
          <a:xfrm xmlns:a="http://schemas.openxmlformats.org/drawingml/2006/main">
            <a:off x="819150" y="952500"/>
            <a:ext cx="1225010"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Ուսանողի գրանցումը</a:t>
            </a:r>
          </a:p>
        </p:txBody>
      </p:sp>
      <p:sp>
        <p:nvSpPr>
          <p:cNvPr id="6" name="">
            <a:extLst xmlns:a="http://schemas.openxmlformats.org/drawingml/2006/main">
              <a:ext uri="{FF2B5EF4-FFF2-40B4-BE49-F238E27FC236}">
                <a16:creationId xmlns:a16="http://schemas.microsoft.com/office/drawing/2014/main" id="{B8FECCCB-57C5-419D-A0BB-E46EE784D011}"/>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`student_subject_enrollments` աղյուսակը</a:t>
            </a:r>
          </a:p>
        </p:txBody>
      </p:sp>
      <p:sp>
        <p:nvSpPr>
          <p:cNvPr id="7" name="">
            <a:extLst xmlns:a="http://schemas.openxmlformats.org/drawingml/2006/main">
              <a:ext uri="{FF2B5EF4-FFF2-40B4-BE49-F238E27FC236}">
                <a16:creationId xmlns:a16="http://schemas.microsoft.com/office/drawing/2014/main" id="{84E9D563-3532-490B-9A43-F3B693A93819}"/>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Այն պահում է, թե ուսանողը տվյալ առարկայի առաջարկի շրջանակում որ lab group-ի անդամ է</a:t>
            </a:r>
          </a:p>
        </p:txBody>
      </p:sp>
      <p:sp>
        <p:nvSpPr>
          <p:cNvPr id="8" name="">
            <a:extLst xmlns:a="http://schemas.openxmlformats.org/drawingml/2006/main">
              <a:ext uri="{FF2B5EF4-FFF2-40B4-BE49-F238E27FC236}">
                <a16:creationId xmlns:a16="http://schemas.microsoft.com/office/drawing/2014/main" id="{57A16C86-3E4C-4F68-A143-A12FC1C4FC6C}"/>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BF13AEC8-E234-4D1B-8A46-E580D927DC19}"/>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11</a:t>
            </a:r>
          </a:p>
        </p:txBody>
      </p:sp>
      <p:sp>
        <p:nvSpPr>
          <p:cNvPr id="10" name="">
            <a:extLst xmlns:a="http://schemas.openxmlformats.org/drawingml/2006/main">
              <a:ext uri="{FF2B5EF4-FFF2-40B4-BE49-F238E27FC236}">
                <a16:creationId xmlns:a16="http://schemas.microsoft.com/office/drawing/2014/main" id="{AA130FE3-C575-4BAE-A63F-10FB40DAA686}"/>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B43BB3A4-9AD4-4885-B952-D3DBB3D46B9D}"/>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824A92F6-954E-49D9-94BD-AB19F23237AD}"/>
              </a:ext>
            </a:extLst>
          </p:cNvPr>
          <p:cNvSpPr>
            <a:spLocks xmlns:a="http://schemas.openxmlformats.org/drawingml/2006/main" noGrp="1"/>
          </p:cNvSpPr>
          <p:nvPr/>
        </p:nvSpPr>
        <p:spPr>
          <a:xfrm xmlns:a="http://schemas.openxmlformats.org/drawingml/2006/main">
            <a:off x="742950" y="2064639"/>
            <a:ext cx="31369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13" name="">
            <a:extLst xmlns:a="http://schemas.openxmlformats.org/drawingml/2006/main">
              <a:ext uri="{FF2B5EF4-FFF2-40B4-BE49-F238E27FC236}">
                <a16:creationId xmlns:a16="http://schemas.microsoft.com/office/drawing/2014/main" id="{C1B9A829-E06C-4DAB-A871-E2A31BC482B7}"/>
              </a:ext>
            </a:extLst>
          </p:cNvPr>
          <p:cNvSpPr>
            <a:spLocks xmlns:a="http://schemas.openxmlformats.org/drawingml/2006/main" noGrp="1"/>
          </p:cNvSpPr>
          <p:nvPr/>
        </p:nvSpPr>
        <p:spPr>
          <a:xfrm xmlns:a="http://schemas.openxmlformats.org/drawingml/2006/main">
            <a:off x="876300" y="2197989"/>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BD0150DB-EAFE-4FFA-8B4F-9A1BDA4D317F}"/>
              </a:ext>
            </a:extLst>
          </p:cNvPr>
          <p:cNvSpPr>
            <a:spLocks xmlns:a="http://schemas.openxmlformats.org/drawingml/2006/main" noGrp="1"/>
          </p:cNvSpPr>
          <p:nvPr/>
        </p:nvSpPr>
        <p:spPr>
          <a:xfrm xmlns:a="http://schemas.openxmlformats.org/drawingml/2006/main">
            <a:off x="1104900" y="2197989"/>
            <a:ext cx="26416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Student</a:t>
            </a:r>
          </a:p>
        </p:txBody>
      </p:sp>
      <p:sp>
        <p:nvSpPr>
          <p:cNvPr id="15" name="">
            <a:extLst xmlns:a="http://schemas.openxmlformats.org/drawingml/2006/main">
              <a:ext uri="{FF2B5EF4-FFF2-40B4-BE49-F238E27FC236}">
                <a16:creationId xmlns:a16="http://schemas.microsoft.com/office/drawing/2014/main" id="{892696F8-BF0F-4DE9-A076-05A0C597256B}"/>
              </a:ext>
            </a:extLst>
          </p:cNvPr>
          <p:cNvSpPr>
            <a:spLocks xmlns:a="http://schemas.openxmlformats.org/drawingml/2006/main" noGrp="1"/>
          </p:cNvSpPr>
          <p:nvPr/>
        </p:nvSpPr>
        <p:spPr>
          <a:xfrm xmlns:a="http://schemas.openxmlformats.org/drawingml/2006/main">
            <a:off x="876300" y="2531745"/>
            <a:ext cx="28702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Ով է սովորում</a:t>
            </a:r>
          </a:p>
        </p:txBody>
      </p:sp>
      <p:sp>
        <p:nvSpPr>
          <p:cNvPr id="16" name="">
            <a:extLst xmlns:a="http://schemas.openxmlformats.org/drawingml/2006/main">
              <a:ext uri="{FF2B5EF4-FFF2-40B4-BE49-F238E27FC236}">
                <a16:creationId xmlns:a16="http://schemas.microsoft.com/office/drawing/2014/main" id="{CF062956-280C-4373-A75C-6D9FDD3CCD45}"/>
              </a:ext>
            </a:extLst>
          </p:cNvPr>
          <p:cNvSpPr>
            <a:spLocks xmlns:a="http://schemas.openxmlformats.org/drawingml/2006/main" noGrp="1"/>
          </p:cNvSpPr>
          <p:nvPr/>
        </p:nvSpPr>
        <p:spPr>
          <a:xfrm xmlns:a="http://schemas.openxmlformats.org/drawingml/2006/main">
            <a:off x="3975100" y="2064639"/>
            <a:ext cx="457200" cy="79659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17" name="">
            <a:extLst xmlns:a="http://schemas.openxmlformats.org/drawingml/2006/main">
              <a:ext uri="{FF2B5EF4-FFF2-40B4-BE49-F238E27FC236}">
                <a16:creationId xmlns:a16="http://schemas.microsoft.com/office/drawing/2014/main" id="{91D96BA3-8909-4033-9B9C-B49F2726E364}"/>
              </a:ext>
            </a:extLst>
          </p:cNvPr>
          <p:cNvSpPr>
            <a:spLocks xmlns:a="http://schemas.openxmlformats.org/drawingml/2006/main" noGrp="1"/>
          </p:cNvSpPr>
          <p:nvPr/>
        </p:nvSpPr>
        <p:spPr>
          <a:xfrm xmlns:a="http://schemas.openxmlformats.org/drawingml/2006/main">
            <a:off x="4527550" y="2064639"/>
            <a:ext cx="31369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18" name="">
            <a:extLst xmlns:a="http://schemas.openxmlformats.org/drawingml/2006/main">
              <a:ext uri="{FF2B5EF4-FFF2-40B4-BE49-F238E27FC236}">
                <a16:creationId xmlns:a16="http://schemas.microsoft.com/office/drawing/2014/main" id="{27E8CEC8-53F1-4FB0-9FDF-3A4FCCB9613E}"/>
              </a:ext>
            </a:extLst>
          </p:cNvPr>
          <p:cNvSpPr>
            <a:spLocks xmlns:a="http://schemas.openxmlformats.org/drawingml/2006/main" noGrp="1"/>
          </p:cNvSpPr>
          <p:nvPr/>
        </p:nvSpPr>
        <p:spPr>
          <a:xfrm xmlns:a="http://schemas.openxmlformats.org/drawingml/2006/main">
            <a:off x="4660900" y="2197989"/>
            <a:ext cx="133350" cy="133350"/>
          </a:xfrm>
          <a:prstGeom xmlns:a="http://schemas.openxmlformats.org/drawingml/2006/main" prst="ellipse">
            <a:avLst/>
          </a:prstGeom>
          <a:solidFill xmlns:a="http://schemas.openxmlformats.org/drawingml/2006/main">
            <a:srgbClr val="0F4C81"/>
          </a:solidFill>
        </p:spPr>
      </p:sp>
      <p:sp>
        <p:nvSpPr>
          <p:cNvPr id="19" name="">
            <a:extLst xmlns:a="http://schemas.openxmlformats.org/drawingml/2006/main">
              <a:ext uri="{FF2B5EF4-FFF2-40B4-BE49-F238E27FC236}">
                <a16:creationId xmlns:a16="http://schemas.microsoft.com/office/drawing/2014/main" id="{188E3378-40A0-4C5D-8287-F47364C42268}"/>
              </a:ext>
            </a:extLst>
          </p:cNvPr>
          <p:cNvSpPr>
            <a:spLocks xmlns:a="http://schemas.openxmlformats.org/drawingml/2006/main" noGrp="1"/>
          </p:cNvSpPr>
          <p:nvPr/>
        </p:nvSpPr>
        <p:spPr>
          <a:xfrm xmlns:a="http://schemas.openxmlformats.org/drawingml/2006/main">
            <a:off x="4889500" y="2197989"/>
            <a:ext cx="26416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Subject Offering</a:t>
            </a:r>
          </a:p>
        </p:txBody>
      </p:sp>
      <p:sp>
        <p:nvSpPr>
          <p:cNvPr id="20" name="">
            <a:extLst xmlns:a="http://schemas.openxmlformats.org/drawingml/2006/main">
              <a:ext uri="{FF2B5EF4-FFF2-40B4-BE49-F238E27FC236}">
                <a16:creationId xmlns:a16="http://schemas.microsoft.com/office/drawing/2014/main" id="{97085734-1356-4A0A-86FF-68025E653928}"/>
              </a:ext>
            </a:extLst>
          </p:cNvPr>
          <p:cNvSpPr>
            <a:spLocks xmlns:a="http://schemas.openxmlformats.org/drawingml/2006/main" noGrp="1"/>
          </p:cNvSpPr>
          <p:nvPr/>
        </p:nvSpPr>
        <p:spPr>
          <a:xfrm xmlns:a="http://schemas.openxmlformats.org/drawingml/2006/main">
            <a:off x="4660900" y="2531745"/>
            <a:ext cx="28702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Որ առարկայի անցկացման մեջ է</a:t>
            </a:r>
          </a:p>
        </p:txBody>
      </p:sp>
      <p:sp>
        <p:nvSpPr>
          <p:cNvPr id="21" name="">
            <a:extLst xmlns:a="http://schemas.openxmlformats.org/drawingml/2006/main">
              <a:ext uri="{FF2B5EF4-FFF2-40B4-BE49-F238E27FC236}">
                <a16:creationId xmlns:a16="http://schemas.microsoft.com/office/drawing/2014/main" id="{6952F247-514B-4A24-9732-9066CC913BBE}"/>
              </a:ext>
            </a:extLst>
          </p:cNvPr>
          <p:cNvSpPr>
            <a:spLocks xmlns:a="http://schemas.openxmlformats.org/drawingml/2006/main" noGrp="1"/>
          </p:cNvSpPr>
          <p:nvPr/>
        </p:nvSpPr>
        <p:spPr>
          <a:xfrm xmlns:a="http://schemas.openxmlformats.org/drawingml/2006/main">
            <a:off x="7759700" y="2064639"/>
            <a:ext cx="457200" cy="79659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a:solidFill>
                  <a:srgbClr val="0F4C81"/>
                </a:solidFill>
                <a:latin typeface="Arian AMU"/>
                <a:ea typeface="Arian AMU"/>
                <a:cs typeface="Arian AMU"/>
              </a:defRPr>
            </a:pPr>
            <a:r>
              <a:t>→</a:t>
            </a:r>
          </a:p>
        </p:txBody>
      </p:sp>
      <p:sp>
        <p:nvSpPr>
          <p:cNvPr id="22" name="">
            <a:extLst xmlns:a="http://schemas.openxmlformats.org/drawingml/2006/main">
              <a:ext uri="{FF2B5EF4-FFF2-40B4-BE49-F238E27FC236}">
                <a16:creationId xmlns:a16="http://schemas.microsoft.com/office/drawing/2014/main" id="{6AAB83C3-B13B-4FDB-9B94-D8A1BA04E81A}"/>
              </a:ext>
            </a:extLst>
          </p:cNvPr>
          <p:cNvSpPr>
            <a:spLocks xmlns:a="http://schemas.openxmlformats.org/drawingml/2006/main" noGrp="1"/>
          </p:cNvSpPr>
          <p:nvPr/>
        </p:nvSpPr>
        <p:spPr>
          <a:xfrm xmlns:a="http://schemas.openxmlformats.org/drawingml/2006/main">
            <a:off x="8312150" y="2064639"/>
            <a:ext cx="3136900" cy="796595"/>
          </a:xfrm>
          <a:prstGeom xmlns:a="http://schemas.openxmlformats.org/drawingml/2006/main" prst="roundRect">
            <a:avLst>
              <a:gd name="adj" fmla="val 21523"/>
            </a:avLst>
          </a:prstGeom>
          <a:solidFill xmlns:a="http://schemas.openxmlformats.org/drawingml/2006/main">
            <a:srgbClr val="FFFFFF"/>
          </a:solidFill>
          <a:ln xmlns:a="http://schemas.openxmlformats.org/drawingml/2006/main" w="9525">
            <a:solidFill>
              <a:srgbClr val="C8D8EB"/>
            </a:solidFill>
            <a:prstDash val="solid"/>
          </a:ln>
        </p:spPr>
      </p:sp>
      <p:sp>
        <p:nvSpPr>
          <p:cNvPr id="23" name="">
            <a:extLst xmlns:a="http://schemas.openxmlformats.org/drawingml/2006/main">
              <a:ext uri="{FF2B5EF4-FFF2-40B4-BE49-F238E27FC236}">
                <a16:creationId xmlns:a16="http://schemas.microsoft.com/office/drawing/2014/main" id="{EBF6F38F-F1B0-41C2-ADDF-A1FD985A2096}"/>
              </a:ext>
            </a:extLst>
          </p:cNvPr>
          <p:cNvSpPr>
            <a:spLocks xmlns:a="http://schemas.openxmlformats.org/drawingml/2006/main" noGrp="1"/>
          </p:cNvSpPr>
          <p:nvPr/>
        </p:nvSpPr>
        <p:spPr>
          <a:xfrm xmlns:a="http://schemas.openxmlformats.org/drawingml/2006/main">
            <a:off x="8445500" y="2197989"/>
            <a:ext cx="133350" cy="133350"/>
          </a:xfrm>
          <a:prstGeom xmlns:a="http://schemas.openxmlformats.org/drawingml/2006/main" prst="ellipse">
            <a:avLst/>
          </a:prstGeom>
          <a:solidFill xmlns:a="http://schemas.openxmlformats.org/drawingml/2006/main">
            <a:srgbClr val="0F4C81"/>
          </a:solidFill>
        </p:spPr>
      </p:sp>
      <p:sp>
        <p:nvSpPr>
          <p:cNvPr id="24" name="">
            <a:extLst xmlns:a="http://schemas.openxmlformats.org/drawingml/2006/main">
              <a:ext uri="{FF2B5EF4-FFF2-40B4-BE49-F238E27FC236}">
                <a16:creationId xmlns:a16="http://schemas.microsoft.com/office/drawing/2014/main" id="{6D66AA9F-49DD-4175-A59E-BDF8EA56038A}"/>
              </a:ext>
            </a:extLst>
          </p:cNvPr>
          <p:cNvSpPr>
            <a:spLocks xmlns:a="http://schemas.openxmlformats.org/drawingml/2006/main" noGrp="1"/>
          </p:cNvSpPr>
          <p:nvPr/>
        </p:nvSpPr>
        <p:spPr>
          <a:xfrm xmlns:a="http://schemas.openxmlformats.org/drawingml/2006/main">
            <a:off x="8674100" y="2197989"/>
            <a:ext cx="26416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16324D"/>
                </a:solidFill>
                <a:latin typeface="Arian AMU"/>
                <a:ea typeface="Arian AMU"/>
                <a:cs typeface="Arian AMU"/>
              </a:defRPr>
            </a:pPr>
            <a:r>
              <a:t>Lab Group</a:t>
            </a:r>
          </a:p>
        </p:txBody>
      </p:sp>
      <p:sp>
        <p:nvSpPr>
          <p:cNvPr id="25" name="">
            <a:extLst xmlns:a="http://schemas.openxmlformats.org/drawingml/2006/main">
              <a:ext uri="{FF2B5EF4-FFF2-40B4-BE49-F238E27FC236}">
                <a16:creationId xmlns:a16="http://schemas.microsoft.com/office/drawing/2014/main" id="{737A7FC7-2A44-4A81-B74C-F48A6E5DEE9B}"/>
              </a:ext>
            </a:extLst>
          </p:cNvPr>
          <p:cNvSpPr>
            <a:spLocks xmlns:a="http://schemas.openxmlformats.org/drawingml/2006/main" noGrp="1"/>
          </p:cNvSpPr>
          <p:nvPr/>
        </p:nvSpPr>
        <p:spPr>
          <a:xfrm xmlns:a="http://schemas.openxmlformats.org/drawingml/2006/main">
            <a:off x="8445500" y="2531745"/>
            <a:ext cx="2870200" cy="196139"/>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0">
                <a:solidFill>
                  <a:srgbClr val="53697F"/>
                </a:solidFill>
                <a:latin typeface="Arian AMU"/>
                <a:ea typeface="Arian AMU"/>
                <a:cs typeface="Arian AMU"/>
              </a:defRPr>
            </a:pPr>
            <a:r>
              <a:t>Որ ենթախմբի մաս է</a:t>
            </a:r>
          </a:p>
        </p:txBody>
      </p:sp>
      <p:sp>
        <p:nvSpPr>
          <p:cNvPr id="26" name="">
            <a:extLst xmlns:a="http://schemas.openxmlformats.org/drawingml/2006/main">
              <a:ext uri="{FF2B5EF4-FFF2-40B4-BE49-F238E27FC236}">
                <a16:creationId xmlns:a16="http://schemas.microsoft.com/office/drawing/2014/main" id="{4617F4EB-D78F-42BE-89EB-09178239FA9A}"/>
              </a:ext>
            </a:extLst>
          </p:cNvPr>
          <p:cNvSpPr>
            <a:spLocks xmlns:a="http://schemas.openxmlformats.org/drawingml/2006/main" noGrp="1"/>
          </p:cNvSpPr>
          <p:nvPr/>
        </p:nvSpPr>
        <p:spPr>
          <a:xfrm xmlns:a="http://schemas.openxmlformats.org/drawingml/2006/main">
            <a:off x="742950" y="3032684"/>
            <a:ext cx="5276850" cy="1516380"/>
          </a:xfrm>
          <a:prstGeom xmlns:a="http://schemas.openxmlformats.org/drawingml/2006/main" prst="roundRect">
            <a:avLst>
              <a:gd name="adj" fmla="val 11307"/>
            </a:avLst>
          </a:prstGeom>
          <a:solidFill xmlns:a="http://schemas.openxmlformats.org/drawingml/2006/main">
            <a:srgbClr val="EDF5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F34DC514-F6C1-46EC-B3DB-94E41AD62EC4}"/>
              </a:ext>
            </a:extLst>
          </p:cNvPr>
          <p:cNvSpPr>
            <a:spLocks xmlns:a="http://schemas.openxmlformats.org/drawingml/2006/main" noGrp="1"/>
          </p:cNvSpPr>
          <p:nvPr/>
        </p:nvSpPr>
        <p:spPr>
          <a:xfrm xmlns:a="http://schemas.openxmlformats.org/drawingml/2006/main">
            <a:off x="933450" y="3223184"/>
            <a:ext cx="133350" cy="133350"/>
          </a:xfrm>
          <a:prstGeom xmlns:a="http://schemas.openxmlformats.org/drawingml/2006/main" prst="ellipse">
            <a:avLst/>
          </a:prstGeom>
          <a:solidFill xmlns:a="http://schemas.openxmlformats.org/drawingml/2006/main">
            <a:srgbClr val="0F4C81"/>
          </a:solidFill>
        </p:spPr>
      </p:sp>
      <p:sp>
        <p:nvSpPr>
          <p:cNvPr id="28" name="">
            <a:extLst xmlns:a="http://schemas.openxmlformats.org/drawingml/2006/main">
              <a:ext uri="{FF2B5EF4-FFF2-40B4-BE49-F238E27FC236}">
                <a16:creationId xmlns:a16="http://schemas.microsoft.com/office/drawing/2014/main" id="{F76819A5-13D0-4D04-BCB7-32DC65D6005D}"/>
              </a:ext>
            </a:extLst>
          </p:cNvPr>
          <p:cNvSpPr>
            <a:spLocks xmlns:a="http://schemas.openxmlformats.org/drawingml/2006/main" noGrp="1"/>
          </p:cNvSpPr>
          <p:nvPr/>
        </p:nvSpPr>
        <p:spPr>
          <a:xfrm xmlns:a="http://schemas.openxmlformats.org/drawingml/2006/main">
            <a:off x="1162050" y="322318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`student_subject_enrollments` աղյուսակը ինչ է ասում</a:t>
            </a:r>
          </a:p>
        </p:txBody>
      </p:sp>
      <p:sp>
        <p:nvSpPr>
          <p:cNvPr id="29" name="">
            <a:extLst xmlns:a="http://schemas.openxmlformats.org/drawingml/2006/main">
              <a:ext uri="{FF2B5EF4-FFF2-40B4-BE49-F238E27FC236}">
                <a16:creationId xmlns:a16="http://schemas.microsoft.com/office/drawing/2014/main" id="{C5E0A49C-9C70-4D3B-B281-AC81BDB9D7AE}"/>
              </a:ext>
            </a:extLst>
          </p:cNvPr>
          <p:cNvSpPr>
            <a:spLocks xmlns:a="http://schemas.openxmlformats.org/drawingml/2006/main" noGrp="1"/>
          </p:cNvSpPr>
          <p:nvPr/>
        </p:nvSpPr>
        <p:spPr>
          <a:xfrm xmlns:a="http://schemas.openxmlformats.org/drawingml/2006/main">
            <a:off x="933450" y="3584372"/>
            <a:ext cx="48958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Ուսանողը կապված է ոչ թե ընդհանրապես առարկայի, այլ կոնկրետ offering-ի հետ</a:t>
            </a:r>
          </a:p>
        </p:txBody>
      </p:sp>
      <p:sp>
        <p:nvSpPr>
          <p:cNvPr id="30" name="">
            <a:extLst xmlns:a="http://schemas.openxmlformats.org/drawingml/2006/main">
              <a:ext uri="{FF2B5EF4-FFF2-40B4-BE49-F238E27FC236}">
                <a16:creationId xmlns:a16="http://schemas.microsoft.com/office/drawing/2014/main" id="{B15AB3D8-1152-4F8F-B86F-F2FAE251544D}"/>
              </a:ext>
            </a:extLst>
          </p:cNvPr>
          <p:cNvSpPr>
            <a:spLocks xmlns:a="http://schemas.openxmlformats.org/drawingml/2006/main" noGrp="1"/>
          </p:cNvSpPr>
          <p:nvPr/>
        </p:nvSpPr>
        <p:spPr>
          <a:xfrm xmlns:a="http://schemas.openxmlformats.org/drawingml/2006/main">
            <a:off x="933450" y="4132250"/>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Եվ այդ offering-ի ներսում նա ունի կոնկրետ lab group</a:t>
            </a:r>
          </a:p>
        </p:txBody>
      </p:sp>
      <p:sp>
        <p:nvSpPr>
          <p:cNvPr id="31" name="">
            <a:extLst xmlns:a="http://schemas.openxmlformats.org/drawingml/2006/main">
              <a:ext uri="{FF2B5EF4-FFF2-40B4-BE49-F238E27FC236}">
                <a16:creationId xmlns:a16="http://schemas.microsoft.com/office/drawing/2014/main" id="{625CD4B7-0854-4EDC-AB0A-2FDCD64BE5DC}"/>
              </a:ext>
            </a:extLst>
          </p:cNvPr>
          <p:cNvSpPr>
            <a:spLocks xmlns:a="http://schemas.openxmlformats.org/drawingml/2006/main" noGrp="1"/>
          </p:cNvSpPr>
          <p:nvPr/>
        </p:nvSpPr>
        <p:spPr>
          <a:xfrm xmlns:a="http://schemas.openxmlformats.org/drawingml/2006/main">
            <a:off x="6172200" y="3032684"/>
            <a:ext cx="5276850" cy="1516380"/>
          </a:xfrm>
          <a:prstGeom xmlns:a="http://schemas.openxmlformats.org/drawingml/2006/main" prst="roundRect">
            <a:avLst>
              <a:gd name="adj" fmla="val 11307"/>
            </a:avLst>
          </a:prstGeom>
          <a:solidFill xmlns:a="http://schemas.openxmlformats.org/drawingml/2006/main">
            <a:srgbClr val="F8FBFF"/>
          </a:solidFill>
          <a:ln xmlns:a="http://schemas.openxmlformats.org/drawingml/2006/main" w="9525">
            <a:solidFill>
              <a:srgbClr val="DCE7F4"/>
            </a:solidFill>
            <a:prstDash val="solid"/>
          </a:ln>
        </p:spPr>
      </p:sp>
      <p:sp>
        <p:nvSpPr>
          <p:cNvPr id="32" name="">
            <a:extLst xmlns:a="http://schemas.openxmlformats.org/drawingml/2006/main">
              <a:ext uri="{FF2B5EF4-FFF2-40B4-BE49-F238E27FC236}">
                <a16:creationId xmlns:a16="http://schemas.microsoft.com/office/drawing/2014/main" id="{2DBBA3C4-F6D6-44B5-A1B5-533FDFA5D4AE}"/>
              </a:ext>
            </a:extLst>
          </p:cNvPr>
          <p:cNvSpPr>
            <a:spLocks xmlns:a="http://schemas.openxmlformats.org/drawingml/2006/main" noGrp="1"/>
          </p:cNvSpPr>
          <p:nvPr/>
        </p:nvSpPr>
        <p:spPr>
          <a:xfrm xmlns:a="http://schemas.openxmlformats.org/drawingml/2006/main">
            <a:off x="6362700" y="3223184"/>
            <a:ext cx="133350" cy="133350"/>
          </a:xfrm>
          <a:prstGeom xmlns:a="http://schemas.openxmlformats.org/drawingml/2006/main" prst="ellipse">
            <a:avLst/>
          </a:prstGeom>
          <a:solidFill xmlns:a="http://schemas.openxmlformats.org/drawingml/2006/main">
            <a:srgbClr val="2F8F69"/>
          </a:solidFill>
        </p:spPr>
      </p:sp>
      <p:sp>
        <p:nvSpPr>
          <p:cNvPr id="33" name="">
            <a:extLst xmlns:a="http://schemas.openxmlformats.org/drawingml/2006/main">
              <a:ext uri="{FF2B5EF4-FFF2-40B4-BE49-F238E27FC236}">
                <a16:creationId xmlns:a16="http://schemas.microsoft.com/office/drawing/2014/main" id="{1FD8BA3F-5AF0-401D-BA6A-B3C8B8764BED}"/>
              </a:ext>
            </a:extLst>
          </p:cNvPr>
          <p:cNvSpPr>
            <a:spLocks xmlns:a="http://schemas.openxmlformats.org/drawingml/2006/main" noGrp="1"/>
          </p:cNvSpPr>
          <p:nvPr/>
        </p:nvSpPr>
        <p:spPr>
          <a:xfrm xmlns:a="http://schemas.openxmlformats.org/drawingml/2006/main">
            <a:off x="6591300" y="322318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սա կարևոր է</a:t>
            </a:r>
          </a:p>
        </p:txBody>
      </p:sp>
      <p:sp>
        <p:nvSpPr>
          <p:cNvPr id="34" name="">
            <a:extLst xmlns:a="http://schemas.openxmlformats.org/drawingml/2006/main">
              <a:ext uri="{FF2B5EF4-FFF2-40B4-BE49-F238E27FC236}">
                <a16:creationId xmlns:a16="http://schemas.microsoft.com/office/drawing/2014/main" id="{218284BC-4F6F-45EB-B589-3AE164E88E36}"/>
              </a:ext>
            </a:extLst>
          </p:cNvPr>
          <p:cNvSpPr>
            <a:spLocks xmlns:a="http://schemas.openxmlformats.org/drawingml/2006/main" noGrp="1"/>
          </p:cNvSpPr>
          <p:nvPr/>
        </p:nvSpPr>
        <p:spPr>
          <a:xfrm xmlns:a="http://schemas.openxmlformats.org/drawingml/2006/main">
            <a:off x="6362700" y="3584372"/>
            <a:ext cx="48958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Հենց այս աղյուսակն է հետո որոշում, թե ուսանողը ինչ լաբորատորներ է տեսնելու</a:t>
            </a:r>
          </a:p>
        </p:txBody>
      </p:sp>
      <p:sp>
        <p:nvSpPr>
          <p:cNvPr id="35" name="">
            <a:extLst xmlns:a="http://schemas.openxmlformats.org/drawingml/2006/main">
              <a:ext uri="{FF2B5EF4-FFF2-40B4-BE49-F238E27FC236}">
                <a16:creationId xmlns:a16="http://schemas.microsoft.com/office/drawing/2014/main" id="{21FCDC55-ED19-45A9-8F5F-1C1F0FE1BD08}"/>
              </a:ext>
            </a:extLst>
          </p:cNvPr>
          <p:cNvSpPr>
            <a:spLocks xmlns:a="http://schemas.openxmlformats.org/drawingml/2006/main" noGrp="1"/>
          </p:cNvSpPr>
          <p:nvPr/>
        </p:nvSpPr>
        <p:spPr>
          <a:xfrm xmlns:a="http://schemas.openxmlformats.org/drawingml/2006/main">
            <a:off x="6362700" y="4132250"/>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Եվ ում արդյունքներն են թույլատրելի գրանցել տվյալ offering-ի մեջ</a:t>
            </a:r>
          </a:p>
        </p:txBody>
      </p:sp>
      <p:sp>
        <p:nvSpPr>
          <p:cNvPr id="36" name="">
            <a:extLst xmlns:a="http://schemas.openxmlformats.org/drawingml/2006/main">
              <a:ext uri="{FF2B5EF4-FFF2-40B4-BE49-F238E27FC236}">
                <a16:creationId xmlns:a16="http://schemas.microsoft.com/office/drawing/2014/main" id="{5D72D95E-F2BC-4E37-95B0-54F9DDF6EEC9}"/>
              </a:ext>
            </a:extLst>
          </p:cNvPr>
          <p:cNvSpPr>
            <a:spLocks xmlns:a="http://schemas.openxmlformats.org/drawingml/2006/main" noGrp="1"/>
          </p:cNvSpPr>
          <p:nvPr/>
        </p:nvSpPr>
        <p:spPr>
          <a:xfrm xmlns:a="http://schemas.openxmlformats.org/drawingml/2006/main">
            <a:off x="742950" y="4720514"/>
            <a:ext cx="1070610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37" name="">
            <a:extLst xmlns:a="http://schemas.openxmlformats.org/drawingml/2006/main">
              <a:ext uri="{FF2B5EF4-FFF2-40B4-BE49-F238E27FC236}">
                <a16:creationId xmlns:a16="http://schemas.microsoft.com/office/drawing/2014/main" id="{80D07A82-54DE-40AE-855A-894AF70DC533}"/>
              </a:ext>
            </a:extLst>
          </p:cNvPr>
          <p:cNvSpPr>
            <a:spLocks xmlns:a="http://schemas.openxmlformats.org/drawingml/2006/main" noGrp="1"/>
          </p:cNvSpPr>
          <p:nvPr/>
        </p:nvSpPr>
        <p:spPr>
          <a:xfrm xmlns:a="http://schemas.openxmlformats.org/drawingml/2006/main">
            <a:off x="933450" y="4911014"/>
            <a:ext cx="133350" cy="133350"/>
          </a:xfrm>
          <a:prstGeom xmlns:a="http://schemas.openxmlformats.org/drawingml/2006/main" prst="ellipse">
            <a:avLst/>
          </a:prstGeom>
          <a:solidFill xmlns:a="http://schemas.openxmlformats.org/drawingml/2006/main">
            <a:srgbClr val="D98F2B"/>
          </a:solidFill>
        </p:spPr>
      </p:sp>
      <p:sp>
        <p:nvSpPr>
          <p:cNvPr id="38" name="">
            <a:extLst xmlns:a="http://schemas.openxmlformats.org/drawingml/2006/main">
              <a:ext uri="{FF2B5EF4-FFF2-40B4-BE49-F238E27FC236}">
                <a16:creationId xmlns:a16="http://schemas.microsoft.com/office/drawing/2014/main" id="{4A4B984E-C3D8-4F84-92E9-1CF752107590}"/>
              </a:ext>
            </a:extLst>
          </p:cNvPr>
          <p:cNvSpPr>
            <a:spLocks xmlns:a="http://schemas.openxmlformats.org/drawingml/2006/main" noGrp="1"/>
          </p:cNvSpPr>
          <p:nvPr/>
        </p:nvSpPr>
        <p:spPr>
          <a:xfrm xmlns:a="http://schemas.openxmlformats.org/drawingml/2006/main">
            <a:off x="1162050" y="4911014"/>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39" name="">
            <a:extLst xmlns:a="http://schemas.openxmlformats.org/drawingml/2006/main">
              <a:ext uri="{FF2B5EF4-FFF2-40B4-BE49-F238E27FC236}">
                <a16:creationId xmlns:a16="http://schemas.microsoft.com/office/drawing/2014/main" id="{C06A052D-616F-4D8F-9830-1C3A3FEE07FF}"/>
              </a:ext>
            </a:extLst>
          </p:cNvPr>
          <p:cNvSpPr>
            <a:spLocks xmlns:a="http://schemas.openxmlformats.org/drawingml/2006/main" noGrp="1"/>
          </p:cNvSpPr>
          <p:nvPr/>
        </p:nvSpPr>
        <p:spPr>
          <a:xfrm xmlns:a="http://schemas.openxmlformats.org/drawingml/2006/main">
            <a:off x="933450" y="5272202"/>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students - student_subject_enrollments - subject_group_offerings - lab_groups</a:t>
            </a:r>
          </a:p>
        </p:txBody>
      </p:sp>
      <p:sp>
        <p:nvSpPr>
          <p:cNvPr id="40" name="">
            <a:extLst xmlns:a="http://schemas.openxmlformats.org/drawingml/2006/main">
              <a:ext uri="{FF2B5EF4-FFF2-40B4-BE49-F238E27FC236}">
                <a16:creationId xmlns:a16="http://schemas.microsoft.com/office/drawing/2014/main" id="{D2083965-D65B-4472-9D55-BD187691CAED}"/>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1" name="">
            <a:extLst xmlns:a="http://schemas.openxmlformats.org/drawingml/2006/main">
              <a:ext uri="{FF2B5EF4-FFF2-40B4-BE49-F238E27FC236}">
                <a16:creationId xmlns:a16="http://schemas.microsoft.com/office/drawing/2014/main" id="{AE2EA778-E288-440B-9E0F-938C68FA321C}"/>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11</a:t>
            </a:r>
          </a:p>
        </p:txBody>
      </p:sp>
    </p:spTree>
    <p:extLst>
      <p:ext uri="{BB962C8B-B14F-4D97-AF65-F5344CB8AC3E}">
        <p14:creationId xmlns:p14="http://schemas.microsoft.com/office/powerpoint/2010/main" val="162171226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2A2F1F-7B20-49F9-A74F-7B20C562FD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A7583795-6089-4416-9F62-5EB2ED1903DB}"/>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13678B6F-F6DF-4909-9D71-785E1E00D7E5}"/>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D7062C05-C467-46AB-B099-8274B802DB61}"/>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C0455F6B-56D8-470F-ACAE-874CC082FBFE}"/>
              </a:ext>
            </a:extLst>
          </p:cNvPr>
          <p:cNvSpPr>
            <a:spLocks xmlns:a="http://schemas.openxmlformats.org/drawingml/2006/main" noGrp="1"/>
          </p:cNvSpPr>
          <p:nvPr/>
        </p:nvSpPr>
        <p:spPr>
          <a:xfrm xmlns:a="http://schemas.openxmlformats.org/drawingml/2006/main">
            <a:off x="819150" y="952500"/>
            <a:ext cx="1652968"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Լաբորատոր աշխատանքներ</a:t>
            </a:r>
          </a:p>
        </p:txBody>
      </p:sp>
      <p:sp>
        <p:nvSpPr>
          <p:cNvPr id="6" name="">
            <a:extLst xmlns:a="http://schemas.openxmlformats.org/drawingml/2006/main">
              <a:ext uri="{FF2B5EF4-FFF2-40B4-BE49-F238E27FC236}">
                <a16:creationId xmlns:a16="http://schemas.microsoft.com/office/drawing/2014/main" id="{CFF5D42B-9509-46AF-B73B-C6F9B6A2B702}"/>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`lab_assignments` աղյուսակը</a:t>
            </a:r>
          </a:p>
        </p:txBody>
      </p:sp>
      <p:sp>
        <p:nvSpPr>
          <p:cNvPr id="7" name="">
            <a:extLst xmlns:a="http://schemas.openxmlformats.org/drawingml/2006/main">
              <a:ext uri="{FF2B5EF4-FFF2-40B4-BE49-F238E27FC236}">
                <a16:creationId xmlns:a16="http://schemas.microsoft.com/office/drawing/2014/main" id="{AD483967-EB5F-446A-973B-BAF70FAD9396}"/>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Այստեղ պահվում են տվյալ առաջարկին պատկանող լաբորատոր աշխատանքները որպես առանձին ուսումնական միավորներ</a:t>
            </a:r>
          </a:p>
        </p:txBody>
      </p:sp>
      <p:sp>
        <p:nvSpPr>
          <p:cNvPr id="8" name="">
            <a:extLst xmlns:a="http://schemas.openxmlformats.org/drawingml/2006/main">
              <a:ext uri="{FF2B5EF4-FFF2-40B4-BE49-F238E27FC236}">
                <a16:creationId xmlns:a16="http://schemas.microsoft.com/office/drawing/2014/main" id="{58A28EF1-C5FD-422D-9820-3C8A45FC01CE}"/>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9F2BDD9D-3092-4655-87DB-C2A987C596E4}"/>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12</a:t>
            </a:r>
          </a:p>
        </p:txBody>
      </p:sp>
      <p:sp>
        <p:nvSpPr>
          <p:cNvPr id="10" name="">
            <a:extLst xmlns:a="http://schemas.openxmlformats.org/drawingml/2006/main">
              <a:ext uri="{FF2B5EF4-FFF2-40B4-BE49-F238E27FC236}">
                <a16:creationId xmlns:a16="http://schemas.microsoft.com/office/drawing/2014/main" id="{2D553225-9C15-49CB-A8DB-2E52990ADAF0}"/>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C75A44E3-3A92-46B2-B2A7-2500EBE865AF}"/>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001AD52F-E67B-4457-8F17-1A693098C933}"/>
              </a:ext>
            </a:extLst>
          </p:cNvPr>
          <p:cNvSpPr>
            <a:spLocks xmlns:a="http://schemas.openxmlformats.org/drawingml/2006/main" noGrp="1"/>
          </p:cNvSpPr>
          <p:nvPr/>
        </p:nvSpPr>
        <p:spPr>
          <a:xfrm xmlns:a="http://schemas.openxmlformats.org/drawingml/2006/main">
            <a:off x="742950" y="2064639"/>
            <a:ext cx="1809750" cy="525780"/>
          </a:xfrm>
          <a:prstGeom xmlns:a="http://schemas.openxmlformats.org/drawingml/2006/main" prst="roundRect">
            <a:avLst>
              <a:gd name="adj" fmla="val 21739"/>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2635CC52-E4E5-49EF-BE0B-98D1CB40DDFA}"/>
              </a:ext>
            </a:extLst>
          </p:cNvPr>
          <p:cNvSpPr>
            <a:spLocks xmlns:a="http://schemas.openxmlformats.org/drawingml/2006/main" noGrp="1"/>
          </p:cNvSpPr>
          <p:nvPr/>
        </p:nvSpPr>
        <p:spPr>
          <a:xfrm xmlns:a="http://schemas.openxmlformats.org/drawingml/2006/main">
            <a:off x="857250" y="2178939"/>
            <a:ext cx="145084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`lab_assignments` դաշտ</a:t>
            </a:r>
          </a:p>
        </p:txBody>
      </p:sp>
      <p:sp>
        <p:nvSpPr>
          <p:cNvPr id="14" name="">
            <a:extLst xmlns:a="http://schemas.openxmlformats.org/drawingml/2006/main">
              <a:ext uri="{FF2B5EF4-FFF2-40B4-BE49-F238E27FC236}">
                <a16:creationId xmlns:a16="http://schemas.microsoft.com/office/drawing/2014/main" id="{BF12A2C7-BC6F-48D5-845F-14141B94FBD4}"/>
              </a:ext>
            </a:extLst>
          </p:cNvPr>
          <p:cNvSpPr>
            <a:spLocks xmlns:a="http://schemas.openxmlformats.org/drawingml/2006/main" noGrp="1"/>
          </p:cNvSpPr>
          <p:nvPr/>
        </p:nvSpPr>
        <p:spPr>
          <a:xfrm xmlns:a="http://schemas.openxmlformats.org/drawingml/2006/main">
            <a:off x="2628900" y="2064639"/>
            <a:ext cx="2590800" cy="525780"/>
          </a:xfrm>
          <a:prstGeom xmlns:a="http://schemas.openxmlformats.org/drawingml/2006/main" prst="roundRect">
            <a:avLst>
              <a:gd name="adj" fmla="val 21739"/>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807C3161-19EF-4A90-A4DD-E1A5485DEF63}"/>
              </a:ext>
            </a:extLst>
          </p:cNvPr>
          <p:cNvSpPr>
            <a:spLocks xmlns:a="http://schemas.openxmlformats.org/drawingml/2006/main" noGrp="1"/>
          </p:cNvSpPr>
          <p:nvPr/>
        </p:nvSpPr>
        <p:spPr>
          <a:xfrm xmlns:a="http://schemas.openxmlformats.org/drawingml/2006/main">
            <a:off x="2743200" y="2178939"/>
            <a:ext cx="99117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Բացատրություն</a:t>
            </a:r>
          </a:p>
        </p:txBody>
      </p:sp>
      <p:sp>
        <p:nvSpPr>
          <p:cNvPr id="16" name="">
            <a:extLst xmlns:a="http://schemas.openxmlformats.org/drawingml/2006/main">
              <a:ext uri="{FF2B5EF4-FFF2-40B4-BE49-F238E27FC236}">
                <a16:creationId xmlns:a16="http://schemas.microsoft.com/office/drawing/2014/main" id="{7E67A5F5-258C-4940-97D0-BB0A67CE027E}"/>
              </a:ext>
            </a:extLst>
          </p:cNvPr>
          <p:cNvSpPr>
            <a:spLocks xmlns:a="http://schemas.openxmlformats.org/drawingml/2006/main" noGrp="1"/>
          </p:cNvSpPr>
          <p:nvPr/>
        </p:nvSpPr>
        <p:spPr>
          <a:xfrm xmlns:a="http://schemas.openxmlformats.org/drawingml/2006/main">
            <a:off x="742950" y="2666619"/>
            <a:ext cx="1809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DFFFC65E-8B00-4E84-89EA-7122FFFB697A}"/>
              </a:ext>
            </a:extLst>
          </p:cNvPr>
          <p:cNvSpPr>
            <a:spLocks xmlns:a="http://schemas.openxmlformats.org/drawingml/2006/main" noGrp="1"/>
          </p:cNvSpPr>
          <p:nvPr/>
        </p:nvSpPr>
        <p:spPr>
          <a:xfrm xmlns:a="http://schemas.openxmlformats.org/drawingml/2006/main">
            <a:off x="857250" y="2780919"/>
            <a:ext cx="1581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subject_group_offering_id</a:t>
            </a:r>
          </a:p>
        </p:txBody>
      </p:sp>
      <p:sp>
        <p:nvSpPr>
          <p:cNvPr id="18" name="">
            <a:extLst xmlns:a="http://schemas.openxmlformats.org/drawingml/2006/main">
              <a:ext uri="{FF2B5EF4-FFF2-40B4-BE49-F238E27FC236}">
                <a16:creationId xmlns:a16="http://schemas.microsoft.com/office/drawing/2014/main" id="{978D2BF2-4EFB-44A2-8706-BCF2A325B450}"/>
              </a:ext>
            </a:extLst>
          </p:cNvPr>
          <p:cNvSpPr>
            <a:spLocks xmlns:a="http://schemas.openxmlformats.org/drawingml/2006/main" noGrp="1"/>
          </p:cNvSpPr>
          <p:nvPr/>
        </p:nvSpPr>
        <p:spPr>
          <a:xfrm xmlns:a="http://schemas.openxmlformats.org/drawingml/2006/main">
            <a:off x="2628900" y="2666619"/>
            <a:ext cx="2590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03D21BBC-F444-40FD-8B53-775686AA2976}"/>
              </a:ext>
            </a:extLst>
          </p:cNvPr>
          <p:cNvSpPr>
            <a:spLocks xmlns:a="http://schemas.openxmlformats.org/drawingml/2006/main" noGrp="1"/>
          </p:cNvSpPr>
          <p:nvPr/>
        </p:nvSpPr>
        <p:spPr>
          <a:xfrm xmlns:a="http://schemas.openxmlformats.org/drawingml/2006/main">
            <a:off x="2743200" y="2780919"/>
            <a:ext cx="2362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offering-ի լաբորատորն է</a:t>
            </a:r>
          </a:p>
        </p:txBody>
      </p:sp>
      <p:sp>
        <p:nvSpPr>
          <p:cNvPr id="20" name="">
            <a:extLst xmlns:a="http://schemas.openxmlformats.org/drawingml/2006/main">
              <a:ext uri="{FF2B5EF4-FFF2-40B4-BE49-F238E27FC236}">
                <a16:creationId xmlns:a16="http://schemas.microsoft.com/office/drawing/2014/main" id="{D1C79491-3FC4-4920-811D-6D02DA941A5F}"/>
              </a:ext>
            </a:extLst>
          </p:cNvPr>
          <p:cNvSpPr>
            <a:spLocks xmlns:a="http://schemas.openxmlformats.org/drawingml/2006/main" noGrp="1"/>
          </p:cNvSpPr>
          <p:nvPr/>
        </p:nvSpPr>
        <p:spPr>
          <a:xfrm xmlns:a="http://schemas.openxmlformats.org/drawingml/2006/main">
            <a:off x="742950" y="3182645"/>
            <a:ext cx="1809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706A6B20-BFE9-47FB-A177-AA29DEC16501}"/>
              </a:ext>
            </a:extLst>
          </p:cNvPr>
          <p:cNvSpPr>
            <a:spLocks xmlns:a="http://schemas.openxmlformats.org/drawingml/2006/main" noGrp="1"/>
          </p:cNvSpPr>
          <p:nvPr/>
        </p:nvSpPr>
        <p:spPr>
          <a:xfrm xmlns:a="http://schemas.openxmlformats.org/drawingml/2006/main">
            <a:off x="857250" y="3296945"/>
            <a:ext cx="1581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lab_number</a:t>
            </a:r>
          </a:p>
        </p:txBody>
      </p:sp>
      <p:sp>
        <p:nvSpPr>
          <p:cNvPr id="22" name="">
            <a:extLst xmlns:a="http://schemas.openxmlformats.org/drawingml/2006/main">
              <a:ext uri="{FF2B5EF4-FFF2-40B4-BE49-F238E27FC236}">
                <a16:creationId xmlns:a16="http://schemas.microsoft.com/office/drawing/2014/main" id="{B610C63D-50ED-4EB1-97BF-9A27D7FC49A6}"/>
              </a:ext>
            </a:extLst>
          </p:cNvPr>
          <p:cNvSpPr>
            <a:spLocks xmlns:a="http://schemas.openxmlformats.org/drawingml/2006/main" noGrp="1"/>
          </p:cNvSpPr>
          <p:nvPr/>
        </p:nvSpPr>
        <p:spPr>
          <a:xfrm xmlns:a="http://schemas.openxmlformats.org/drawingml/2006/main">
            <a:off x="2628900" y="3182645"/>
            <a:ext cx="2590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F895685A-4C8C-45C7-B994-22FD77624DE6}"/>
              </a:ext>
            </a:extLst>
          </p:cNvPr>
          <p:cNvSpPr>
            <a:spLocks xmlns:a="http://schemas.openxmlformats.org/drawingml/2006/main" noGrp="1"/>
          </p:cNvSpPr>
          <p:nvPr/>
        </p:nvSpPr>
        <p:spPr>
          <a:xfrm xmlns:a="http://schemas.openxmlformats.org/drawingml/2006/main">
            <a:off x="2743200" y="3296945"/>
            <a:ext cx="2362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Աշխատանքի հերթական համարը</a:t>
            </a:r>
          </a:p>
        </p:txBody>
      </p:sp>
      <p:sp>
        <p:nvSpPr>
          <p:cNvPr id="24" name="">
            <a:extLst xmlns:a="http://schemas.openxmlformats.org/drawingml/2006/main">
              <a:ext uri="{FF2B5EF4-FFF2-40B4-BE49-F238E27FC236}">
                <a16:creationId xmlns:a16="http://schemas.microsoft.com/office/drawing/2014/main" id="{67046F38-5946-4D78-8A60-2D02272B1B13}"/>
              </a:ext>
            </a:extLst>
          </p:cNvPr>
          <p:cNvSpPr>
            <a:spLocks xmlns:a="http://schemas.openxmlformats.org/drawingml/2006/main" noGrp="1"/>
          </p:cNvSpPr>
          <p:nvPr/>
        </p:nvSpPr>
        <p:spPr>
          <a:xfrm xmlns:a="http://schemas.openxmlformats.org/drawingml/2006/main">
            <a:off x="742950" y="3698672"/>
            <a:ext cx="180975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603A9A81-81E0-4548-BD7A-EE9E9FE619DB}"/>
              </a:ext>
            </a:extLst>
          </p:cNvPr>
          <p:cNvSpPr>
            <a:spLocks xmlns:a="http://schemas.openxmlformats.org/drawingml/2006/main" noGrp="1"/>
          </p:cNvSpPr>
          <p:nvPr/>
        </p:nvSpPr>
        <p:spPr>
          <a:xfrm xmlns:a="http://schemas.openxmlformats.org/drawingml/2006/main">
            <a:off x="857250" y="3812972"/>
            <a:ext cx="15811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max_grade</a:t>
            </a:r>
          </a:p>
        </p:txBody>
      </p:sp>
      <p:sp>
        <p:nvSpPr>
          <p:cNvPr id="26" name="">
            <a:extLst xmlns:a="http://schemas.openxmlformats.org/drawingml/2006/main">
              <a:ext uri="{FF2B5EF4-FFF2-40B4-BE49-F238E27FC236}">
                <a16:creationId xmlns:a16="http://schemas.microsoft.com/office/drawing/2014/main" id="{91E4EF1A-F779-41A3-9EE5-7C2F1F8BFDEF}"/>
              </a:ext>
            </a:extLst>
          </p:cNvPr>
          <p:cNvSpPr>
            <a:spLocks xmlns:a="http://schemas.openxmlformats.org/drawingml/2006/main" noGrp="1"/>
          </p:cNvSpPr>
          <p:nvPr/>
        </p:nvSpPr>
        <p:spPr>
          <a:xfrm xmlns:a="http://schemas.openxmlformats.org/drawingml/2006/main">
            <a:off x="2628900" y="3698672"/>
            <a:ext cx="259080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9F73CCF1-BAC3-4B07-824B-48436A9FB27D}"/>
              </a:ext>
            </a:extLst>
          </p:cNvPr>
          <p:cNvSpPr>
            <a:spLocks xmlns:a="http://schemas.openxmlformats.org/drawingml/2006/main" noGrp="1"/>
          </p:cNvSpPr>
          <p:nvPr/>
        </p:nvSpPr>
        <p:spPr>
          <a:xfrm xmlns:a="http://schemas.openxmlformats.org/drawingml/2006/main">
            <a:off x="2743200" y="3812972"/>
            <a:ext cx="23622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Առավելագույն գնահատականը</a:t>
            </a:r>
          </a:p>
        </p:txBody>
      </p:sp>
      <p:sp>
        <p:nvSpPr>
          <p:cNvPr id="28" name="">
            <a:extLst xmlns:a="http://schemas.openxmlformats.org/drawingml/2006/main">
              <a:ext uri="{FF2B5EF4-FFF2-40B4-BE49-F238E27FC236}">
                <a16:creationId xmlns:a16="http://schemas.microsoft.com/office/drawing/2014/main" id="{29002710-7D11-41AD-BAF1-11C4A6920500}"/>
              </a:ext>
            </a:extLst>
          </p:cNvPr>
          <p:cNvSpPr>
            <a:spLocks xmlns:a="http://schemas.openxmlformats.org/drawingml/2006/main" noGrp="1"/>
          </p:cNvSpPr>
          <p:nvPr/>
        </p:nvSpPr>
        <p:spPr>
          <a:xfrm xmlns:a="http://schemas.openxmlformats.org/drawingml/2006/main">
            <a:off x="5391150" y="2064639"/>
            <a:ext cx="6057900" cy="1837944"/>
          </a:xfrm>
          <a:prstGeom xmlns:a="http://schemas.openxmlformats.org/drawingml/2006/main" prst="roundRect">
            <a:avLst>
              <a:gd name="adj" fmla="val 9328"/>
            </a:avLst>
          </a:prstGeom>
          <a:solidFill xmlns:a="http://schemas.openxmlformats.org/drawingml/2006/main">
            <a:srgbClr val="F8FBFF"/>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BD083B45-418A-4CDC-913A-E3772DE3B675}"/>
              </a:ext>
            </a:extLst>
          </p:cNvPr>
          <p:cNvSpPr>
            <a:spLocks xmlns:a="http://schemas.openxmlformats.org/drawingml/2006/main" noGrp="1"/>
          </p:cNvSpPr>
          <p:nvPr/>
        </p:nvSpPr>
        <p:spPr>
          <a:xfrm xmlns:a="http://schemas.openxmlformats.org/drawingml/2006/main">
            <a:off x="5581650" y="2255139"/>
            <a:ext cx="133350" cy="133350"/>
          </a:xfrm>
          <a:prstGeom xmlns:a="http://schemas.openxmlformats.org/drawingml/2006/main" prst="ellipse">
            <a:avLst/>
          </a:prstGeom>
          <a:solidFill xmlns:a="http://schemas.openxmlformats.org/drawingml/2006/main">
            <a:srgbClr val="0F4C81"/>
          </a:solidFill>
        </p:spPr>
      </p:sp>
      <p:sp>
        <p:nvSpPr>
          <p:cNvPr id="30" name="">
            <a:extLst xmlns:a="http://schemas.openxmlformats.org/drawingml/2006/main">
              <a:ext uri="{FF2B5EF4-FFF2-40B4-BE49-F238E27FC236}">
                <a16:creationId xmlns:a16="http://schemas.microsoft.com/office/drawing/2014/main" id="{EE7AA8A5-C34C-4EE9-9FC4-F90CAD11B879}"/>
              </a:ext>
            </a:extLst>
          </p:cNvPr>
          <p:cNvSpPr>
            <a:spLocks xmlns:a="http://schemas.openxmlformats.org/drawingml/2006/main" noGrp="1"/>
          </p:cNvSpPr>
          <p:nvPr/>
        </p:nvSpPr>
        <p:spPr>
          <a:xfrm xmlns:a="http://schemas.openxmlformats.org/drawingml/2006/main">
            <a:off x="5810250" y="2255139"/>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Աղյուսակի բիզնես դերը</a:t>
            </a:r>
          </a:p>
        </p:txBody>
      </p:sp>
      <p:sp>
        <p:nvSpPr>
          <p:cNvPr id="31" name="">
            <a:extLst xmlns:a="http://schemas.openxmlformats.org/drawingml/2006/main">
              <a:ext uri="{FF2B5EF4-FFF2-40B4-BE49-F238E27FC236}">
                <a16:creationId xmlns:a16="http://schemas.microsoft.com/office/drawing/2014/main" id="{C18EB144-8ADD-47D0-986A-A46CF62FAAC0}"/>
              </a:ext>
            </a:extLst>
          </p:cNvPr>
          <p:cNvSpPr>
            <a:spLocks xmlns:a="http://schemas.openxmlformats.org/drawingml/2006/main" noGrp="1"/>
          </p:cNvSpPr>
          <p:nvPr/>
        </p:nvSpPr>
        <p:spPr>
          <a:xfrm xmlns:a="http://schemas.openxmlformats.org/drawingml/2006/main">
            <a:off x="5581650" y="2616327"/>
            <a:ext cx="56769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Լաբորատոր աշխատանքը պահվում է որպես առանձին ուսումնական օբյեկտ</a:t>
            </a:r>
          </a:p>
        </p:txBody>
      </p:sp>
      <p:sp>
        <p:nvSpPr>
          <p:cNvPr id="32" name="">
            <a:extLst xmlns:a="http://schemas.openxmlformats.org/drawingml/2006/main">
              <a:ext uri="{FF2B5EF4-FFF2-40B4-BE49-F238E27FC236}">
                <a16:creationId xmlns:a16="http://schemas.microsoft.com/office/drawing/2014/main" id="{C290595A-99A3-40D1-A66F-A9916BE19BE3}"/>
              </a:ext>
            </a:extLst>
          </p:cNvPr>
          <p:cNvSpPr>
            <a:spLocks xmlns:a="http://schemas.openxmlformats.org/drawingml/2006/main" noGrp="1"/>
          </p:cNvSpPr>
          <p:nvPr/>
        </p:nvSpPr>
        <p:spPr>
          <a:xfrm xmlns:a="http://schemas.openxmlformats.org/drawingml/2006/main">
            <a:off x="5581650" y="2937891"/>
            <a:ext cx="56769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Այն պատկանում է տվյալ առարկայի offering-ին</a:t>
            </a:r>
          </a:p>
        </p:txBody>
      </p:sp>
      <p:sp>
        <p:nvSpPr>
          <p:cNvPr id="33" name="">
            <a:extLst xmlns:a="http://schemas.openxmlformats.org/drawingml/2006/main">
              <a:ext uri="{FF2B5EF4-FFF2-40B4-BE49-F238E27FC236}">
                <a16:creationId xmlns:a16="http://schemas.microsoft.com/office/drawing/2014/main" id="{1C4E6B41-5CC7-450D-BDC7-2628B05605FA}"/>
              </a:ext>
            </a:extLst>
          </p:cNvPr>
          <p:cNvSpPr>
            <a:spLocks xmlns:a="http://schemas.openxmlformats.org/drawingml/2006/main" noGrp="1"/>
          </p:cNvSpPr>
          <p:nvPr/>
        </p:nvSpPr>
        <p:spPr>
          <a:xfrm xmlns:a="http://schemas.openxmlformats.org/drawingml/2006/main">
            <a:off x="5581650" y="3259455"/>
            <a:ext cx="567690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Այսպիսով արդյունքները հետո կարելի է պահել աշխատանքի մակարդակով, ոչ թե միայն առարկայի ընդհանուր մակարդակով</a:t>
            </a:r>
          </a:p>
        </p:txBody>
      </p:sp>
      <p:sp>
        <p:nvSpPr>
          <p:cNvPr id="34" name="">
            <a:extLst xmlns:a="http://schemas.openxmlformats.org/drawingml/2006/main">
              <a:ext uri="{FF2B5EF4-FFF2-40B4-BE49-F238E27FC236}">
                <a16:creationId xmlns:a16="http://schemas.microsoft.com/office/drawing/2014/main" id="{0427003E-C189-48DA-9B5C-0BAAAC8FF812}"/>
              </a:ext>
            </a:extLst>
          </p:cNvPr>
          <p:cNvSpPr>
            <a:spLocks xmlns:a="http://schemas.openxmlformats.org/drawingml/2006/main" noGrp="1"/>
          </p:cNvSpPr>
          <p:nvPr/>
        </p:nvSpPr>
        <p:spPr>
          <a:xfrm xmlns:a="http://schemas.openxmlformats.org/drawingml/2006/main">
            <a:off x="5391150" y="4054983"/>
            <a:ext cx="605790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35" name="">
            <a:extLst xmlns:a="http://schemas.openxmlformats.org/drawingml/2006/main">
              <a:ext uri="{FF2B5EF4-FFF2-40B4-BE49-F238E27FC236}">
                <a16:creationId xmlns:a16="http://schemas.microsoft.com/office/drawing/2014/main" id="{1F333C99-B1BC-4330-8306-DF97D7E5E1EB}"/>
              </a:ext>
            </a:extLst>
          </p:cNvPr>
          <p:cNvSpPr>
            <a:spLocks xmlns:a="http://schemas.openxmlformats.org/drawingml/2006/main" noGrp="1"/>
          </p:cNvSpPr>
          <p:nvPr/>
        </p:nvSpPr>
        <p:spPr>
          <a:xfrm xmlns:a="http://schemas.openxmlformats.org/drawingml/2006/main">
            <a:off x="5581650" y="4245483"/>
            <a:ext cx="133350" cy="133350"/>
          </a:xfrm>
          <a:prstGeom xmlns:a="http://schemas.openxmlformats.org/drawingml/2006/main" prst="ellipse">
            <a:avLst/>
          </a:prstGeom>
          <a:solidFill xmlns:a="http://schemas.openxmlformats.org/drawingml/2006/main">
            <a:srgbClr val="D98F2B"/>
          </a:solidFill>
        </p:spPr>
      </p:sp>
      <p:sp>
        <p:nvSpPr>
          <p:cNvPr id="36" name="">
            <a:extLst xmlns:a="http://schemas.openxmlformats.org/drawingml/2006/main">
              <a:ext uri="{FF2B5EF4-FFF2-40B4-BE49-F238E27FC236}">
                <a16:creationId xmlns:a16="http://schemas.microsoft.com/office/drawing/2014/main" id="{7B295061-9566-4E44-85E3-F4A35A123DD0}"/>
              </a:ext>
            </a:extLst>
          </p:cNvPr>
          <p:cNvSpPr>
            <a:spLocks xmlns:a="http://schemas.openxmlformats.org/drawingml/2006/main" noGrp="1"/>
          </p:cNvSpPr>
          <p:nvPr/>
        </p:nvSpPr>
        <p:spPr>
          <a:xfrm xmlns:a="http://schemas.openxmlformats.org/drawingml/2006/main">
            <a:off x="5810250" y="4245483"/>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Screenshot placeholder</a:t>
            </a:r>
          </a:p>
        </p:txBody>
      </p:sp>
      <p:sp>
        <p:nvSpPr>
          <p:cNvPr id="37" name="">
            <a:extLst xmlns:a="http://schemas.openxmlformats.org/drawingml/2006/main">
              <a:ext uri="{FF2B5EF4-FFF2-40B4-BE49-F238E27FC236}">
                <a16:creationId xmlns:a16="http://schemas.microsoft.com/office/drawing/2014/main" id="{9CD18CDC-3FCF-455A-B38C-FF716778E227}"/>
              </a:ext>
            </a:extLst>
          </p:cNvPr>
          <p:cNvSpPr>
            <a:spLocks xmlns:a="http://schemas.openxmlformats.org/drawingml/2006/main" noGrp="1"/>
          </p:cNvSpPr>
          <p:nvPr/>
        </p:nvSpPr>
        <p:spPr>
          <a:xfrm xmlns:a="http://schemas.openxmlformats.org/drawingml/2006/main">
            <a:off x="5581650" y="4606671"/>
            <a:ext cx="56769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Տեղադրել `lab_assignments` table screenshot</a:t>
            </a:r>
          </a:p>
        </p:txBody>
      </p:sp>
      <p:sp>
        <p:nvSpPr>
          <p:cNvPr id="38" name="">
            <a:extLst xmlns:a="http://schemas.openxmlformats.org/drawingml/2006/main">
              <a:ext uri="{FF2B5EF4-FFF2-40B4-BE49-F238E27FC236}">
                <a16:creationId xmlns:a16="http://schemas.microsoft.com/office/drawing/2014/main" id="{6B87962B-FA3F-4D9A-9667-A0ED43A8656A}"/>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39" name="">
            <a:extLst xmlns:a="http://schemas.openxmlformats.org/drawingml/2006/main">
              <a:ext uri="{FF2B5EF4-FFF2-40B4-BE49-F238E27FC236}">
                <a16:creationId xmlns:a16="http://schemas.microsoft.com/office/drawing/2014/main" id="{880BA6F5-56D5-45C7-8115-634D89070FD3}"/>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12</a:t>
            </a:r>
          </a:p>
        </p:txBody>
      </p:sp>
    </p:spTree>
    <p:extLst>
      <p:ext uri="{BB962C8B-B14F-4D97-AF65-F5344CB8AC3E}">
        <p14:creationId xmlns:p14="http://schemas.microsoft.com/office/powerpoint/2010/main" val="19416434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09AE87-74E5-4AF8-998E-FFFD3BE83F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980F7582-D621-4FFA-B029-FE43CC346AF2}"/>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D1FEE60F-F6A6-4C0F-A662-7E3639688A87}"/>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B2DAB74D-DC39-4D24-A498-97D1655A710A}"/>
              </a:ext>
            </a:extLst>
          </p:cNvPr>
          <p:cNvSpPr>
            <a:spLocks xmlns:a="http://schemas.openxmlformats.org/drawingml/2006/main" noGrp="1"/>
          </p:cNvSpPr>
          <p:nvPr/>
        </p:nvSpPr>
        <p:spPr>
          <a:xfrm xmlns:a="http://schemas.openxmlformats.org/drawingml/2006/main">
            <a:off x="742950" y="876300"/>
            <a:ext cx="1428750" cy="426720"/>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356E0F0D-8DCA-4EF7-BEBD-944EE3F7C986}"/>
              </a:ext>
            </a:extLst>
          </p:cNvPr>
          <p:cNvSpPr>
            <a:spLocks xmlns:a="http://schemas.openxmlformats.org/drawingml/2006/main" noGrp="1"/>
          </p:cNvSpPr>
          <p:nvPr/>
        </p:nvSpPr>
        <p:spPr>
          <a:xfrm xmlns:a="http://schemas.openxmlformats.org/drawingml/2006/main">
            <a:off x="819150" y="952500"/>
            <a:ext cx="711803"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Արդյունքներ</a:t>
            </a:r>
          </a:p>
        </p:txBody>
      </p:sp>
      <p:sp>
        <p:nvSpPr>
          <p:cNvPr id="6" name="">
            <a:extLst xmlns:a="http://schemas.openxmlformats.org/drawingml/2006/main">
              <a:ext uri="{FF2B5EF4-FFF2-40B4-BE49-F238E27FC236}">
                <a16:creationId xmlns:a16="http://schemas.microsoft.com/office/drawing/2014/main" id="{C9A93BE3-4277-4DCF-B5DB-5608E6D3504B}"/>
              </a:ext>
            </a:extLst>
          </p:cNvPr>
          <p:cNvSpPr>
            <a:spLocks xmlns:a="http://schemas.openxmlformats.org/drawingml/2006/main" noGrp="1"/>
          </p:cNvSpPr>
          <p:nvPr/>
        </p:nvSpPr>
        <p:spPr>
          <a:xfrm xmlns:a="http://schemas.openxmlformats.org/drawingml/2006/main">
            <a:off x="2286000" y="876300"/>
            <a:ext cx="7524750" cy="4267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`student_lab_results` աղյուսակը</a:t>
            </a:r>
          </a:p>
        </p:txBody>
      </p:sp>
      <p:sp>
        <p:nvSpPr>
          <p:cNvPr id="7" name="">
            <a:extLst xmlns:a="http://schemas.openxmlformats.org/drawingml/2006/main">
              <a:ext uri="{FF2B5EF4-FFF2-40B4-BE49-F238E27FC236}">
                <a16:creationId xmlns:a16="http://schemas.microsoft.com/office/drawing/2014/main" id="{630739D7-7ABC-41E2-B152-C3B2A33BC2F8}"/>
              </a:ext>
            </a:extLst>
          </p:cNvPr>
          <p:cNvSpPr>
            <a:spLocks xmlns:a="http://schemas.openxmlformats.org/drawingml/2006/main" noGrp="1"/>
          </p:cNvSpPr>
          <p:nvPr/>
        </p:nvSpPr>
        <p:spPr>
          <a:xfrm xmlns:a="http://schemas.openxmlformats.org/drawingml/2006/main">
            <a:off x="742950" y="1379220"/>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 աղյուսակը միավորում է ուսանողին, լաբորատոր աշխատանքը, հաճախումը և գնահատականը</a:t>
            </a:r>
          </a:p>
        </p:txBody>
      </p:sp>
      <p:sp>
        <p:nvSpPr>
          <p:cNvPr id="8" name="">
            <a:extLst xmlns:a="http://schemas.openxmlformats.org/drawingml/2006/main">
              <a:ext uri="{FF2B5EF4-FFF2-40B4-BE49-F238E27FC236}">
                <a16:creationId xmlns:a16="http://schemas.microsoft.com/office/drawing/2014/main" id="{12195C1A-5121-4CC6-981F-5934CEC61AB2}"/>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3991BEA8-2F17-4DAC-9E94-D4E4699C2FDE}"/>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13</a:t>
            </a:r>
          </a:p>
        </p:txBody>
      </p:sp>
      <p:sp>
        <p:nvSpPr>
          <p:cNvPr id="10" name="">
            <a:extLst xmlns:a="http://schemas.openxmlformats.org/drawingml/2006/main">
              <a:ext uri="{FF2B5EF4-FFF2-40B4-BE49-F238E27FC236}">
                <a16:creationId xmlns:a16="http://schemas.microsoft.com/office/drawing/2014/main" id="{7E484E1F-5C42-44D1-8FDF-ADB5004A1EFF}"/>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0DF090F6-7E78-432A-B713-97CFB090357B}"/>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F72F3C11-F8E3-416F-9683-2FCB453DFC84}"/>
              </a:ext>
            </a:extLst>
          </p:cNvPr>
          <p:cNvSpPr>
            <a:spLocks xmlns:a="http://schemas.openxmlformats.org/drawingml/2006/main" noGrp="1"/>
          </p:cNvSpPr>
          <p:nvPr/>
        </p:nvSpPr>
        <p:spPr>
          <a:xfrm xmlns:a="http://schemas.openxmlformats.org/drawingml/2006/main">
            <a:off x="742950" y="2064639"/>
            <a:ext cx="1905000" cy="377190"/>
          </a:xfrm>
          <a:prstGeom xmlns:a="http://schemas.openxmlformats.org/drawingml/2006/main" prst="roundRect">
            <a:avLst>
              <a:gd name="adj" fmla="val 30303"/>
            </a:avLst>
          </a:prstGeom>
          <a:solidFill xmlns:a="http://schemas.openxmlformats.org/drawingml/2006/main">
            <a:srgbClr val="E9F3FF"/>
          </a:solidFill>
        </p:spPr>
      </p:sp>
      <p:sp>
        <p:nvSpPr>
          <p:cNvPr id="13" name="">
            <a:extLst xmlns:a="http://schemas.openxmlformats.org/drawingml/2006/main">
              <a:ext uri="{FF2B5EF4-FFF2-40B4-BE49-F238E27FC236}">
                <a16:creationId xmlns:a16="http://schemas.microsoft.com/office/drawing/2014/main" id="{F90BC507-8A62-4593-A770-E7EB8E14B2A1}"/>
              </a:ext>
            </a:extLst>
          </p:cNvPr>
          <p:cNvSpPr>
            <a:spLocks xmlns:a="http://schemas.openxmlformats.org/drawingml/2006/main" noGrp="1"/>
          </p:cNvSpPr>
          <p:nvPr/>
        </p:nvSpPr>
        <p:spPr>
          <a:xfrm xmlns:a="http://schemas.openxmlformats.org/drawingml/2006/main">
            <a:off x="857250" y="2178939"/>
            <a:ext cx="1607058"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`student_lab_results` դաշտ</a:t>
            </a:r>
          </a:p>
        </p:txBody>
      </p:sp>
      <p:sp>
        <p:nvSpPr>
          <p:cNvPr id="14" name="">
            <a:extLst xmlns:a="http://schemas.openxmlformats.org/drawingml/2006/main">
              <a:ext uri="{FF2B5EF4-FFF2-40B4-BE49-F238E27FC236}">
                <a16:creationId xmlns:a16="http://schemas.microsoft.com/office/drawing/2014/main" id="{9374ED0C-A7B7-416D-BCDF-394D052AE282}"/>
              </a:ext>
            </a:extLst>
          </p:cNvPr>
          <p:cNvSpPr>
            <a:spLocks xmlns:a="http://schemas.openxmlformats.org/drawingml/2006/main" noGrp="1"/>
          </p:cNvSpPr>
          <p:nvPr/>
        </p:nvSpPr>
        <p:spPr>
          <a:xfrm xmlns:a="http://schemas.openxmlformats.org/drawingml/2006/main">
            <a:off x="2724150" y="2064639"/>
            <a:ext cx="2495550" cy="377190"/>
          </a:xfrm>
          <a:prstGeom xmlns:a="http://schemas.openxmlformats.org/drawingml/2006/main" prst="roundRect">
            <a:avLst>
              <a:gd name="adj" fmla="val 30303"/>
            </a:avLst>
          </a:prstGeom>
          <a:solidFill xmlns:a="http://schemas.openxmlformats.org/drawingml/2006/main">
            <a:srgbClr val="E9F3FF"/>
          </a:solidFill>
        </p:spPr>
      </p:sp>
      <p:sp>
        <p:nvSpPr>
          <p:cNvPr id="15" name="">
            <a:extLst xmlns:a="http://schemas.openxmlformats.org/drawingml/2006/main">
              <a:ext uri="{FF2B5EF4-FFF2-40B4-BE49-F238E27FC236}">
                <a16:creationId xmlns:a16="http://schemas.microsoft.com/office/drawing/2014/main" id="{785F1C57-9FD9-4E21-8FDE-B2B84D184094}"/>
              </a:ext>
            </a:extLst>
          </p:cNvPr>
          <p:cNvSpPr>
            <a:spLocks xmlns:a="http://schemas.openxmlformats.org/drawingml/2006/main" noGrp="1"/>
          </p:cNvSpPr>
          <p:nvPr/>
        </p:nvSpPr>
        <p:spPr>
          <a:xfrm xmlns:a="http://schemas.openxmlformats.org/drawingml/2006/main">
            <a:off x="2838450" y="2178939"/>
            <a:ext cx="991172"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Բացատրություն</a:t>
            </a:r>
          </a:p>
        </p:txBody>
      </p:sp>
      <p:sp>
        <p:nvSpPr>
          <p:cNvPr id="16" name="">
            <a:extLst xmlns:a="http://schemas.openxmlformats.org/drawingml/2006/main">
              <a:ext uri="{FF2B5EF4-FFF2-40B4-BE49-F238E27FC236}">
                <a16:creationId xmlns:a16="http://schemas.microsoft.com/office/drawing/2014/main" id="{2436B9C9-741F-4E5C-8423-2C2ECBEC7893}"/>
              </a:ext>
            </a:extLst>
          </p:cNvPr>
          <p:cNvSpPr>
            <a:spLocks xmlns:a="http://schemas.openxmlformats.org/drawingml/2006/main" noGrp="1"/>
          </p:cNvSpPr>
          <p:nvPr/>
        </p:nvSpPr>
        <p:spPr>
          <a:xfrm xmlns:a="http://schemas.openxmlformats.org/drawingml/2006/main">
            <a:off x="742950" y="2518029"/>
            <a:ext cx="19050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F2F3DEC6-3A9E-419C-B886-97C9AFEE7CBD}"/>
              </a:ext>
            </a:extLst>
          </p:cNvPr>
          <p:cNvSpPr>
            <a:spLocks xmlns:a="http://schemas.openxmlformats.org/drawingml/2006/main" noGrp="1"/>
          </p:cNvSpPr>
          <p:nvPr/>
        </p:nvSpPr>
        <p:spPr>
          <a:xfrm xmlns:a="http://schemas.openxmlformats.org/drawingml/2006/main">
            <a:off x="857250" y="2632329"/>
            <a:ext cx="16764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lab_assignment_id</a:t>
            </a:r>
          </a:p>
        </p:txBody>
      </p:sp>
      <p:sp>
        <p:nvSpPr>
          <p:cNvPr id="18" name="">
            <a:extLst xmlns:a="http://schemas.openxmlformats.org/drawingml/2006/main">
              <a:ext uri="{FF2B5EF4-FFF2-40B4-BE49-F238E27FC236}">
                <a16:creationId xmlns:a16="http://schemas.microsoft.com/office/drawing/2014/main" id="{62284697-BC42-4C7F-BDA5-188192717663}"/>
              </a:ext>
            </a:extLst>
          </p:cNvPr>
          <p:cNvSpPr>
            <a:spLocks xmlns:a="http://schemas.openxmlformats.org/drawingml/2006/main" noGrp="1"/>
          </p:cNvSpPr>
          <p:nvPr/>
        </p:nvSpPr>
        <p:spPr>
          <a:xfrm xmlns:a="http://schemas.openxmlformats.org/drawingml/2006/main">
            <a:off x="2724150" y="2518029"/>
            <a:ext cx="24955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B1278CB0-E774-4A74-961E-5E6B9D5FEB3C}"/>
              </a:ext>
            </a:extLst>
          </p:cNvPr>
          <p:cNvSpPr>
            <a:spLocks xmlns:a="http://schemas.openxmlformats.org/drawingml/2006/main" noGrp="1"/>
          </p:cNvSpPr>
          <p:nvPr/>
        </p:nvSpPr>
        <p:spPr>
          <a:xfrm xmlns:a="http://schemas.openxmlformats.org/drawingml/2006/main">
            <a:off x="2838450" y="2632329"/>
            <a:ext cx="22669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լաբորատորի արդյունքն է</a:t>
            </a:r>
          </a:p>
        </p:txBody>
      </p:sp>
      <p:sp>
        <p:nvSpPr>
          <p:cNvPr id="20" name="">
            <a:extLst xmlns:a="http://schemas.openxmlformats.org/drawingml/2006/main">
              <a:ext uri="{FF2B5EF4-FFF2-40B4-BE49-F238E27FC236}">
                <a16:creationId xmlns:a16="http://schemas.microsoft.com/office/drawing/2014/main" id="{C5367AAC-6AD7-4995-93EE-D912E3EC4BE8}"/>
              </a:ext>
            </a:extLst>
          </p:cNvPr>
          <p:cNvSpPr>
            <a:spLocks xmlns:a="http://schemas.openxmlformats.org/drawingml/2006/main" noGrp="1"/>
          </p:cNvSpPr>
          <p:nvPr/>
        </p:nvSpPr>
        <p:spPr>
          <a:xfrm xmlns:a="http://schemas.openxmlformats.org/drawingml/2006/main">
            <a:off x="742950" y="3034055"/>
            <a:ext cx="1905000" cy="651053"/>
          </a:xfrm>
          <a:prstGeom xmlns:a="http://schemas.openxmlformats.org/drawingml/2006/main" prst="roundRect">
            <a:avLst>
              <a:gd name="adj" fmla="val 17556"/>
            </a:avLst>
          </a:prstGeom>
          <a:solidFill xmlns:a="http://schemas.openxmlformats.org/drawingml/2006/main">
            <a:srgbClr val="FBFD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80B2D9B1-6861-4158-81F2-17BBC0464FB2}"/>
              </a:ext>
            </a:extLst>
          </p:cNvPr>
          <p:cNvSpPr>
            <a:spLocks xmlns:a="http://schemas.openxmlformats.org/drawingml/2006/main" noGrp="1"/>
          </p:cNvSpPr>
          <p:nvPr/>
        </p:nvSpPr>
        <p:spPr>
          <a:xfrm xmlns:a="http://schemas.openxmlformats.org/drawingml/2006/main">
            <a:off x="857250" y="3148355"/>
            <a:ext cx="167640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student_subject_enrollment_id</a:t>
            </a:r>
          </a:p>
        </p:txBody>
      </p:sp>
      <p:sp>
        <p:nvSpPr>
          <p:cNvPr id="22" name="">
            <a:extLst xmlns:a="http://schemas.openxmlformats.org/drawingml/2006/main">
              <a:ext uri="{FF2B5EF4-FFF2-40B4-BE49-F238E27FC236}">
                <a16:creationId xmlns:a16="http://schemas.microsoft.com/office/drawing/2014/main" id="{2211B229-902D-4DD4-A632-084BEC8696CB}"/>
              </a:ext>
            </a:extLst>
          </p:cNvPr>
          <p:cNvSpPr>
            <a:spLocks xmlns:a="http://schemas.openxmlformats.org/drawingml/2006/main" noGrp="1"/>
          </p:cNvSpPr>
          <p:nvPr/>
        </p:nvSpPr>
        <p:spPr>
          <a:xfrm xmlns:a="http://schemas.openxmlformats.org/drawingml/2006/main">
            <a:off x="2724150" y="3034055"/>
            <a:ext cx="2495550" cy="651053"/>
          </a:xfrm>
          <a:prstGeom xmlns:a="http://schemas.openxmlformats.org/drawingml/2006/main" prst="roundRect">
            <a:avLst>
              <a:gd name="adj" fmla="val 17556"/>
            </a:avLst>
          </a:prstGeom>
          <a:solidFill xmlns:a="http://schemas.openxmlformats.org/drawingml/2006/main">
            <a:srgbClr val="FFFFFF"/>
          </a:solidFill>
          <a:ln xmlns:a="http://schemas.openxmlformats.org/drawingml/2006/main" w="9525">
            <a:solidFill>
              <a:srgbClr val="DCE7F4"/>
            </a:solidFill>
            <a:prstDash val="solid"/>
          </a:ln>
        </p:spPr>
      </p:sp>
      <p:sp>
        <p:nvSpPr>
          <p:cNvPr id="23" name="">
            <a:extLst xmlns:a="http://schemas.openxmlformats.org/drawingml/2006/main">
              <a:ext uri="{FF2B5EF4-FFF2-40B4-BE49-F238E27FC236}">
                <a16:creationId xmlns:a16="http://schemas.microsoft.com/office/drawing/2014/main" id="{0C688EDE-4E61-41E8-8AA8-144B2B7F7998}"/>
              </a:ext>
            </a:extLst>
          </p:cNvPr>
          <p:cNvSpPr>
            <a:spLocks xmlns:a="http://schemas.openxmlformats.org/drawingml/2006/main" noGrp="1"/>
          </p:cNvSpPr>
          <p:nvPr/>
        </p:nvSpPr>
        <p:spPr>
          <a:xfrm xmlns:a="http://schemas.openxmlformats.org/drawingml/2006/main">
            <a:off x="2838450" y="3148355"/>
            <a:ext cx="2266950" cy="42245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Որ ուսանողի offering+lab group կապի արդյունքն է</a:t>
            </a:r>
          </a:p>
        </p:txBody>
      </p:sp>
      <p:sp>
        <p:nvSpPr>
          <p:cNvPr id="24" name="">
            <a:extLst xmlns:a="http://schemas.openxmlformats.org/drawingml/2006/main">
              <a:ext uri="{FF2B5EF4-FFF2-40B4-BE49-F238E27FC236}">
                <a16:creationId xmlns:a16="http://schemas.microsoft.com/office/drawing/2014/main" id="{DEC8E7BF-A6FE-495B-9315-401F38AE7993}"/>
              </a:ext>
            </a:extLst>
          </p:cNvPr>
          <p:cNvSpPr>
            <a:spLocks xmlns:a="http://schemas.openxmlformats.org/drawingml/2006/main" noGrp="1"/>
          </p:cNvSpPr>
          <p:nvPr/>
        </p:nvSpPr>
        <p:spPr>
          <a:xfrm xmlns:a="http://schemas.openxmlformats.org/drawingml/2006/main">
            <a:off x="742950" y="3761308"/>
            <a:ext cx="19050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8BEFE35E-1B6B-4EC4-A9F0-841A4E654A1E}"/>
              </a:ext>
            </a:extLst>
          </p:cNvPr>
          <p:cNvSpPr>
            <a:spLocks xmlns:a="http://schemas.openxmlformats.org/drawingml/2006/main" noGrp="1"/>
          </p:cNvSpPr>
          <p:nvPr/>
        </p:nvSpPr>
        <p:spPr>
          <a:xfrm xmlns:a="http://schemas.openxmlformats.org/drawingml/2006/main">
            <a:off x="857250" y="3875608"/>
            <a:ext cx="16764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attendance</a:t>
            </a:r>
          </a:p>
        </p:txBody>
      </p:sp>
      <p:sp>
        <p:nvSpPr>
          <p:cNvPr id="26" name="">
            <a:extLst xmlns:a="http://schemas.openxmlformats.org/drawingml/2006/main">
              <a:ext uri="{FF2B5EF4-FFF2-40B4-BE49-F238E27FC236}">
                <a16:creationId xmlns:a16="http://schemas.microsoft.com/office/drawing/2014/main" id="{F9D9BE6D-8A9B-48C9-B9C5-178014A42390}"/>
              </a:ext>
            </a:extLst>
          </p:cNvPr>
          <p:cNvSpPr>
            <a:spLocks xmlns:a="http://schemas.openxmlformats.org/drawingml/2006/main" noGrp="1"/>
          </p:cNvSpPr>
          <p:nvPr/>
        </p:nvSpPr>
        <p:spPr>
          <a:xfrm xmlns:a="http://schemas.openxmlformats.org/drawingml/2006/main">
            <a:off x="2724150" y="3761308"/>
            <a:ext cx="24955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27" name="">
            <a:extLst xmlns:a="http://schemas.openxmlformats.org/drawingml/2006/main">
              <a:ext uri="{FF2B5EF4-FFF2-40B4-BE49-F238E27FC236}">
                <a16:creationId xmlns:a16="http://schemas.microsoft.com/office/drawing/2014/main" id="{A5A02FD3-45E9-41A7-9ECA-ECF2C052E2A4}"/>
              </a:ext>
            </a:extLst>
          </p:cNvPr>
          <p:cNvSpPr>
            <a:spLocks xmlns:a="http://schemas.openxmlformats.org/drawingml/2006/main" noGrp="1"/>
          </p:cNvSpPr>
          <p:nvPr/>
        </p:nvSpPr>
        <p:spPr>
          <a:xfrm xmlns:a="http://schemas.openxmlformats.org/drawingml/2006/main">
            <a:off x="2838450" y="3875608"/>
            <a:ext cx="22669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Ներկա էր, բացակա էր և այլն</a:t>
            </a:r>
          </a:p>
        </p:txBody>
      </p:sp>
      <p:sp>
        <p:nvSpPr>
          <p:cNvPr id="28" name="">
            <a:extLst xmlns:a="http://schemas.openxmlformats.org/drawingml/2006/main">
              <a:ext uri="{FF2B5EF4-FFF2-40B4-BE49-F238E27FC236}">
                <a16:creationId xmlns:a16="http://schemas.microsoft.com/office/drawing/2014/main" id="{B1583715-EB16-4859-83B2-DACCEE7B5819}"/>
              </a:ext>
            </a:extLst>
          </p:cNvPr>
          <p:cNvSpPr>
            <a:spLocks xmlns:a="http://schemas.openxmlformats.org/drawingml/2006/main" noGrp="1"/>
          </p:cNvSpPr>
          <p:nvPr/>
        </p:nvSpPr>
        <p:spPr>
          <a:xfrm xmlns:a="http://schemas.openxmlformats.org/drawingml/2006/main">
            <a:off x="742950" y="4277335"/>
            <a:ext cx="1905000" cy="439826"/>
          </a:xfrm>
          <a:prstGeom xmlns:a="http://schemas.openxmlformats.org/drawingml/2006/main" prst="roundRect">
            <a:avLst>
              <a:gd name="adj" fmla="val 25988"/>
            </a:avLst>
          </a:prstGeom>
          <a:solidFill xmlns:a="http://schemas.openxmlformats.org/drawingml/2006/main">
            <a:srgbClr val="FBFDFF"/>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37D3624D-8AD9-407C-A8AA-425E7966BD7B}"/>
              </a:ext>
            </a:extLst>
          </p:cNvPr>
          <p:cNvSpPr>
            <a:spLocks xmlns:a="http://schemas.openxmlformats.org/drawingml/2006/main" noGrp="1"/>
          </p:cNvSpPr>
          <p:nvPr/>
        </p:nvSpPr>
        <p:spPr>
          <a:xfrm xmlns:a="http://schemas.openxmlformats.org/drawingml/2006/main">
            <a:off x="857250" y="4391635"/>
            <a:ext cx="167640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grade</a:t>
            </a:r>
          </a:p>
        </p:txBody>
      </p:sp>
      <p:sp>
        <p:nvSpPr>
          <p:cNvPr id="30" name="">
            <a:extLst xmlns:a="http://schemas.openxmlformats.org/drawingml/2006/main">
              <a:ext uri="{FF2B5EF4-FFF2-40B4-BE49-F238E27FC236}">
                <a16:creationId xmlns:a16="http://schemas.microsoft.com/office/drawing/2014/main" id="{586EDEAE-A09B-4A72-BC25-F9B74AE2071B}"/>
              </a:ext>
            </a:extLst>
          </p:cNvPr>
          <p:cNvSpPr>
            <a:spLocks xmlns:a="http://schemas.openxmlformats.org/drawingml/2006/main" noGrp="1"/>
          </p:cNvSpPr>
          <p:nvPr/>
        </p:nvSpPr>
        <p:spPr>
          <a:xfrm xmlns:a="http://schemas.openxmlformats.org/drawingml/2006/main">
            <a:off x="2724150" y="4277335"/>
            <a:ext cx="2495550" cy="439826"/>
          </a:xfrm>
          <a:prstGeom xmlns:a="http://schemas.openxmlformats.org/drawingml/2006/main" prst="roundRect">
            <a:avLst>
              <a:gd name="adj" fmla="val 25988"/>
            </a:avLst>
          </a:prstGeom>
          <a:solidFill xmlns:a="http://schemas.openxmlformats.org/drawingml/2006/main">
            <a:srgbClr val="FFFFFF"/>
          </a:solidFill>
          <a:ln xmlns:a="http://schemas.openxmlformats.org/drawingml/2006/main" w="9525">
            <a:solidFill>
              <a:srgbClr val="DCE7F4"/>
            </a:solidFill>
            <a:prstDash val="solid"/>
          </a:ln>
        </p:spPr>
      </p:sp>
      <p:sp>
        <p:nvSpPr>
          <p:cNvPr id="31" name="">
            <a:extLst xmlns:a="http://schemas.openxmlformats.org/drawingml/2006/main">
              <a:ext uri="{FF2B5EF4-FFF2-40B4-BE49-F238E27FC236}">
                <a16:creationId xmlns:a16="http://schemas.microsoft.com/office/drawing/2014/main" id="{8AED2B1E-B956-4CD3-80FB-92B44DCEF2B6}"/>
              </a:ext>
            </a:extLst>
          </p:cNvPr>
          <p:cNvSpPr>
            <a:spLocks xmlns:a="http://schemas.openxmlformats.org/drawingml/2006/main" noGrp="1"/>
          </p:cNvSpPr>
          <p:nvPr/>
        </p:nvSpPr>
        <p:spPr>
          <a:xfrm xmlns:a="http://schemas.openxmlformats.org/drawingml/2006/main">
            <a:off x="2838450" y="4391635"/>
            <a:ext cx="2266950" cy="21122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a:solidFill>
                  <a:srgbClr val="16324D"/>
                </a:solidFill>
                <a:latin typeface="Arian AMU"/>
                <a:ea typeface="Arian AMU"/>
                <a:cs typeface="Arian AMU"/>
              </a:defRPr>
            </a:pPr>
            <a:r>
              <a:t>Ստացված գնահատականը</a:t>
            </a:r>
          </a:p>
        </p:txBody>
      </p:sp>
      <p:sp>
        <p:nvSpPr>
          <p:cNvPr id="32" name="">
            <a:extLst xmlns:a="http://schemas.openxmlformats.org/drawingml/2006/main">
              <a:ext uri="{FF2B5EF4-FFF2-40B4-BE49-F238E27FC236}">
                <a16:creationId xmlns:a16="http://schemas.microsoft.com/office/drawing/2014/main" id="{E1CDD79F-1C18-4511-A482-19F8E73C1B78}"/>
              </a:ext>
            </a:extLst>
          </p:cNvPr>
          <p:cNvSpPr>
            <a:spLocks xmlns:a="http://schemas.openxmlformats.org/drawingml/2006/main" noGrp="1"/>
          </p:cNvSpPr>
          <p:nvPr/>
        </p:nvSpPr>
        <p:spPr>
          <a:xfrm xmlns:a="http://schemas.openxmlformats.org/drawingml/2006/main">
            <a:off x="5391150" y="2064639"/>
            <a:ext cx="6057900" cy="1516380"/>
          </a:xfrm>
          <a:prstGeom xmlns:a="http://schemas.openxmlformats.org/drawingml/2006/main" prst="roundRect">
            <a:avLst>
              <a:gd name="adj" fmla="val 11307"/>
            </a:avLst>
          </a:prstGeom>
          <a:solidFill xmlns:a="http://schemas.openxmlformats.org/drawingml/2006/main">
            <a:srgbClr val="F8FBFF"/>
          </a:solidFill>
          <a:ln xmlns:a="http://schemas.openxmlformats.org/drawingml/2006/main" w="9525">
            <a:solidFill>
              <a:srgbClr val="DCE7F4"/>
            </a:solidFill>
            <a:prstDash val="solid"/>
          </a:ln>
        </p:spPr>
      </p:sp>
      <p:sp>
        <p:nvSpPr>
          <p:cNvPr id="33" name="">
            <a:extLst xmlns:a="http://schemas.openxmlformats.org/drawingml/2006/main">
              <a:ext uri="{FF2B5EF4-FFF2-40B4-BE49-F238E27FC236}">
                <a16:creationId xmlns:a16="http://schemas.microsoft.com/office/drawing/2014/main" id="{419A6597-7617-4581-99E0-59E9A2AB8089}"/>
              </a:ext>
            </a:extLst>
          </p:cNvPr>
          <p:cNvSpPr>
            <a:spLocks xmlns:a="http://schemas.openxmlformats.org/drawingml/2006/main" noGrp="1"/>
          </p:cNvSpPr>
          <p:nvPr/>
        </p:nvSpPr>
        <p:spPr>
          <a:xfrm xmlns:a="http://schemas.openxmlformats.org/drawingml/2006/main">
            <a:off x="5581650" y="2255139"/>
            <a:ext cx="133350" cy="133350"/>
          </a:xfrm>
          <a:prstGeom xmlns:a="http://schemas.openxmlformats.org/drawingml/2006/main" prst="ellipse">
            <a:avLst/>
          </a:prstGeom>
          <a:solidFill xmlns:a="http://schemas.openxmlformats.org/drawingml/2006/main">
            <a:srgbClr val="0F4C81"/>
          </a:solidFill>
        </p:spPr>
      </p:sp>
      <p:sp>
        <p:nvSpPr>
          <p:cNvPr id="34" name="">
            <a:extLst xmlns:a="http://schemas.openxmlformats.org/drawingml/2006/main">
              <a:ext uri="{FF2B5EF4-FFF2-40B4-BE49-F238E27FC236}">
                <a16:creationId xmlns:a16="http://schemas.microsoft.com/office/drawing/2014/main" id="{FBC740F8-5694-41A4-8E5D-BDFB1C109D4B}"/>
              </a:ext>
            </a:extLst>
          </p:cNvPr>
          <p:cNvSpPr>
            <a:spLocks xmlns:a="http://schemas.openxmlformats.org/drawingml/2006/main" noGrp="1"/>
          </p:cNvSpPr>
          <p:nvPr/>
        </p:nvSpPr>
        <p:spPr>
          <a:xfrm xmlns:a="http://schemas.openxmlformats.org/drawingml/2006/main">
            <a:off x="5810250" y="2255139"/>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Աղյուսակի իմաստը</a:t>
            </a:r>
          </a:p>
        </p:txBody>
      </p:sp>
      <p:sp>
        <p:nvSpPr>
          <p:cNvPr id="35" name="">
            <a:extLst xmlns:a="http://schemas.openxmlformats.org/drawingml/2006/main">
              <a:ext uri="{FF2B5EF4-FFF2-40B4-BE49-F238E27FC236}">
                <a16:creationId xmlns:a16="http://schemas.microsoft.com/office/drawing/2014/main" id="{C2B81092-18B2-4B6D-B6B2-8E8F901D1596}"/>
              </a:ext>
            </a:extLst>
          </p:cNvPr>
          <p:cNvSpPr>
            <a:spLocks xmlns:a="http://schemas.openxmlformats.org/drawingml/2006/main" noGrp="1"/>
          </p:cNvSpPr>
          <p:nvPr/>
        </p:nvSpPr>
        <p:spPr>
          <a:xfrm xmlns:a="http://schemas.openxmlformats.org/drawingml/2006/main">
            <a:off x="5581650" y="2616327"/>
            <a:ext cx="567690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Սա մոդելի վերջնական ուսումնական փաստն է</a:t>
            </a:r>
          </a:p>
        </p:txBody>
      </p:sp>
      <p:sp>
        <p:nvSpPr>
          <p:cNvPr id="36" name="">
            <a:extLst xmlns:a="http://schemas.openxmlformats.org/drawingml/2006/main">
              <a:ext uri="{FF2B5EF4-FFF2-40B4-BE49-F238E27FC236}">
                <a16:creationId xmlns:a16="http://schemas.microsoft.com/office/drawing/2014/main" id="{8EB3146A-7153-4154-9193-D63BCA03EA4F}"/>
              </a:ext>
            </a:extLst>
          </p:cNvPr>
          <p:cNvSpPr>
            <a:spLocks xmlns:a="http://schemas.openxmlformats.org/drawingml/2006/main" noGrp="1"/>
          </p:cNvSpPr>
          <p:nvPr/>
        </p:nvSpPr>
        <p:spPr>
          <a:xfrm xmlns:a="http://schemas.openxmlformats.org/drawingml/2006/main">
            <a:off x="5581650" y="2937891"/>
            <a:ext cx="567690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Այստեղ արդեն մեկ ուսանողի մեկ լաբորատոր աշխատանքի կատարողականն է պահվում</a:t>
            </a:r>
          </a:p>
        </p:txBody>
      </p:sp>
      <p:sp>
        <p:nvSpPr>
          <p:cNvPr id="37" name="">
            <a:extLst xmlns:a="http://schemas.openxmlformats.org/drawingml/2006/main">
              <a:ext uri="{FF2B5EF4-FFF2-40B4-BE49-F238E27FC236}">
                <a16:creationId xmlns:a16="http://schemas.microsoft.com/office/drawing/2014/main" id="{6336D251-7B65-4D38-BA4E-4DB13BFBD989}"/>
              </a:ext>
            </a:extLst>
          </p:cNvPr>
          <p:cNvSpPr>
            <a:spLocks xmlns:a="http://schemas.openxmlformats.org/drawingml/2006/main" noGrp="1"/>
          </p:cNvSpPr>
          <p:nvPr/>
        </p:nvSpPr>
        <p:spPr>
          <a:xfrm xmlns:a="http://schemas.openxmlformats.org/drawingml/2006/main">
            <a:off x="5391150" y="3733419"/>
            <a:ext cx="6057900" cy="1224991"/>
          </a:xfrm>
          <a:prstGeom xmlns:a="http://schemas.openxmlformats.org/drawingml/2006/main" prst="roundRect">
            <a:avLst>
              <a:gd name="adj" fmla="val 13996"/>
            </a:avLst>
          </a:prstGeom>
          <a:solidFill xmlns:a="http://schemas.openxmlformats.org/drawingml/2006/main">
            <a:srgbClr val="EDF5FF"/>
          </a:solidFill>
          <a:ln xmlns:a="http://schemas.openxmlformats.org/drawingml/2006/main" w="9525">
            <a:solidFill>
              <a:srgbClr val="DCE7F4"/>
            </a:solidFill>
            <a:prstDash val="solid"/>
          </a:ln>
        </p:spPr>
      </p:sp>
      <p:sp>
        <p:nvSpPr>
          <p:cNvPr id="38" name="">
            <a:extLst xmlns:a="http://schemas.openxmlformats.org/drawingml/2006/main">
              <a:ext uri="{FF2B5EF4-FFF2-40B4-BE49-F238E27FC236}">
                <a16:creationId xmlns:a16="http://schemas.microsoft.com/office/drawing/2014/main" id="{B46327F7-A2F9-48DC-8ED8-3BCCCF7D2DBA}"/>
              </a:ext>
            </a:extLst>
          </p:cNvPr>
          <p:cNvSpPr>
            <a:spLocks xmlns:a="http://schemas.openxmlformats.org/drawingml/2006/main" noGrp="1"/>
          </p:cNvSpPr>
          <p:nvPr/>
        </p:nvSpPr>
        <p:spPr>
          <a:xfrm xmlns:a="http://schemas.openxmlformats.org/drawingml/2006/main">
            <a:off x="5581650" y="3923919"/>
            <a:ext cx="133350" cy="133350"/>
          </a:xfrm>
          <a:prstGeom xmlns:a="http://schemas.openxmlformats.org/drawingml/2006/main" prst="ellipse">
            <a:avLst/>
          </a:prstGeom>
          <a:solidFill xmlns:a="http://schemas.openxmlformats.org/drawingml/2006/main">
            <a:srgbClr val="2F8F69"/>
          </a:solidFill>
        </p:spPr>
      </p:sp>
      <p:sp>
        <p:nvSpPr>
          <p:cNvPr id="39" name="">
            <a:extLst xmlns:a="http://schemas.openxmlformats.org/drawingml/2006/main">
              <a:ext uri="{FF2B5EF4-FFF2-40B4-BE49-F238E27FC236}">
                <a16:creationId xmlns:a16="http://schemas.microsoft.com/office/drawing/2014/main" id="{0680094D-9BDC-47C5-8FC7-D4CF3A4CC132}"/>
              </a:ext>
            </a:extLst>
          </p:cNvPr>
          <p:cNvSpPr>
            <a:spLocks xmlns:a="http://schemas.openxmlformats.org/drawingml/2006/main" noGrp="1"/>
          </p:cNvSpPr>
          <p:nvPr/>
        </p:nvSpPr>
        <p:spPr>
          <a:xfrm xmlns:a="http://schemas.openxmlformats.org/drawingml/2006/main">
            <a:off x="5810250" y="3923919"/>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է կապվում enrollment-ի հետ</a:t>
            </a:r>
          </a:p>
        </p:txBody>
      </p:sp>
      <p:sp>
        <p:nvSpPr>
          <p:cNvPr id="40" name="">
            <a:extLst xmlns:a="http://schemas.openxmlformats.org/drawingml/2006/main">
              <a:ext uri="{FF2B5EF4-FFF2-40B4-BE49-F238E27FC236}">
                <a16:creationId xmlns:a16="http://schemas.microsoft.com/office/drawing/2014/main" id="{EAA4518C-16CE-4FB9-85D4-87A1395FAEF9}"/>
              </a:ext>
            </a:extLst>
          </p:cNvPr>
          <p:cNvSpPr>
            <a:spLocks xmlns:a="http://schemas.openxmlformats.org/drawingml/2006/main" noGrp="1"/>
          </p:cNvSpPr>
          <p:nvPr/>
        </p:nvSpPr>
        <p:spPr>
          <a:xfrm xmlns:a="http://schemas.openxmlformats.org/drawingml/2006/main">
            <a:off x="5581650" y="4285107"/>
            <a:ext cx="567690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Որպեսզի արդյունքը կապված լինի ճիշտ offering-ի և ճիշտ lab group-ի ուսանողի հետ</a:t>
            </a:r>
          </a:p>
        </p:txBody>
      </p:sp>
      <p:sp>
        <p:nvSpPr>
          <p:cNvPr id="41" name="">
            <a:extLst xmlns:a="http://schemas.openxmlformats.org/drawingml/2006/main">
              <a:ext uri="{FF2B5EF4-FFF2-40B4-BE49-F238E27FC236}">
                <a16:creationId xmlns:a16="http://schemas.microsoft.com/office/drawing/2014/main" id="{1B7ED52A-5CBF-4248-A090-C000343B23CD}"/>
              </a:ext>
            </a:extLst>
          </p:cNvPr>
          <p:cNvSpPr>
            <a:spLocks xmlns:a="http://schemas.openxmlformats.org/drawingml/2006/main" noGrp="1"/>
          </p:cNvSpPr>
          <p:nvPr/>
        </p:nvSpPr>
        <p:spPr>
          <a:xfrm xmlns:a="http://schemas.openxmlformats.org/drawingml/2006/main">
            <a:off x="5391150" y="5110810"/>
            <a:ext cx="6057900" cy="983590"/>
          </a:xfrm>
          <a:prstGeom xmlns:a="http://schemas.openxmlformats.org/drawingml/2006/main" prst="roundRect">
            <a:avLst>
              <a:gd name="adj" fmla="val 17431"/>
            </a:avLst>
          </a:prstGeom>
          <a:solidFill xmlns:a="http://schemas.openxmlformats.org/drawingml/2006/main">
            <a:srgbClr val="FFFFFF"/>
          </a:solidFill>
          <a:ln xmlns:a="http://schemas.openxmlformats.org/drawingml/2006/main" w="9525">
            <a:solidFill>
              <a:srgbClr val="DCE7F4"/>
            </a:solidFill>
            <a:prstDash val="solid"/>
          </a:ln>
        </p:spPr>
      </p:sp>
      <p:sp>
        <p:nvSpPr>
          <p:cNvPr id="42" name="">
            <a:extLst xmlns:a="http://schemas.openxmlformats.org/drawingml/2006/main">
              <a:ext uri="{FF2B5EF4-FFF2-40B4-BE49-F238E27FC236}">
                <a16:creationId xmlns:a16="http://schemas.microsoft.com/office/drawing/2014/main" id="{E5B30344-7B2D-4DDC-A700-2F744DEE7FF3}"/>
              </a:ext>
            </a:extLst>
          </p:cNvPr>
          <p:cNvSpPr>
            <a:spLocks xmlns:a="http://schemas.openxmlformats.org/drawingml/2006/main" noGrp="1"/>
          </p:cNvSpPr>
          <p:nvPr/>
        </p:nvSpPr>
        <p:spPr>
          <a:xfrm xmlns:a="http://schemas.openxmlformats.org/drawingml/2006/main">
            <a:off x="5581650" y="5301310"/>
            <a:ext cx="133350" cy="133350"/>
          </a:xfrm>
          <a:prstGeom xmlns:a="http://schemas.openxmlformats.org/drawingml/2006/main" prst="ellipse">
            <a:avLst/>
          </a:prstGeom>
          <a:solidFill xmlns:a="http://schemas.openxmlformats.org/drawingml/2006/main">
            <a:srgbClr val="D98F2B"/>
          </a:solidFill>
        </p:spPr>
      </p:sp>
      <p:sp>
        <p:nvSpPr>
          <p:cNvPr id="43" name="">
            <a:extLst xmlns:a="http://schemas.openxmlformats.org/drawingml/2006/main">
              <a:ext uri="{FF2B5EF4-FFF2-40B4-BE49-F238E27FC236}">
                <a16:creationId xmlns:a16="http://schemas.microsoft.com/office/drawing/2014/main" id="{DAF1FF9A-B4E9-4682-BA90-92B4E641B6E9}"/>
              </a:ext>
            </a:extLst>
          </p:cNvPr>
          <p:cNvSpPr>
            <a:spLocks xmlns:a="http://schemas.openxmlformats.org/drawingml/2006/main" noGrp="1"/>
          </p:cNvSpPr>
          <p:nvPr/>
        </p:nvSpPr>
        <p:spPr>
          <a:xfrm xmlns:a="http://schemas.openxmlformats.org/drawingml/2006/main">
            <a:off x="5810250" y="5301310"/>
            <a:ext cx="54483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44" name="">
            <a:extLst xmlns:a="http://schemas.openxmlformats.org/drawingml/2006/main">
              <a:ext uri="{FF2B5EF4-FFF2-40B4-BE49-F238E27FC236}">
                <a16:creationId xmlns:a16="http://schemas.microsoft.com/office/drawing/2014/main" id="{27F279B9-BDDA-4DAA-8C93-09D9356FDE45}"/>
              </a:ext>
            </a:extLst>
          </p:cNvPr>
          <p:cNvSpPr>
            <a:spLocks xmlns:a="http://schemas.openxmlformats.org/drawingml/2006/main" noGrp="1"/>
          </p:cNvSpPr>
          <p:nvPr/>
        </p:nvSpPr>
        <p:spPr>
          <a:xfrm xmlns:a="http://schemas.openxmlformats.org/drawingml/2006/main">
            <a:off x="5581650" y="5662498"/>
            <a:ext cx="56769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student_subject_enrollments - student_lab_results - lab_assignments</a:t>
            </a:r>
          </a:p>
        </p:txBody>
      </p:sp>
      <p:sp>
        <p:nvSpPr>
          <p:cNvPr id="45" name="">
            <a:extLst xmlns:a="http://schemas.openxmlformats.org/drawingml/2006/main">
              <a:ext uri="{FF2B5EF4-FFF2-40B4-BE49-F238E27FC236}">
                <a16:creationId xmlns:a16="http://schemas.microsoft.com/office/drawing/2014/main" id="{385E88F0-2B69-4495-B051-63FF71577153}"/>
              </a:ext>
            </a:extLst>
          </p:cNvPr>
          <p:cNvSpPr>
            <a:spLocks xmlns:a="http://schemas.openxmlformats.org/drawingml/2006/main" noGrp="1"/>
          </p:cNvSpPr>
          <p:nvPr/>
        </p:nvSpPr>
        <p:spPr>
          <a:xfrm xmlns:a="http://schemas.openxmlformats.org/drawingml/2006/main">
            <a:off x="742950" y="6265850"/>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46" name="">
            <a:extLst xmlns:a="http://schemas.openxmlformats.org/drawingml/2006/main">
              <a:ext uri="{FF2B5EF4-FFF2-40B4-BE49-F238E27FC236}">
                <a16:creationId xmlns:a16="http://schemas.microsoft.com/office/drawing/2014/main" id="{CB1EAE05-086D-4331-801D-43FB57CB705D}"/>
              </a:ext>
            </a:extLst>
          </p:cNvPr>
          <p:cNvSpPr>
            <a:spLocks xmlns:a="http://schemas.openxmlformats.org/drawingml/2006/main" noGrp="1"/>
          </p:cNvSpPr>
          <p:nvPr/>
        </p:nvSpPr>
        <p:spPr>
          <a:xfrm xmlns:a="http://schemas.openxmlformats.org/drawingml/2006/main">
            <a:off x="10306050" y="6265850"/>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13</a:t>
            </a:r>
          </a:p>
        </p:txBody>
      </p:sp>
    </p:spTree>
    <p:extLst>
      <p:ext uri="{BB962C8B-B14F-4D97-AF65-F5344CB8AC3E}">
        <p14:creationId xmlns:p14="http://schemas.microsoft.com/office/powerpoint/2010/main" val="18142484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35F2BC-FAD8-45DE-B5B7-F235499753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342EF693-292F-4C15-9F52-E94DA589E262}"/>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15D35DE7-2DB1-45EE-892C-B8D9912E02DE}"/>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F73B1B3A-D460-45B7-A977-10F6DC66A874}"/>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44D4E398-5F07-4C13-914D-0F8816B5F104}"/>
              </a:ext>
            </a:extLst>
          </p:cNvPr>
          <p:cNvSpPr>
            <a:spLocks xmlns:a="http://schemas.openxmlformats.org/drawingml/2006/main" noGrp="1"/>
          </p:cNvSpPr>
          <p:nvPr/>
        </p:nvSpPr>
        <p:spPr>
          <a:xfrm xmlns:a="http://schemas.openxmlformats.org/drawingml/2006/main">
            <a:off x="819150" y="952500"/>
            <a:ext cx="899922"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Բիզնես սցենար</a:t>
            </a:r>
          </a:p>
        </p:txBody>
      </p:sp>
      <p:sp>
        <p:nvSpPr>
          <p:cNvPr id="6" name="">
            <a:extLst xmlns:a="http://schemas.openxmlformats.org/drawingml/2006/main">
              <a:ext uri="{FF2B5EF4-FFF2-40B4-BE49-F238E27FC236}">
                <a16:creationId xmlns:a16="http://schemas.microsoft.com/office/drawing/2014/main" id="{A65BA09E-F84E-435E-9802-390E8EABA29F}"/>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Մի academic group, մի քանի lab group, մի քանի դասախոս</a:t>
            </a:r>
          </a:p>
        </p:txBody>
      </p:sp>
      <p:sp>
        <p:nvSpPr>
          <p:cNvPr id="7" name="">
            <a:extLst xmlns:a="http://schemas.openxmlformats.org/drawingml/2006/main">
              <a:ext uri="{FF2B5EF4-FFF2-40B4-BE49-F238E27FC236}">
                <a16:creationId xmlns:a16="http://schemas.microsoft.com/office/drawing/2014/main" id="{59696233-4253-4483-A4E5-AE8C5EC72C32}"/>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Մոդելը հատուկ նախագծված է ենթախմբերով դասավանդումը նկարագրելու համար</a:t>
            </a:r>
          </a:p>
        </p:txBody>
      </p:sp>
      <p:sp>
        <p:nvSpPr>
          <p:cNvPr id="8" name="">
            <a:extLst xmlns:a="http://schemas.openxmlformats.org/drawingml/2006/main">
              <a:ext uri="{FF2B5EF4-FFF2-40B4-BE49-F238E27FC236}">
                <a16:creationId xmlns:a16="http://schemas.microsoft.com/office/drawing/2014/main" id="{A0C04CA2-0D89-46BD-80D3-8B14D3549BB7}"/>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AD304D9E-D148-4D7D-9C7D-2F7EC144479B}"/>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14</a:t>
            </a:r>
          </a:p>
        </p:txBody>
      </p:sp>
      <p:sp>
        <p:nvSpPr>
          <p:cNvPr id="10" name="">
            <a:extLst xmlns:a="http://schemas.openxmlformats.org/drawingml/2006/main">
              <a:ext uri="{FF2B5EF4-FFF2-40B4-BE49-F238E27FC236}">
                <a16:creationId xmlns:a16="http://schemas.microsoft.com/office/drawing/2014/main" id="{50BA4E47-758B-4ECF-ACD2-43CAA4D19CFA}"/>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FFF0A2E7-E888-4769-BCA3-59A4E0A9F764}"/>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73A75B99-C786-4895-BAAF-603926E78907}"/>
              </a:ext>
            </a:extLst>
          </p:cNvPr>
          <p:cNvSpPr>
            <a:spLocks xmlns:a="http://schemas.openxmlformats.org/drawingml/2006/main" noGrp="1"/>
          </p:cNvSpPr>
          <p:nvPr/>
        </p:nvSpPr>
        <p:spPr>
          <a:xfrm xmlns:a="http://schemas.openxmlformats.org/drawingml/2006/main">
            <a:off x="742950" y="2249043"/>
            <a:ext cx="10706100" cy="1656893"/>
          </a:xfrm>
          <a:prstGeom xmlns:a="http://schemas.openxmlformats.org/drawingml/2006/main" prst="roundRect">
            <a:avLst>
              <a:gd name="adj" fmla="val 10348"/>
            </a:avLst>
          </a:prstGeom>
          <a:solidFill xmlns:a="http://schemas.openxmlformats.org/drawingml/2006/main">
            <a:srgbClr val="EDF5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E08DA01B-AC0C-4C34-9589-693B9E5818C2}"/>
              </a:ext>
            </a:extLst>
          </p:cNvPr>
          <p:cNvSpPr>
            <a:spLocks xmlns:a="http://schemas.openxmlformats.org/drawingml/2006/main" noGrp="1"/>
          </p:cNvSpPr>
          <p:nvPr/>
        </p:nvSpPr>
        <p:spPr>
          <a:xfrm xmlns:a="http://schemas.openxmlformats.org/drawingml/2006/main">
            <a:off x="933450" y="24395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3BC071BE-96E7-4FA6-B192-72BC1116E513}"/>
              </a:ext>
            </a:extLst>
          </p:cNvPr>
          <p:cNvSpPr>
            <a:spLocks xmlns:a="http://schemas.openxmlformats.org/drawingml/2006/main" noGrp="1"/>
          </p:cNvSpPr>
          <p:nvPr/>
        </p:nvSpPr>
        <p:spPr>
          <a:xfrm xmlns:a="http://schemas.openxmlformats.org/drawingml/2006/main">
            <a:off x="1162050" y="2439543"/>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Օրինակ սցենար</a:t>
            </a:r>
          </a:p>
        </p:txBody>
      </p:sp>
      <p:sp>
        <p:nvSpPr>
          <p:cNvPr id="15" name="">
            <a:extLst xmlns:a="http://schemas.openxmlformats.org/drawingml/2006/main">
              <a:ext uri="{FF2B5EF4-FFF2-40B4-BE49-F238E27FC236}">
                <a16:creationId xmlns:a16="http://schemas.microsoft.com/office/drawing/2014/main" id="{923F4A6A-C4C1-4A37-BF1D-E0C58C13F5C7}"/>
              </a:ext>
            </a:extLst>
          </p:cNvPr>
          <p:cNvSpPr>
            <a:spLocks xmlns:a="http://schemas.openxmlformats.org/drawingml/2006/main" noGrp="1"/>
          </p:cNvSpPr>
          <p:nvPr/>
        </p:nvSpPr>
        <p:spPr>
          <a:xfrm xmlns:a="http://schemas.openxmlformats.org/drawingml/2006/main">
            <a:off x="933450" y="2800731"/>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Academic group 319-ը բաժանված է 319-1 և 319-2 lab group-ների</a:t>
            </a:r>
          </a:p>
        </p:txBody>
      </p:sp>
      <p:sp>
        <p:nvSpPr>
          <p:cNvPr id="16" name="">
            <a:extLst xmlns:a="http://schemas.openxmlformats.org/drawingml/2006/main">
              <a:ext uri="{FF2B5EF4-FFF2-40B4-BE49-F238E27FC236}">
                <a16:creationId xmlns:a16="http://schemas.microsoft.com/office/drawing/2014/main" id="{815659F8-9C2D-44B4-82A5-A0929D4E00CC}"/>
              </a:ext>
            </a:extLst>
          </p:cNvPr>
          <p:cNvSpPr>
            <a:spLocks xmlns:a="http://schemas.openxmlformats.org/drawingml/2006/main" noGrp="1"/>
          </p:cNvSpPr>
          <p:nvPr/>
        </p:nvSpPr>
        <p:spPr>
          <a:xfrm xmlns:a="http://schemas.openxmlformats.org/drawingml/2006/main">
            <a:off x="933450" y="3137383"/>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Նույն `subject_group_offering`-ի համար 319-1-ը կարող է վարել մեկ դասախոս, իսկ 319-2-ը՝ մեկ այլ դասախոս</a:t>
            </a:r>
          </a:p>
        </p:txBody>
      </p:sp>
      <p:sp>
        <p:nvSpPr>
          <p:cNvPr id="17" name="">
            <a:extLst xmlns:a="http://schemas.openxmlformats.org/drawingml/2006/main">
              <a:ext uri="{FF2B5EF4-FFF2-40B4-BE49-F238E27FC236}">
                <a16:creationId xmlns:a16="http://schemas.microsoft.com/office/drawing/2014/main" id="{C2E667B4-626D-4B7D-A9CA-026E1B9D18C5}"/>
              </a:ext>
            </a:extLst>
          </p:cNvPr>
          <p:cNvSpPr>
            <a:spLocks xmlns:a="http://schemas.openxmlformats.org/drawingml/2006/main" noGrp="1"/>
          </p:cNvSpPr>
          <p:nvPr/>
        </p:nvSpPr>
        <p:spPr>
          <a:xfrm xmlns:a="http://schemas.openxmlformats.org/drawingml/2006/main">
            <a:off x="933450" y="3474034"/>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Այս տարբերությունը պահվում է `teacher_subject_assignments` աղյուսակում</a:t>
            </a:r>
          </a:p>
        </p:txBody>
      </p:sp>
      <p:sp>
        <p:nvSpPr>
          <p:cNvPr id="18" name="">
            <a:extLst xmlns:a="http://schemas.openxmlformats.org/drawingml/2006/main">
              <a:ext uri="{FF2B5EF4-FFF2-40B4-BE49-F238E27FC236}">
                <a16:creationId xmlns:a16="http://schemas.microsoft.com/office/drawing/2014/main" id="{E0BFF656-6647-4E96-9575-0F16E96793B7}"/>
              </a:ext>
            </a:extLst>
          </p:cNvPr>
          <p:cNvSpPr>
            <a:spLocks xmlns:a="http://schemas.openxmlformats.org/drawingml/2006/main" noGrp="1"/>
          </p:cNvSpPr>
          <p:nvPr/>
        </p:nvSpPr>
        <p:spPr>
          <a:xfrm xmlns:a="http://schemas.openxmlformats.org/drawingml/2006/main">
            <a:off x="742950" y="4077386"/>
            <a:ext cx="5276850" cy="1561643"/>
          </a:xfrm>
          <a:prstGeom xmlns:a="http://schemas.openxmlformats.org/drawingml/2006/main" prst="roundRect">
            <a:avLst>
              <a:gd name="adj" fmla="val 10979"/>
            </a:avLst>
          </a:prstGeom>
          <a:solidFill xmlns:a="http://schemas.openxmlformats.org/drawingml/2006/main">
            <a:srgbClr val="F8FB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E01DB8DB-6B4C-4A22-AF4B-1F6618C25B2A}"/>
              </a:ext>
            </a:extLst>
          </p:cNvPr>
          <p:cNvSpPr>
            <a:spLocks xmlns:a="http://schemas.openxmlformats.org/drawingml/2006/main" noGrp="1"/>
          </p:cNvSpPr>
          <p:nvPr/>
        </p:nvSpPr>
        <p:spPr>
          <a:xfrm xmlns:a="http://schemas.openxmlformats.org/drawingml/2006/main">
            <a:off x="933450" y="4267886"/>
            <a:ext cx="133350" cy="133350"/>
          </a:xfrm>
          <a:prstGeom xmlns:a="http://schemas.openxmlformats.org/drawingml/2006/main" prst="ellipse">
            <a:avLst/>
          </a:prstGeom>
          <a:solidFill xmlns:a="http://schemas.openxmlformats.org/drawingml/2006/main">
            <a:srgbClr val="2F8F69"/>
          </a:solidFill>
        </p:spPr>
      </p:sp>
      <p:sp>
        <p:nvSpPr>
          <p:cNvPr id="20" name="">
            <a:extLst xmlns:a="http://schemas.openxmlformats.org/drawingml/2006/main">
              <a:ext uri="{FF2B5EF4-FFF2-40B4-BE49-F238E27FC236}">
                <a16:creationId xmlns:a16="http://schemas.microsoft.com/office/drawing/2014/main" id="{909A905D-7F07-4F2B-8F04-ABE1EA74023C}"/>
              </a:ext>
            </a:extLst>
          </p:cNvPr>
          <p:cNvSpPr>
            <a:spLocks xmlns:a="http://schemas.openxmlformats.org/drawingml/2006/main" noGrp="1"/>
          </p:cNvSpPr>
          <p:nvPr/>
        </p:nvSpPr>
        <p:spPr>
          <a:xfrm xmlns:a="http://schemas.openxmlformats.org/drawingml/2006/main">
            <a:off x="1162050" y="4267886"/>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Business meaning</a:t>
            </a:r>
          </a:p>
        </p:txBody>
      </p:sp>
      <p:sp>
        <p:nvSpPr>
          <p:cNvPr id="21" name="">
            <a:extLst xmlns:a="http://schemas.openxmlformats.org/drawingml/2006/main">
              <a:ext uri="{FF2B5EF4-FFF2-40B4-BE49-F238E27FC236}">
                <a16:creationId xmlns:a16="http://schemas.microsoft.com/office/drawing/2014/main" id="{83E20266-FC6E-41B4-B0BA-4C3524C80BFC}"/>
              </a:ext>
            </a:extLst>
          </p:cNvPr>
          <p:cNvSpPr>
            <a:spLocks xmlns:a="http://schemas.openxmlformats.org/drawingml/2006/main" noGrp="1"/>
          </p:cNvSpPr>
          <p:nvPr/>
        </p:nvSpPr>
        <p:spPr>
          <a:xfrm xmlns:a="http://schemas.openxmlformats.org/drawingml/2006/main">
            <a:off x="933450" y="4629074"/>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Մոդելը նկարագրում է իրական լաբորատոր բաժանումը</a:t>
            </a:r>
          </a:p>
        </p:txBody>
      </p:sp>
      <p:sp>
        <p:nvSpPr>
          <p:cNvPr id="22" name="">
            <a:extLst xmlns:a="http://schemas.openxmlformats.org/drawingml/2006/main">
              <a:ext uri="{FF2B5EF4-FFF2-40B4-BE49-F238E27FC236}">
                <a16:creationId xmlns:a16="http://schemas.microsoft.com/office/drawing/2014/main" id="{68984CA1-68BF-44F8-B8A7-2641B0E622B0}"/>
              </a:ext>
            </a:extLst>
          </p:cNvPr>
          <p:cNvSpPr>
            <a:spLocks xmlns:a="http://schemas.openxmlformats.org/drawingml/2006/main" noGrp="1"/>
          </p:cNvSpPr>
          <p:nvPr/>
        </p:nvSpPr>
        <p:spPr>
          <a:xfrm xmlns:a="http://schemas.openxmlformats.org/drawingml/2006/main">
            <a:off x="933450" y="4965725"/>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Չի ստիպում ամբողջ academic group-ին ունենալ միայն մեկ դասախոս</a:t>
            </a:r>
          </a:p>
        </p:txBody>
      </p:sp>
      <p:sp>
        <p:nvSpPr>
          <p:cNvPr id="23" name="">
            <a:extLst xmlns:a="http://schemas.openxmlformats.org/drawingml/2006/main">
              <a:ext uri="{FF2B5EF4-FFF2-40B4-BE49-F238E27FC236}">
                <a16:creationId xmlns:a16="http://schemas.microsoft.com/office/drawing/2014/main" id="{81D0F8DE-F4F6-43C9-BAB6-342BDC728EFF}"/>
              </a:ext>
            </a:extLst>
          </p:cNvPr>
          <p:cNvSpPr>
            <a:spLocks xmlns:a="http://schemas.openxmlformats.org/drawingml/2006/main" noGrp="1"/>
          </p:cNvSpPr>
          <p:nvPr/>
        </p:nvSpPr>
        <p:spPr>
          <a:xfrm xmlns:a="http://schemas.openxmlformats.org/drawingml/2006/main">
            <a:off x="6172200" y="4077386"/>
            <a:ext cx="5276850" cy="1561643"/>
          </a:xfrm>
          <a:prstGeom xmlns:a="http://schemas.openxmlformats.org/drawingml/2006/main" prst="roundRect">
            <a:avLst>
              <a:gd name="adj" fmla="val 10979"/>
            </a:avLst>
          </a:prstGeom>
          <a:solidFill xmlns:a="http://schemas.openxmlformats.org/drawingml/2006/main">
            <a:srgbClr val="FFFFFF"/>
          </a:solidFill>
          <a:ln xmlns:a="http://schemas.openxmlformats.org/drawingml/2006/main" w="9525">
            <a:solidFill>
              <a:srgbClr val="DCE7F4"/>
            </a:solidFill>
            <a:prstDash val="solid"/>
          </a:ln>
        </p:spPr>
      </p:sp>
      <p:sp>
        <p:nvSpPr>
          <p:cNvPr id="24" name="">
            <a:extLst xmlns:a="http://schemas.openxmlformats.org/drawingml/2006/main">
              <a:ext uri="{FF2B5EF4-FFF2-40B4-BE49-F238E27FC236}">
                <a16:creationId xmlns:a16="http://schemas.microsoft.com/office/drawing/2014/main" id="{B8667EDA-421F-45B9-BB38-7161629F6D6A}"/>
              </a:ext>
            </a:extLst>
          </p:cNvPr>
          <p:cNvSpPr>
            <a:spLocks xmlns:a="http://schemas.openxmlformats.org/drawingml/2006/main" noGrp="1"/>
          </p:cNvSpPr>
          <p:nvPr/>
        </p:nvSpPr>
        <p:spPr>
          <a:xfrm xmlns:a="http://schemas.openxmlformats.org/drawingml/2006/main">
            <a:off x="6362700" y="4267886"/>
            <a:ext cx="133350" cy="133350"/>
          </a:xfrm>
          <a:prstGeom xmlns:a="http://schemas.openxmlformats.org/drawingml/2006/main" prst="ellipse">
            <a:avLst/>
          </a:prstGeom>
          <a:solidFill xmlns:a="http://schemas.openxmlformats.org/drawingml/2006/main">
            <a:srgbClr val="D98F2B"/>
          </a:solidFill>
        </p:spPr>
      </p:sp>
      <p:sp>
        <p:nvSpPr>
          <p:cNvPr id="25" name="">
            <a:extLst xmlns:a="http://schemas.openxmlformats.org/drawingml/2006/main">
              <a:ext uri="{FF2B5EF4-FFF2-40B4-BE49-F238E27FC236}">
                <a16:creationId xmlns:a16="http://schemas.microsoft.com/office/drawing/2014/main" id="{3FB6E9B0-5F40-4911-9A63-6032C7EB5737}"/>
              </a:ext>
            </a:extLst>
          </p:cNvPr>
          <p:cNvSpPr>
            <a:spLocks xmlns:a="http://schemas.openxmlformats.org/drawingml/2006/main" noGrp="1"/>
          </p:cNvSpPr>
          <p:nvPr/>
        </p:nvSpPr>
        <p:spPr>
          <a:xfrm xmlns:a="http://schemas.openxmlformats.org/drawingml/2006/main">
            <a:off x="6591300" y="4267886"/>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26" name="">
            <a:extLst xmlns:a="http://schemas.openxmlformats.org/drawingml/2006/main">
              <a:ext uri="{FF2B5EF4-FFF2-40B4-BE49-F238E27FC236}">
                <a16:creationId xmlns:a16="http://schemas.microsoft.com/office/drawing/2014/main" id="{19401387-5359-409F-AA47-D49DCF5A19D2}"/>
              </a:ext>
            </a:extLst>
          </p:cNvPr>
          <p:cNvSpPr>
            <a:spLocks xmlns:a="http://schemas.openxmlformats.org/drawingml/2006/main" noGrp="1"/>
          </p:cNvSpPr>
          <p:nvPr/>
        </p:nvSpPr>
        <p:spPr>
          <a:xfrm xmlns:a="http://schemas.openxmlformats.org/drawingml/2006/main">
            <a:off x="6362700" y="4629074"/>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academic_groups - lab_groups</a:t>
            </a:r>
          </a:p>
        </p:txBody>
      </p:sp>
      <p:sp>
        <p:nvSpPr>
          <p:cNvPr id="27" name="">
            <a:extLst xmlns:a="http://schemas.openxmlformats.org/drawingml/2006/main">
              <a:ext uri="{FF2B5EF4-FFF2-40B4-BE49-F238E27FC236}">
                <a16:creationId xmlns:a16="http://schemas.microsoft.com/office/drawing/2014/main" id="{89B1F688-E5C9-4163-A231-BA4E4991894C}"/>
              </a:ext>
            </a:extLst>
          </p:cNvPr>
          <p:cNvSpPr>
            <a:spLocks xmlns:a="http://schemas.openxmlformats.org/drawingml/2006/main" noGrp="1"/>
          </p:cNvSpPr>
          <p:nvPr/>
        </p:nvSpPr>
        <p:spPr>
          <a:xfrm xmlns:a="http://schemas.openxmlformats.org/drawingml/2006/main">
            <a:off x="6362700" y="4965725"/>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subject_group_offerings - teacher_subject_assignments - lab_groups</a:t>
            </a:r>
          </a:p>
        </p:txBody>
      </p:sp>
      <p:sp>
        <p:nvSpPr>
          <p:cNvPr id="28" name="">
            <a:extLst xmlns:a="http://schemas.openxmlformats.org/drawingml/2006/main">
              <a:ext uri="{FF2B5EF4-FFF2-40B4-BE49-F238E27FC236}">
                <a16:creationId xmlns:a16="http://schemas.microsoft.com/office/drawing/2014/main" id="{FE9532CF-0FD8-4EB5-A870-B6412C68C912}"/>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29" name="">
            <a:extLst xmlns:a="http://schemas.openxmlformats.org/drawingml/2006/main">
              <a:ext uri="{FF2B5EF4-FFF2-40B4-BE49-F238E27FC236}">
                <a16:creationId xmlns:a16="http://schemas.microsoft.com/office/drawing/2014/main" id="{EDF95445-19A3-49A3-A55A-8A5487910C87}"/>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14</a:t>
            </a:r>
          </a:p>
        </p:txBody>
      </p:sp>
    </p:spTree>
    <p:extLst>
      <p:ext uri="{BB962C8B-B14F-4D97-AF65-F5344CB8AC3E}">
        <p14:creationId xmlns:p14="http://schemas.microsoft.com/office/powerpoint/2010/main" val="40389172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975295-E787-43B8-B715-93987FB3AB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F1723D11-19A4-4DEC-918D-93F8B1513438}"/>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CD8DA1E7-3B7C-439B-ADF2-3E57A0B36699}"/>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7ADA579C-83EA-4A24-B513-F6A5E065EC30}"/>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B2CE17F2-20F6-428A-A8E3-977CFDBCB4E8}"/>
              </a:ext>
            </a:extLst>
          </p:cNvPr>
          <p:cNvSpPr>
            <a:spLocks xmlns:a="http://schemas.openxmlformats.org/drawingml/2006/main" noGrp="1"/>
          </p:cNvSpPr>
          <p:nvPr/>
        </p:nvSpPr>
        <p:spPr>
          <a:xfrm xmlns:a="http://schemas.openxmlformats.org/drawingml/2006/main">
            <a:off x="819150" y="952500"/>
            <a:ext cx="899922"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Բիզնես սցենար</a:t>
            </a:r>
          </a:p>
        </p:txBody>
      </p:sp>
      <p:sp>
        <p:nvSpPr>
          <p:cNvPr id="6" name="">
            <a:extLst xmlns:a="http://schemas.openxmlformats.org/drawingml/2006/main">
              <a:ext uri="{FF2B5EF4-FFF2-40B4-BE49-F238E27FC236}">
                <a16:creationId xmlns:a16="http://schemas.microsoft.com/office/drawing/2014/main" id="{8B780EFE-FC44-4A37-90F8-668BCC65E763}"/>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Ինչպես է ուսանողը «մտնում» իր ճիշտ լաբորատորների մեջ</a:t>
            </a:r>
          </a:p>
        </p:txBody>
      </p:sp>
      <p:sp>
        <p:nvSpPr>
          <p:cNvPr id="7" name="">
            <a:extLst xmlns:a="http://schemas.openxmlformats.org/drawingml/2006/main">
              <a:ext uri="{FF2B5EF4-FFF2-40B4-BE49-F238E27FC236}">
                <a16:creationId xmlns:a16="http://schemas.microsoft.com/office/drawing/2014/main" id="{B044DDE7-ADC4-456E-9309-323E1CF8C716}"/>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Ուսանողի համար տեսանելիությունը որոշվում է ոչ թե միայն խմբով, այլ նաև տվյալ առարկայի enrollment-ով</a:t>
            </a:r>
          </a:p>
        </p:txBody>
      </p:sp>
      <p:sp>
        <p:nvSpPr>
          <p:cNvPr id="8" name="">
            <a:extLst xmlns:a="http://schemas.openxmlformats.org/drawingml/2006/main">
              <a:ext uri="{FF2B5EF4-FFF2-40B4-BE49-F238E27FC236}">
                <a16:creationId xmlns:a16="http://schemas.microsoft.com/office/drawing/2014/main" id="{72EAF03B-6458-4C36-9C76-95CEA11276D4}"/>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9BD7ADE1-FABB-4FF5-99EC-0C8FBF18670A}"/>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15</a:t>
            </a:r>
          </a:p>
        </p:txBody>
      </p:sp>
      <p:sp>
        <p:nvSpPr>
          <p:cNvPr id="10" name="">
            <a:extLst xmlns:a="http://schemas.openxmlformats.org/drawingml/2006/main">
              <a:ext uri="{FF2B5EF4-FFF2-40B4-BE49-F238E27FC236}">
                <a16:creationId xmlns:a16="http://schemas.microsoft.com/office/drawing/2014/main" id="{926EF22A-53A3-4196-B22A-363FD191C744}"/>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F7303B78-563A-4079-A732-6B1DAE700960}"/>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3DA01BEA-D6F4-4E33-A584-D93173C3C25F}"/>
              </a:ext>
            </a:extLst>
          </p:cNvPr>
          <p:cNvSpPr>
            <a:spLocks xmlns:a="http://schemas.openxmlformats.org/drawingml/2006/main" noGrp="1"/>
          </p:cNvSpPr>
          <p:nvPr/>
        </p:nvSpPr>
        <p:spPr>
          <a:xfrm xmlns:a="http://schemas.openxmlformats.org/drawingml/2006/main">
            <a:off x="742950" y="2249043"/>
            <a:ext cx="10706100" cy="1656893"/>
          </a:xfrm>
          <a:prstGeom xmlns:a="http://schemas.openxmlformats.org/drawingml/2006/main" prst="roundRect">
            <a:avLst>
              <a:gd name="adj" fmla="val 10348"/>
            </a:avLst>
          </a:prstGeom>
          <a:solidFill xmlns:a="http://schemas.openxmlformats.org/drawingml/2006/main">
            <a:srgbClr val="EDF5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6C30B557-35A8-418B-B1CB-6621C9716522}"/>
              </a:ext>
            </a:extLst>
          </p:cNvPr>
          <p:cNvSpPr>
            <a:spLocks xmlns:a="http://schemas.openxmlformats.org/drawingml/2006/main" noGrp="1"/>
          </p:cNvSpPr>
          <p:nvPr/>
        </p:nvSpPr>
        <p:spPr>
          <a:xfrm xmlns:a="http://schemas.openxmlformats.org/drawingml/2006/main">
            <a:off x="933450" y="24395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28990CA5-88DA-49A1-9028-5ACC3242D7A2}"/>
              </a:ext>
            </a:extLst>
          </p:cNvPr>
          <p:cNvSpPr>
            <a:spLocks xmlns:a="http://schemas.openxmlformats.org/drawingml/2006/main" noGrp="1"/>
          </p:cNvSpPr>
          <p:nvPr/>
        </p:nvSpPr>
        <p:spPr>
          <a:xfrm xmlns:a="http://schemas.openxmlformats.org/drawingml/2006/main">
            <a:off x="1162050" y="2439543"/>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Ուսանողի տեսանկյունից</a:t>
            </a:r>
          </a:p>
        </p:txBody>
      </p:sp>
      <p:sp>
        <p:nvSpPr>
          <p:cNvPr id="15" name="">
            <a:extLst xmlns:a="http://schemas.openxmlformats.org/drawingml/2006/main">
              <a:ext uri="{FF2B5EF4-FFF2-40B4-BE49-F238E27FC236}">
                <a16:creationId xmlns:a16="http://schemas.microsoft.com/office/drawing/2014/main" id="{0510DF3D-F070-44FA-ADD8-8AA475B4C7A7}"/>
              </a:ext>
            </a:extLst>
          </p:cNvPr>
          <p:cNvSpPr>
            <a:spLocks xmlns:a="http://schemas.openxmlformats.org/drawingml/2006/main" noGrp="1"/>
          </p:cNvSpPr>
          <p:nvPr/>
        </p:nvSpPr>
        <p:spPr>
          <a:xfrm xmlns:a="http://schemas.openxmlformats.org/drawingml/2006/main">
            <a:off x="933450" y="2800731"/>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Ուսանողը կարող է պատկանել academic group 319-ին</a:t>
            </a:r>
          </a:p>
        </p:txBody>
      </p:sp>
      <p:sp>
        <p:nvSpPr>
          <p:cNvPr id="16" name="">
            <a:extLst xmlns:a="http://schemas.openxmlformats.org/drawingml/2006/main">
              <a:ext uri="{FF2B5EF4-FFF2-40B4-BE49-F238E27FC236}">
                <a16:creationId xmlns:a16="http://schemas.microsoft.com/office/drawing/2014/main" id="{B25D65B9-509E-4DF1-9EFC-CBB4E6B99EE6}"/>
              </a:ext>
            </a:extLst>
          </p:cNvPr>
          <p:cNvSpPr>
            <a:spLocks xmlns:a="http://schemas.openxmlformats.org/drawingml/2006/main" noGrp="1"/>
          </p:cNvSpPr>
          <p:nvPr/>
        </p:nvSpPr>
        <p:spPr>
          <a:xfrm xmlns:a="http://schemas.openxmlformats.org/drawingml/2006/main">
            <a:off x="933450" y="3137383"/>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Բայց տվյալ առարկայի համար նրա իրական աշխատանքային տեղը օրինակ 319-2 lab group-ն է</a:t>
            </a:r>
          </a:p>
        </p:txBody>
      </p:sp>
      <p:sp>
        <p:nvSpPr>
          <p:cNvPr id="17" name="">
            <a:extLst xmlns:a="http://schemas.openxmlformats.org/drawingml/2006/main">
              <a:ext uri="{FF2B5EF4-FFF2-40B4-BE49-F238E27FC236}">
                <a16:creationId xmlns:a16="http://schemas.microsoft.com/office/drawing/2014/main" id="{7A99594C-670E-43CF-ADB2-C414009869A1}"/>
              </a:ext>
            </a:extLst>
          </p:cNvPr>
          <p:cNvSpPr>
            <a:spLocks xmlns:a="http://schemas.openxmlformats.org/drawingml/2006/main" noGrp="1"/>
          </p:cNvSpPr>
          <p:nvPr/>
        </p:nvSpPr>
        <p:spPr>
          <a:xfrm xmlns:a="http://schemas.openxmlformats.org/drawingml/2006/main">
            <a:off x="933450" y="3474034"/>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Հենց այդ պատճառով արդյունքներն ու լաբորատորները պետք է կապվեն enrollment-ի միջոցով</a:t>
            </a:r>
          </a:p>
        </p:txBody>
      </p:sp>
      <p:sp>
        <p:nvSpPr>
          <p:cNvPr id="18" name="">
            <a:extLst xmlns:a="http://schemas.openxmlformats.org/drawingml/2006/main">
              <a:ext uri="{FF2B5EF4-FFF2-40B4-BE49-F238E27FC236}">
                <a16:creationId xmlns:a16="http://schemas.microsoft.com/office/drawing/2014/main" id="{A73B681C-5DCB-4365-A7B6-B8EAD8B7C806}"/>
              </a:ext>
            </a:extLst>
          </p:cNvPr>
          <p:cNvSpPr>
            <a:spLocks xmlns:a="http://schemas.openxmlformats.org/drawingml/2006/main" noGrp="1"/>
          </p:cNvSpPr>
          <p:nvPr/>
        </p:nvSpPr>
        <p:spPr>
          <a:xfrm xmlns:a="http://schemas.openxmlformats.org/drawingml/2006/main">
            <a:off x="742950" y="4077386"/>
            <a:ext cx="5276850" cy="1561643"/>
          </a:xfrm>
          <a:prstGeom xmlns:a="http://schemas.openxmlformats.org/drawingml/2006/main" prst="roundRect">
            <a:avLst>
              <a:gd name="adj" fmla="val 10979"/>
            </a:avLst>
          </a:prstGeom>
          <a:solidFill xmlns:a="http://schemas.openxmlformats.org/drawingml/2006/main">
            <a:srgbClr val="FFFAF3"/>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3E94943E-91F3-4A9F-B342-9C3D2F0902FD}"/>
              </a:ext>
            </a:extLst>
          </p:cNvPr>
          <p:cNvSpPr>
            <a:spLocks xmlns:a="http://schemas.openxmlformats.org/drawingml/2006/main" noGrp="1"/>
          </p:cNvSpPr>
          <p:nvPr/>
        </p:nvSpPr>
        <p:spPr>
          <a:xfrm xmlns:a="http://schemas.openxmlformats.org/drawingml/2006/main">
            <a:off x="933450" y="4267886"/>
            <a:ext cx="133350" cy="133350"/>
          </a:xfrm>
          <a:prstGeom xmlns:a="http://schemas.openxmlformats.org/drawingml/2006/main" prst="ellipse">
            <a:avLst/>
          </a:prstGeom>
          <a:solidFill xmlns:a="http://schemas.openxmlformats.org/drawingml/2006/main">
            <a:srgbClr val="D98F2B"/>
          </a:solidFill>
        </p:spPr>
      </p:sp>
      <p:sp>
        <p:nvSpPr>
          <p:cNvPr id="20" name="">
            <a:extLst xmlns:a="http://schemas.openxmlformats.org/drawingml/2006/main">
              <a:ext uri="{FF2B5EF4-FFF2-40B4-BE49-F238E27FC236}">
                <a16:creationId xmlns:a16="http://schemas.microsoft.com/office/drawing/2014/main" id="{24AEF65E-B387-4C54-A055-CDCB4EE321FE}"/>
              </a:ext>
            </a:extLst>
          </p:cNvPr>
          <p:cNvSpPr>
            <a:spLocks xmlns:a="http://schemas.openxmlformats.org/drawingml/2006/main" noGrp="1"/>
          </p:cNvSpPr>
          <p:nvPr/>
        </p:nvSpPr>
        <p:spPr>
          <a:xfrm xmlns:a="http://schemas.openxmlformats.org/drawingml/2006/main">
            <a:off x="1162050" y="4267886"/>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Եթե enrollment-ը առանձին չլիներ</a:t>
            </a:r>
          </a:p>
        </p:txBody>
      </p:sp>
      <p:sp>
        <p:nvSpPr>
          <p:cNvPr id="21" name="">
            <a:extLst xmlns:a="http://schemas.openxmlformats.org/drawingml/2006/main">
              <a:ext uri="{FF2B5EF4-FFF2-40B4-BE49-F238E27FC236}">
                <a16:creationId xmlns:a16="http://schemas.microsoft.com/office/drawing/2014/main" id="{D945F932-48B0-46B0-B2CD-41BA32847631}"/>
              </a:ext>
            </a:extLst>
          </p:cNvPr>
          <p:cNvSpPr>
            <a:spLocks xmlns:a="http://schemas.openxmlformats.org/drawingml/2006/main" noGrp="1"/>
          </p:cNvSpPr>
          <p:nvPr/>
        </p:nvSpPr>
        <p:spPr>
          <a:xfrm xmlns:a="http://schemas.openxmlformats.org/drawingml/2006/main">
            <a:off x="933450" y="4629074"/>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Համակարգը չէր տարբերակելու նույն խմբի տարբեր ենթախմբերով ուսանողներին</a:t>
            </a:r>
          </a:p>
        </p:txBody>
      </p:sp>
      <p:sp>
        <p:nvSpPr>
          <p:cNvPr id="22" name="">
            <a:extLst xmlns:a="http://schemas.openxmlformats.org/drawingml/2006/main">
              <a:ext uri="{FF2B5EF4-FFF2-40B4-BE49-F238E27FC236}">
                <a16:creationId xmlns:a16="http://schemas.microsoft.com/office/drawing/2014/main" id="{304C94CF-C297-406A-B0B2-FE87CDB85E4A}"/>
              </a:ext>
            </a:extLst>
          </p:cNvPr>
          <p:cNvSpPr>
            <a:spLocks xmlns:a="http://schemas.openxmlformats.org/drawingml/2006/main" noGrp="1"/>
          </p:cNvSpPr>
          <p:nvPr/>
        </p:nvSpPr>
        <p:spPr>
          <a:xfrm xmlns:a="http://schemas.openxmlformats.org/drawingml/2006/main">
            <a:off x="933450" y="5207127"/>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Լաբորատոր տեսանելիությունն ու արդյունքները կխառնվեին</a:t>
            </a:r>
          </a:p>
        </p:txBody>
      </p:sp>
      <p:sp>
        <p:nvSpPr>
          <p:cNvPr id="23" name="">
            <a:extLst xmlns:a="http://schemas.openxmlformats.org/drawingml/2006/main">
              <a:ext uri="{FF2B5EF4-FFF2-40B4-BE49-F238E27FC236}">
                <a16:creationId xmlns:a16="http://schemas.microsoft.com/office/drawing/2014/main" id="{ED48C692-A8B5-4DB7-B444-8AB999341629}"/>
              </a:ext>
            </a:extLst>
          </p:cNvPr>
          <p:cNvSpPr>
            <a:spLocks xmlns:a="http://schemas.openxmlformats.org/drawingml/2006/main" noGrp="1"/>
          </p:cNvSpPr>
          <p:nvPr/>
        </p:nvSpPr>
        <p:spPr>
          <a:xfrm xmlns:a="http://schemas.openxmlformats.org/drawingml/2006/main">
            <a:off x="6172200" y="4077386"/>
            <a:ext cx="5276850" cy="1561643"/>
          </a:xfrm>
          <a:prstGeom xmlns:a="http://schemas.openxmlformats.org/drawingml/2006/main" prst="roundRect">
            <a:avLst>
              <a:gd name="adj" fmla="val 10979"/>
            </a:avLst>
          </a:prstGeom>
          <a:solidFill xmlns:a="http://schemas.openxmlformats.org/drawingml/2006/main">
            <a:srgbClr val="FFFFFF"/>
          </a:solidFill>
          <a:ln xmlns:a="http://schemas.openxmlformats.org/drawingml/2006/main" w="9525">
            <a:solidFill>
              <a:srgbClr val="DCE7F4"/>
            </a:solidFill>
            <a:prstDash val="solid"/>
          </a:ln>
        </p:spPr>
      </p:sp>
      <p:sp>
        <p:nvSpPr>
          <p:cNvPr id="24" name="">
            <a:extLst xmlns:a="http://schemas.openxmlformats.org/drawingml/2006/main">
              <a:ext uri="{FF2B5EF4-FFF2-40B4-BE49-F238E27FC236}">
                <a16:creationId xmlns:a16="http://schemas.microsoft.com/office/drawing/2014/main" id="{71C6B963-2990-4491-96AA-41A77C9212ED}"/>
              </a:ext>
            </a:extLst>
          </p:cNvPr>
          <p:cNvSpPr>
            <a:spLocks xmlns:a="http://schemas.openxmlformats.org/drawingml/2006/main" noGrp="1"/>
          </p:cNvSpPr>
          <p:nvPr/>
        </p:nvSpPr>
        <p:spPr>
          <a:xfrm xmlns:a="http://schemas.openxmlformats.org/drawingml/2006/main">
            <a:off x="6362700" y="4267886"/>
            <a:ext cx="133350" cy="133350"/>
          </a:xfrm>
          <a:prstGeom xmlns:a="http://schemas.openxmlformats.org/drawingml/2006/main" prst="ellipse">
            <a:avLst/>
          </a:prstGeom>
          <a:solidFill xmlns:a="http://schemas.openxmlformats.org/drawingml/2006/main">
            <a:srgbClr val="2F8F69"/>
          </a:solidFill>
        </p:spPr>
      </p:sp>
      <p:sp>
        <p:nvSpPr>
          <p:cNvPr id="25" name="">
            <a:extLst xmlns:a="http://schemas.openxmlformats.org/drawingml/2006/main">
              <a:ext uri="{FF2B5EF4-FFF2-40B4-BE49-F238E27FC236}">
                <a16:creationId xmlns:a16="http://schemas.microsoft.com/office/drawing/2014/main" id="{93F30CB2-4CE0-4F2A-96D6-533CAF635CF4}"/>
              </a:ext>
            </a:extLst>
          </p:cNvPr>
          <p:cNvSpPr>
            <a:spLocks xmlns:a="http://schemas.openxmlformats.org/drawingml/2006/main" noGrp="1"/>
          </p:cNvSpPr>
          <p:nvPr/>
        </p:nvSpPr>
        <p:spPr>
          <a:xfrm xmlns:a="http://schemas.openxmlformats.org/drawingml/2006/main">
            <a:off x="6591300" y="4267886"/>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26" name="">
            <a:extLst xmlns:a="http://schemas.openxmlformats.org/drawingml/2006/main">
              <a:ext uri="{FF2B5EF4-FFF2-40B4-BE49-F238E27FC236}">
                <a16:creationId xmlns:a16="http://schemas.microsoft.com/office/drawing/2014/main" id="{D05D0458-5056-4EAC-A0FD-351439CE2B8A}"/>
              </a:ext>
            </a:extLst>
          </p:cNvPr>
          <p:cNvSpPr>
            <a:spLocks xmlns:a="http://schemas.openxmlformats.org/drawingml/2006/main" noGrp="1"/>
          </p:cNvSpPr>
          <p:nvPr/>
        </p:nvSpPr>
        <p:spPr>
          <a:xfrm xmlns:a="http://schemas.openxmlformats.org/drawingml/2006/main">
            <a:off x="6362700" y="4629074"/>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students - student_subject_enrollments - lab_groups</a:t>
            </a:r>
          </a:p>
        </p:txBody>
      </p:sp>
      <p:sp>
        <p:nvSpPr>
          <p:cNvPr id="27" name="">
            <a:extLst xmlns:a="http://schemas.openxmlformats.org/drawingml/2006/main">
              <a:ext uri="{FF2B5EF4-FFF2-40B4-BE49-F238E27FC236}">
                <a16:creationId xmlns:a16="http://schemas.microsoft.com/office/drawing/2014/main" id="{9801D513-B022-4BE9-8AEE-27B66716B31B}"/>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28" name="">
            <a:extLst xmlns:a="http://schemas.openxmlformats.org/drawingml/2006/main">
              <a:ext uri="{FF2B5EF4-FFF2-40B4-BE49-F238E27FC236}">
                <a16:creationId xmlns:a16="http://schemas.microsoft.com/office/drawing/2014/main" id="{3E9B14A4-D661-4C7A-A957-D17C096ACD69}"/>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15</a:t>
            </a:r>
          </a:p>
        </p:txBody>
      </p:sp>
    </p:spTree>
    <p:extLst>
      <p:ext uri="{BB962C8B-B14F-4D97-AF65-F5344CB8AC3E}">
        <p14:creationId xmlns:p14="http://schemas.microsoft.com/office/powerpoint/2010/main" val="200348390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C34E44-8D15-4250-B4BD-FDD867CAD0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698AAAB0-8C73-4671-BA26-B128FD5D77B3}"/>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23EA22F5-5599-46AB-ADFD-734617DE49A5}"/>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CA592BC1-4049-4389-98EB-8A61AD091635}"/>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BE15FA56-1275-4591-83D6-D4FE3B7E1822}"/>
              </a:ext>
            </a:extLst>
          </p:cNvPr>
          <p:cNvSpPr>
            <a:spLocks xmlns:a="http://schemas.openxmlformats.org/drawingml/2006/main" noGrp="1"/>
          </p:cNvSpPr>
          <p:nvPr/>
        </p:nvSpPr>
        <p:spPr>
          <a:xfrm xmlns:a="http://schemas.openxmlformats.org/drawingml/2006/main">
            <a:off x="819150" y="952500"/>
            <a:ext cx="899922"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Բիզնես սցենար</a:t>
            </a:r>
          </a:p>
        </p:txBody>
      </p:sp>
      <p:sp>
        <p:nvSpPr>
          <p:cNvPr id="6" name="">
            <a:extLst xmlns:a="http://schemas.openxmlformats.org/drawingml/2006/main">
              <a:ext uri="{FF2B5EF4-FFF2-40B4-BE49-F238E27FC236}">
                <a16:creationId xmlns:a16="http://schemas.microsoft.com/office/drawing/2014/main" id="{AF7C7E62-3C08-43EC-A709-EE836407F4B4}"/>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Ինչու է առարկան բաժանված `subjects` և `subject_group_offerings`</a:t>
            </a:r>
          </a:p>
        </p:txBody>
      </p:sp>
      <p:sp>
        <p:nvSpPr>
          <p:cNvPr id="7" name="">
            <a:extLst xmlns:a="http://schemas.openxmlformats.org/drawingml/2006/main">
              <a:ext uri="{FF2B5EF4-FFF2-40B4-BE49-F238E27FC236}">
                <a16:creationId xmlns:a16="http://schemas.microsoft.com/office/drawing/2014/main" id="{48CCE8AD-4AB0-49EA-B0B5-52AE01B47211}"/>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Առարկան կատալոգ է, offering-ը՝ այդ առարկայի կոնկրետ անցկացումը</a:t>
            </a:r>
          </a:p>
        </p:txBody>
      </p:sp>
      <p:sp>
        <p:nvSpPr>
          <p:cNvPr id="8" name="">
            <a:extLst xmlns:a="http://schemas.openxmlformats.org/drawingml/2006/main">
              <a:ext uri="{FF2B5EF4-FFF2-40B4-BE49-F238E27FC236}">
                <a16:creationId xmlns:a16="http://schemas.microsoft.com/office/drawing/2014/main" id="{C082E5A5-177F-49AB-941D-1DD8189A118C}"/>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FBC957AC-A6F5-4CA1-BD9C-35047328C500}"/>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16</a:t>
            </a:r>
          </a:p>
        </p:txBody>
      </p:sp>
      <p:sp>
        <p:nvSpPr>
          <p:cNvPr id="10" name="">
            <a:extLst xmlns:a="http://schemas.openxmlformats.org/drawingml/2006/main">
              <a:ext uri="{FF2B5EF4-FFF2-40B4-BE49-F238E27FC236}">
                <a16:creationId xmlns:a16="http://schemas.microsoft.com/office/drawing/2014/main" id="{C8F664E5-04D1-4C09-B6C5-F30D58B1B648}"/>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E52BB6A4-8F02-4F9A-BF88-41890ECB5168}"/>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1AE55EBB-1793-437E-B08B-AA19C0A82397}"/>
              </a:ext>
            </a:extLst>
          </p:cNvPr>
          <p:cNvSpPr>
            <a:spLocks xmlns:a="http://schemas.openxmlformats.org/drawingml/2006/main" noGrp="1"/>
          </p:cNvSpPr>
          <p:nvPr/>
        </p:nvSpPr>
        <p:spPr>
          <a:xfrm xmlns:a="http://schemas.openxmlformats.org/drawingml/2006/main">
            <a:off x="742950" y="2249043"/>
            <a:ext cx="10706100" cy="1656893"/>
          </a:xfrm>
          <a:prstGeom xmlns:a="http://schemas.openxmlformats.org/drawingml/2006/main" prst="roundRect">
            <a:avLst>
              <a:gd name="adj" fmla="val 10348"/>
            </a:avLst>
          </a:prstGeom>
          <a:solidFill xmlns:a="http://schemas.openxmlformats.org/drawingml/2006/main">
            <a:srgbClr val="EDF5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C16586D8-0AEB-47BF-B56C-44F6BB0343C2}"/>
              </a:ext>
            </a:extLst>
          </p:cNvPr>
          <p:cNvSpPr>
            <a:spLocks xmlns:a="http://schemas.openxmlformats.org/drawingml/2006/main" noGrp="1"/>
          </p:cNvSpPr>
          <p:nvPr/>
        </p:nvSpPr>
        <p:spPr>
          <a:xfrm xmlns:a="http://schemas.openxmlformats.org/drawingml/2006/main">
            <a:off x="933450" y="24395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F612D194-E172-4EAF-82F4-810983568F76}"/>
              </a:ext>
            </a:extLst>
          </p:cNvPr>
          <p:cNvSpPr>
            <a:spLocks xmlns:a="http://schemas.openxmlformats.org/drawingml/2006/main" noGrp="1"/>
          </p:cNvSpPr>
          <p:nvPr/>
        </p:nvSpPr>
        <p:spPr>
          <a:xfrm xmlns:a="http://schemas.openxmlformats.org/drawingml/2006/main">
            <a:off x="1162050" y="2439543"/>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է առարկան բաժանված երկու մակարդակի</a:t>
            </a:r>
          </a:p>
        </p:txBody>
      </p:sp>
      <p:sp>
        <p:nvSpPr>
          <p:cNvPr id="15" name="">
            <a:extLst xmlns:a="http://schemas.openxmlformats.org/drawingml/2006/main">
              <a:ext uri="{FF2B5EF4-FFF2-40B4-BE49-F238E27FC236}">
                <a16:creationId xmlns:a16="http://schemas.microsoft.com/office/drawing/2014/main" id="{FD3B2CDA-2630-404D-8E9C-215F39845922}"/>
              </a:ext>
            </a:extLst>
          </p:cNvPr>
          <p:cNvSpPr>
            <a:spLocks xmlns:a="http://schemas.openxmlformats.org/drawingml/2006/main" noGrp="1"/>
          </p:cNvSpPr>
          <p:nvPr/>
        </p:nvSpPr>
        <p:spPr>
          <a:xfrm xmlns:a="http://schemas.openxmlformats.org/drawingml/2006/main">
            <a:off x="933450" y="2800731"/>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`subjects` աղյուսակը պահում է առարկան որպես ընդհանուր կատալոգ</a:t>
            </a:r>
          </a:p>
        </p:txBody>
      </p:sp>
      <p:sp>
        <p:nvSpPr>
          <p:cNvPr id="16" name="">
            <a:extLst xmlns:a="http://schemas.openxmlformats.org/drawingml/2006/main">
              <a:ext uri="{FF2B5EF4-FFF2-40B4-BE49-F238E27FC236}">
                <a16:creationId xmlns:a16="http://schemas.microsoft.com/office/drawing/2014/main" id="{A021027A-166A-4184-B029-AB27D27119DF}"/>
              </a:ext>
            </a:extLst>
          </p:cNvPr>
          <p:cNvSpPr>
            <a:spLocks xmlns:a="http://schemas.openxmlformats.org/drawingml/2006/main" noGrp="1"/>
          </p:cNvSpPr>
          <p:nvPr/>
        </p:nvSpPr>
        <p:spPr>
          <a:xfrm xmlns:a="http://schemas.openxmlformats.org/drawingml/2006/main">
            <a:off x="933450" y="3137383"/>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`subject_group_offerings` աղյուսակը պահում է նույն առարկայի կոնկրետ անցկացումը</a:t>
            </a:r>
          </a:p>
        </p:txBody>
      </p:sp>
      <p:sp>
        <p:nvSpPr>
          <p:cNvPr id="17" name="">
            <a:extLst xmlns:a="http://schemas.openxmlformats.org/drawingml/2006/main">
              <a:ext uri="{FF2B5EF4-FFF2-40B4-BE49-F238E27FC236}">
                <a16:creationId xmlns:a16="http://schemas.microsoft.com/office/drawing/2014/main" id="{A5E6061F-9AFE-4A39-961E-882D1C9105EC}"/>
              </a:ext>
            </a:extLst>
          </p:cNvPr>
          <p:cNvSpPr>
            <a:spLocks xmlns:a="http://schemas.openxmlformats.org/drawingml/2006/main" noGrp="1"/>
          </p:cNvSpPr>
          <p:nvPr/>
        </p:nvSpPr>
        <p:spPr>
          <a:xfrm xmlns:a="http://schemas.openxmlformats.org/drawingml/2006/main">
            <a:off x="933450" y="3474034"/>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Սա թույլ է տալիս նույն առարկան վարել տարբեր խմբերի, տարբեր տարիների և տարբեր կիսամյակների համար</a:t>
            </a:r>
          </a:p>
        </p:txBody>
      </p:sp>
      <p:sp>
        <p:nvSpPr>
          <p:cNvPr id="18" name="">
            <a:extLst xmlns:a="http://schemas.openxmlformats.org/drawingml/2006/main">
              <a:ext uri="{FF2B5EF4-FFF2-40B4-BE49-F238E27FC236}">
                <a16:creationId xmlns:a16="http://schemas.microsoft.com/office/drawing/2014/main" id="{72B08535-FB5B-40D2-93BB-174DFD1EA46D}"/>
              </a:ext>
            </a:extLst>
          </p:cNvPr>
          <p:cNvSpPr>
            <a:spLocks xmlns:a="http://schemas.openxmlformats.org/drawingml/2006/main" noGrp="1"/>
          </p:cNvSpPr>
          <p:nvPr/>
        </p:nvSpPr>
        <p:spPr>
          <a:xfrm xmlns:a="http://schemas.openxmlformats.org/drawingml/2006/main">
            <a:off x="742950" y="4077386"/>
            <a:ext cx="5276850" cy="1516380"/>
          </a:xfrm>
          <a:prstGeom xmlns:a="http://schemas.openxmlformats.org/drawingml/2006/main" prst="roundRect">
            <a:avLst>
              <a:gd name="adj" fmla="val 11307"/>
            </a:avLst>
          </a:prstGeom>
          <a:solidFill xmlns:a="http://schemas.openxmlformats.org/drawingml/2006/main">
            <a:srgbClr val="F8FBFF"/>
          </a:solidFill>
          <a:ln xmlns:a="http://schemas.openxmlformats.org/drawingml/2006/main" w="9525">
            <a:solidFill>
              <a:srgbClr val="DCE7F4"/>
            </a:solidFill>
            <a:prstDash val="solid"/>
          </a:ln>
        </p:spPr>
      </p:sp>
      <p:sp>
        <p:nvSpPr>
          <p:cNvPr id="19" name="">
            <a:extLst xmlns:a="http://schemas.openxmlformats.org/drawingml/2006/main">
              <a:ext uri="{FF2B5EF4-FFF2-40B4-BE49-F238E27FC236}">
                <a16:creationId xmlns:a16="http://schemas.microsoft.com/office/drawing/2014/main" id="{EC0994BE-E13B-4035-BCDD-5F5F43DF9586}"/>
              </a:ext>
            </a:extLst>
          </p:cNvPr>
          <p:cNvSpPr>
            <a:spLocks xmlns:a="http://schemas.openxmlformats.org/drawingml/2006/main" noGrp="1"/>
          </p:cNvSpPr>
          <p:nvPr/>
        </p:nvSpPr>
        <p:spPr>
          <a:xfrm xmlns:a="http://schemas.openxmlformats.org/drawingml/2006/main">
            <a:off x="933450" y="4267886"/>
            <a:ext cx="133350" cy="133350"/>
          </a:xfrm>
          <a:prstGeom xmlns:a="http://schemas.openxmlformats.org/drawingml/2006/main" prst="ellipse">
            <a:avLst/>
          </a:prstGeom>
          <a:solidFill xmlns:a="http://schemas.openxmlformats.org/drawingml/2006/main">
            <a:srgbClr val="2F8F69"/>
          </a:solidFill>
        </p:spPr>
      </p:sp>
      <p:sp>
        <p:nvSpPr>
          <p:cNvPr id="20" name="">
            <a:extLst xmlns:a="http://schemas.openxmlformats.org/drawingml/2006/main">
              <a:ext uri="{FF2B5EF4-FFF2-40B4-BE49-F238E27FC236}">
                <a16:creationId xmlns:a16="http://schemas.microsoft.com/office/drawing/2014/main" id="{2E966397-E220-48BF-AAF5-BA270E1A0B48}"/>
              </a:ext>
            </a:extLst>
          </p:cNvPr>
          <p:cNvSpPr>
            <a:spLocks xmlns:a="http://schemas.openxmlformats.org/drawingml/2006/main" noGrp="1"/>
          </p:cNvSpPr>
          <p:nvPr/>
        </p:nvSpPr>
        <p:spPr>
          <a:xfrm xmlns:a="http://schemas.openxmlformats.org/drawingml/2006/main">
            <a:off x="1162050" y="4267886"/>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Օրինակ</a:t>
            </a:r>
          </a:p>
        </p:txBody>
      </p:sp>
      <p:sp>
        <p:nvSpPr>
          <p:cNvPr id="21" name="">
            <a:extLst xmlns:a="http://schemas.openxmlformats.org/drawingml/2006/main">
              <a:ext uri="{FF2B5EF4-FFF2-40B4-BE49-F238E27FC236}">
                <a16:creationId xmlns:a16="http://schemas.microsoft.com/office/drawing/2014/main" id="{E5C06E3E-BCA3-4288-A928-48C88999CF28}"/>
              </a:ext>
            </a:extLst>
          </p:cNvPr>
          <p:cNvSpPr>
            <a:spLocks xmlns:a="http://schemas.openxmlformats.org/drawingml/2006/main" noGrp="1"/>
          </p:cNvSpPr>
          <p:nvPr/>
        </p:nvSpPr>
        <p:spPr>
          <a:xfrm xmlns:a="http://schemas.openxmlformats.org/drawingml/2006/main">
            <a:off x="933450" y="4629074"/>
            <a:ext cx="4895850"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`Databases` առարկան կարող է լինել 319 խմբի համար Fall-ում</a:t>
            </a:r>
          </a:p>
        </p:txBody>
      </p:sp>
      <p:sp>
        <p:nvSpPr>
          <p:cNvPr id="22" name="">
            <a:extLst xmlns:a="http://schemas.openxmlformats.org/drawingml/2006/main">
              <a:ext uri="{FF2B5EF4-FFF2-40B4-BE49-F238E27FC236}">
                <a16:creationId xmlns:a16="http://schemas.microsoft.com/office/drawing/2014/main" id="{2577DDA4-29C3-45EF-87F5-AF0354B3520D}"/>
              </a:ext>
            </a:extLst>
          </p:cNvPr>
          <p:cNvSpPr>
            <a:spLocks xmlns:a="http://schemas.openxmlformats.org/drawingml/2006/main" noGrp="1"/>
          </p:cNvSpPr>
          <p:nvPr/>
        </p:nvSpPr>
        <p:spPr>
          <a:xfrm xmlns:a="http://schemas.openxmlformats.org/drawingml/2006/main">
            <a:off x="933450" y="4950638"/>
            <a:ext cx="4895850"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Եվ նույն `Databases`-ը կարող է նոր offering ունենալ 419 խմբի համար Spring-ում</a:t>
            </a:r>
          </a:p>
        </p:txBody>
      </p:sp>
      <p:sp>
        <p:nvSpPr>
          <p:cNvPr id="23" name="">
            <a:extLst xmlns:a="http://schemas.openxmlformats.org/drawingml/2006/main">
              <a:ext uri="{FF2B5EF4-FFF2-40B4-BE49-F238E27FC236}">
                <a16:creationId xmlns:a16="http://schemas.microsoft.com/office/drawing/2014/main" id="{1B05237C-CBA0-48F7-A930-E8062B4B8D8F}"/>
              </a:ext>
            </a:extLst>
          </p:cNvPr>
          <p:cNvSpPr>
            <a:spLocks xmlns:a="http://schemas.openxmlformats.org/drawingml/2006/main" noGrp="1"/>
          </p:cNvSpPr>
          <p:nvPr/>
        </p:nvSpPr>
        <p:spPr>
          <a:xfrm xmlns:a="http://schemas.openxmlformats.org/drawingml/2006/main">
            <a:off x="6172200" y="4077386"/>
            <a:ext cx="5276850" cy="1516380"/>
          </a:xfrm>
          <a:prstGeom xmlns:a="http://schemas.openxmlformats.org/drawingml/2006/main" prst="roundRect">
            <a:avLst>
              <a:gd name="adj" fmla="val 11307"/>
            </a:avLst>
          </a:prstGeom>
          <a:solidFill xmlns:a="http://schemas.openxmlformats.org/drawingml/2006/main">
            <a:srgbClr val="FFFFFF"/>
          </a:solidFill>
          <a:ln xmlns:a="http://schemas.openxmlformats.org/drawingml/2006/main" w="9525">
            <a:solidFill>
              <a:srgbClr val="DCE7F4"/>
            </a:solidFill>
            <a:prstDash val="solid"/>
          </a:ln>
        </p:spPr>
      </p:sp>
      <p:sp>
        <p:nvSpPr>
          <p:cNvPr id="24" name="">
            <a:extLst xmlns:a="http://schemas.openxmlformats.org/drawingml/2006/main">
              <a:ext uri="{FF2B5EF4-FFF2-40B4-BE49-F238E27FC236}">
                <a16:creationId xmlns:a16="http://schemas.microsoft.com/office/drawing/2014/main" id="{4CF99DC5-FBB5-4EE8-A5F4-CF5872FFAA75}"/>
              </a:ext>
            </a:extLst>
          </p:cNvPr>
          <p:cNvSpPr>
            <a:spLocks xmlns:a="http://schemas.openxmlformats.org/drawingml/2006/main" noGrp="1"/>
          </p:cNvSpPr>
          <p:nvPr/>
        </p:nvSpPr>
        <p:spPr>
          <a:xfrm xmlns:a="http://schemas.openxmlformats.org/drawingml/2006/main">
            <a:off x="6362700" y="4267886"/>
            <a:ext cx="133350" cy="133350"/>
          </a:xfrm>
          <a:prstGeom xmlns:a="http://schemas.openxmlformats.org/drawingml/2006/main" prst="ellipse">
            <a:avLst/>
          </a:prstGeom>
          <a:solidFill xmlns:a="http://schemas.openxmlformats.org/drawingml/2006/main">
            <a:srgbClr val="D98F2B"/>
          </a:solidFill>
        </p:spPr>
      </p:sp>
      <p:sp>
        <p:nvSpPr>
          <p:cNvPr id="25" name="">
            <a:extLst xmlns:a="http://schemas.openxmlformats.org/drawingml/2006/main">
              <a:ext uri="{FF2B5EF4-FFF2-40B4-BE49-F238E27FC236}">
                <a16:creationId xmlns:a16="http://schemas.microsoft.com/office/drawing/2014/main" id="{97AD6D21-B957-47A2-AA9F-528C7362D03B}"/>
              </a:ext>
            </a:extLst>
          </p:cNvPr>
          <p:cNvSpPr>
            <a:spLocks xmlns:a="http://schemas.openxmlformats.org/drawingml/2006/main" noGrp="1"/>
          </p:cNvSpPr>
          <p:nvPr/>
        </p:nvSpPr>
        <p:spPr>
          <a:xfrm xmlns:a="http://schemas.openxmlformats.org/drawingml/2006/main">
            <a:off x="6591300" y="4267886"/>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Diagram placeholder</a:t>
            </a:r>
          </a:p>
        </p:txBody>
      </p:sp>
      <p:sp>
        <p:nvSpPr>
          <p:cNvPr id="26" name="">
            <a:extLst xmlns:a="http://schemas.openxmlformats.org/drawingml/2006/main">
              <a:ext uri="{FF2B5EF4-FFF2-40B4-BE49-F238E27FC236}">
                <a16:creationId xmlns:a16="http://schemas.microsoft.com/office/drawing/2014/main" id="{43703396-A033-47DA-8584-13AB156D03DD}"/>
              </a:ext>
            </a:extLst>
          </p:cNvPr>
          <p:cNvSpPr>
            <a:spLocks xmlns:a="http://schemas.openxmlformats.org/drawingml/2006/main" noGrp="1"/>
          </p:cNvSpPr>
          <p:nvPr/>
        </p:nvSpPr>
        <p:spPr>
          <a:xfrm xmlns:a="http://schemas.openxmlformats.org/drawingml/2006/main">
            <a:off x="6362700" y="4629074"/>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put subjects - subject_group_offerings</a:t>
            </a:r>
          </a:p>
        </p:txBody>
      </p:sp>
      <p:sp>
        <p:nvSpPr>
          <p:cNvPr id="27" name="">
            <a:extLst xmlns:a="http://schemas.openxmlformats.org/drawingml/2006/main">
              <a:ext uri="{FF2B5EF4-FFF2-40B4-BE49-F238E27FC236}">
                <a16:creationId xmlns:a16="http://schemas.microsoft.com/office/drawing/2014/main" id="{AEDF4773-F85C-4479-8C01-21ABC6DFCD8E}"/>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28" name="">
            <a:extLst xmlns:a="http://schemas.openxmlformats.org/drawingml/2006/main">
              <a:ext uri="{FF2B5EF4-FFF2-40B4-BE49-F238E27FC236}">
                <a16:creationId xmlns:a16="http://schemas.microsoft.com/office/drawing/2014/main" id="{8CC360BC-E582-451F-9274-9245D50E537E}"/>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16</a:t>
            </a:r>
          </a:p>
        </p:txBody>
      </p:sp>
    </p:spTree>
    <p:extLst>
      <p:ext uri="{BB962C8B-B14F-4D97-AF65-F5344CB8AC3E}">
        <p14:creationId xmlns:p14="http://schemas.microsoft.com/office/powerpoint/2010/main" val="48093871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F15C30-FF44-48C7-B90A-77463F9D53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18FA7F51-84C0-40FB-AB7E-28E29DE5664A}"/>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E3B13D99-2903-4FA5-ACC3-CE6D0BC64195}"/>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A901B73A-43F9-4F82-84EB-09235B33B45D}"/>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B66D1A52-E540-4A3D-BC35-7B117A7BF132}"/>
              </a:ext>
            </a:extLst>
          </p:cNvPr>
          <p:cNvSpPr>
            <a:spLocks xmlns:a="http://schemas.openxmlformats.org/drawingml/2006/main" noGrp="1"/>
          </p:cNvSpPr>
          <p:nvPr/>
        </p:nvSpPr>
        <p:spPr>
          <a:xfrm xmlns:a="http://schemas.openxmlformats.org/drawingml/2006/main">
            <a:off x="819150" y="952500"/>
            <a:ext cx="771430"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Ինչու այսպես</a:t>
            </a:r>
          </a:p>
        </p:txBody>
      </p:sp>
      <p:sp>
        <p:nvSpPr>
          <p:cNvPr id="6" name="">
            <a:extLst xmlns:a="http://schemas.openxmlformats.org/drawingml/2006/main">
              <a:ext uri="{FF2B5EF4-FFF2-40B4-BE49-F238E27FC236}">
                <a16:creationId xmlns:a16="http://schemas.microsoft.com/office/drawing/2014/main" id="{E85A6E47-A3A2-4449-BED8-DE06136933EF}"/>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Ինչու են assignment և enrollment աղյուսակները առանձին</a:t>
            </a:r>
          </a:p>
        </p:txBody>
      </p:sp>
      <p:sp>
        <p:nvSpPr>
          <p:cNvPr id="7" name="">
            <a:extLst xmlns:a="http://schemas.openxmlformats.org/drawingml/2006/main">
              <a:ext uri="{FF2B5EF4-FFF2-40B4-BE49-F238E27FC236}">
                <a16:creationId xmlns:a16="http://schemas.microsoft.com/office/drawing/2014/main" id="{DF00A3B5-CE52-448C-BC32-EC8F3D64A05B}"/>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Դասախոսի մասնակցությունը և ուսանողի մասնակցությունը տարբեր բիզնես փաստեր են</a:t>
            </a:r>
          </a:p>
        </p:txBody>
      </p:sp>
      <p:sp>
        <p:nvSpPr>
          <p:cNvPr id="8" name="">
            <a:extLst xmlns:a="http://schemas.openxmlformats.org/drawingml/2006/main">
              <a:ext uri="{FF2B5EF4-FFF2-40B4-BE49-F238E27FC236}">
                <a16:creationId xmlns:a16="http://schemas.microsoft.com/office/drawing/2014/main" id="{1719EF6E-A364-419E-A50E-6FC1E9D221DF}"/>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CCFDC89A-86C2-4D6F-BE49-EB6C875DFF8E}"/>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17</a:t>
            </a:r>
          </a:p>
        </p:txBody>
      </p:sp>
      <p:sp>
        <p:nvSpPr>
          <p:cNvPr id="10" name="">
            <a:extLst xmlns:a="http://schemas.openxmlformats.org/drawingml/2006/main">
              <a:ext uri="{FF2B5EF4-FFF2-40B4-BE49-F238E27FC236}">
                <a16:creationId xmlns:a16="http://schemas.microsoft.com/office/drawing/2014/main" id="{E366B469-4C93-4264-A63B-852E3D767ECA}"/>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19EDEECA-1980-41A2-907D-17279BF3271C}"/>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470E81D9-7599-45B0-B753-183D1BD07A5A}"/>
              </a:ext>
            </a:extLst>
          </p:cNvPr>
          <p:cNvSpPr>
            <a:spLocks xmlns:a="http://schemas.openxmlformats.org/drawingml/2006/main" noGrp="1"/>
          </p:cNvSpPr>
          <p:nvPr/>
        </p:nvSpPr>
        <p:spPr>
          <a:xfrm xmlns:a="http://schemas.openxmlformats.org/drawingml/2006/main">
            <a:off x="742950" y="2249043"/>
            <a:ext cx="3467100" cy="1656893"/>
          </a:xfrm>
          <a:prstGeom xmlns:a="http://schemas.openxmlformats.org/drawingml/2006/main" prst="roundRect">
            <a:avLst>
              <a:gd name="adj" fmla="val 10348"/>
            </a:avLst>
          </a:prstGeom>
          <a:solidFill xmlns:a="http://schemas.openxmlformats.org/drawingml/2006/main">
            <a:srgbClr val="F8FB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3F3D2C61-F0EF-4F34-9946-343A701F74AC}"/>
              </a:ext>
            </a:extLst>
          </p:cNvPr>
          <p:cNvSpPr>
            <a:spLocks xmlns:a="http://schemas.openxmlformats.org/drawingml/2006/main" noGrp="1"/>
          </p:cNvSpPr>
          <p:nvPr/>
        </p:nvSpPr>
        <p:spPr>
          <a:xfrm xmlns:a="http://schemas.openxmlformats.org/drawingml/2006/main">
            <a:off x="933450" y="24395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28E4E516-B335-4098-A728-CCFF943D99D6}"/>
              </a:ext>
            </a:extLst>
          </p:cNvPr>
          <p:cNvSpPr>
            <a:spLocks xmlns:a="http://schemas.openxmlformats.org/drawingml/2006/main" noGrp="1"/>
          </p:cNvSpPr>
          <p:nvPr/>
        </p:nvSpPr>
        <p:spPr>
          <a:xfrm xmlns:a="http://schemas.openxmlformats.org/drawingml/2006/main">
            <a:off x="1162050" y="2439543"/>
            <a:ext cx="2857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Catalog level</a:t>
            </a:r>
          </a:p>
        </p:txBody>
      </p:sp>
      <p:sp>
        <p:nvSpPr>
          <p:cNvPr id="15" name="">
            <a:extLst xmlns:a="http://schemas.openxmlformats.org/drawingml/2006/main">
              <a:ext uri="{FF2B5EF4-FFF2-40B4-BE49-F238E27FC236}">
                <a16:creationId xmlns:a16="http://schemas.microsoft.com/office/drawing/2014/main" id="{62C48476-6636-44A9-9381-C400A49AC242}"/>
              </a:ext>
            </a:extLst>
          </p:cNvPr>
          <p:cNvSpPr>
            <a:spLocks xmlns:a="http://schemas.openxmlformats.org/drawingml/2006/main" noGrp="1"/>
          </p:cNvSpPr>
          <p:nvPr/>
        </p:nvSpPr>
        <p:spPr>
          <a:xfrm xmlns:a="http://schemas.openxmlformats.org/drawingml/2006/main">
            <a:off x="933450" y="2800731"/>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subjects</a:t>
            </a:r>
          </a:p>
        </p:txBody>
      </p:sp>
      <p:sp>
        <p:nvSpPr>
          <p:cNvPr id="16" name="">
            <a:extLst xmlns:a="http://schemas.openxmlformats.org/drawingml/2006/main">
              <a:ext uri="{FF2B5EF4-FFF2-40B4-BE49-F238E27FC236}">
                <a16:creationId xmlns:a16="http://schemas.microsoft.com/office/drawing/2014/main" id="{961FA9F3-1185-4E39-8A72-69626B2841A3}"/>
              </a:ext>
            </a:extLst>
          </p:cNvPr>
          <p:cNvSpPr>
            <a:spLocks xmlns:a="http://schemas.openxmlformats.org/drawingml/2006/main" noGrp="1"/>
          </p:cNvSpPr>
          <p:nvPr/>
        </p:nvSpPr>
        <p:spPr>
          <a:xfrm xmlns:a="http://schemas.openxmlformats.org/drawingml/2006/main">
            <a:off x="4362450" y="2249043"/>
            <a:ext cx="3467100" cy="1656893"/>
          </a:xfrm>
          <a:prstGeom xmlns:a="http://schemas.openxmlformats.org/drawingml/2006/main" prst="roundRect">
            <a:avLst>
              <a:gd name="adj" fmla="val 10348"/>
            </a:avLst>
          </a:prstGeom>
          <a:solidFill xmlns:a="http://schemas.openxmlformats.org/drawingml/2006/main">
            <a:srgbClr val="F8FB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C9CB6B30-E0BB-4F16-A448-5E7854989BA5}"/>
              </a:ext>
            </a:extLst>
          </p:cNvPr>
          <p:cNvSpPr>
            <a:spLocks xmlns:a="http://schemas.openxmlformats.org/drawingml/2006/main" noGrp="1"/>
          </p:cNvSpPr>
          <p:nvPr/>
        </p:nvSpPr>
        <p:spPr>
          <a:xfrm xmlns:a="http://schemas.openxmlformats.org/drawingml/2006/main">
            <a:off x="4552950" y="2439543"/>
            <a:ext cx="133350" cy="133350"/>
          </a:xfrm>
          <a:prstGeom xmlns:a="http://schemas.openxmlformats.org/drawingml/2006/main" prst="ellipse">
            <a:avLst/>
          </a:prstGeom>
          <a:solidFill xmlns:a="http://schemas.openxmlformats.org/drawingml/2006/main">
            <a:srgbClr val="2F8F69"/>
          </a:solidFill>
        </p:spPr>
      </p:sp>
      <p:sp>
        <p:nvSpPr>
          <p:cNvPr id="18" name="">
            <a:extLst xmlns:a="http://schemas.openxmlformats.org/drawingml/2006/main">
              <a:ext uri="{FF2B5EF4-FFF2-40B4-BE49-F238E27FC236}">
                <a16:creationId xmlns:a16="http://schemas.microsoft.com/office/drawing/2014/main" id="{41B268E5-EB36-4DC9-BC7A-E04CF641A859}"/>
              </a:ext>
            </a:extLst>
          </p:cNvPr>
          <p:cNvSpPr>
            <a:spLocks xmlns:a="http://schemas.openxmlformats.org/drawingml/2006/main" noGrp="1"/>
          </p:cNvSpPr>
          <p:nvPr/>
        </p:nvSpPr>
        <p:spPr>
          <a:xfrm xmlns:a="http://schemas.openxmlformats.org/drawingml/2006/main">
            <a:off x="4781550" y="2439543"/>
            <a:ext cx="2857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Teaching level</a:t>
            </a:r>
          </a:p>
        </p:txBody>
      </p:sp>
      <p:sp>
        <p:nvSpPr>
          <p:cNvPr id="19" name="">
            <a:extLst xmlns:a="http://schemas.openxmlformats.org/drawingml/2006/main">
              <a:ext uri="{FF2B5EF4-FFF2-40B4-BE49-F238E27FC236}">
                <a16:creationId xmlns:a16="http://schemas.microsoft.com/office/drawing/2014/main" id="{D8F4126A-B1AE-4FD9-ABB0-3E34F1108E7D}"/>
              </a:ext>
            </a:extLst>
          </p:cNvPr>
          <p:cNvSpPr>
            <a:spLocks xmlns:a="http://schemas.openxmlformats.org/drawingml/2006/main" noGrp="1"/>
          </p:cNvSpPr>
          <p:nvPr/>
        </p:nvSpPr>
        <p:spPr>
          <a:xfrm xmlns:a="http://schemas.openxmlformats.org/drawingml/2006/main">
            <a:off x="4552950" y="2800731"/>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subject_group_offerings</a:t>
            </a:r>
          </a:p>
        </p:txBody>
      </p:sp>
      <p:sp>
        <p:nvSpPr>
          <p:cNvPr id="20" name="">
            <a:extLst xmlns:a="http://schemas.openxmlformats.org/drawingml/2006/main">
              <a:ext uri="{FF2B5EF4-FFF2-40B4-BE49-F238E27FC236}">
                <a16:creationId xmlns:a16="http://schemas.microsoft.com/office/drawing/2014/main" id="{6093671C-A705-42CB-892F-3001B0F119F0}"/>
              </a:ext>
            </a:extLst>
          </p:cNvPr>
          <p:cNvSpPr>
            <a:spLocks xmlns:a="http://schemas.openxmlformats.org/drawingml/2006/main" noGrp="1"/>
          </p:cNvSpPr>
          <p:nvPr/>
        </p:nvSpPr>
        <p:spPr>
          <a:xfrm xmlns:a="http://schemas.openxmlformats.org/drawingml/2006/main">
            <a:off x="4552950" y="3137383"/>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teacher_subject_assignments</a:t>
            </a:r>
          </a:p>
        </p:txBody>
      </p:sp>
      <p:sp>
        <p:nvSpPr>
          <p:cNvPr id="21" name="">
            <a:extLst xmlns:a="http://schemas.openxmlformats.org/drawingml/2006/main">
              <a:ext uri="{FF2B5EF4-FFF2-40B4-BE49-F238E27FC236}">
                <a16:creationId xmlns:a16="http://schemas.microsoft.com/office/drawing/2014/main" id="{749E9507-2110-4025-98D2-B663200D6D70}"/>
              </a:ext>
            </a:extLst>
          </p:cNvPr>
          <p:cNvSpPr>
            <a:spLocks xmlns:a="http://schemas.openxmlformats.org/drawingml/2006/main" noGrp="1"/>
          </p:cNvSpPr>
          <p:nvPr/>
        </p:nvSpPr>
        <p:spPr>
          <a:xfrm xmlns:a="http://schemas.openxmlformats.org/drawingml/2006/main">
            <a:off x="7981950" y="2249043"/>
            <a:ext cx="3467100" cy="1656893"/>
          </a:xfrm>
          <a:prstGeom xmlns:a="http://schemas.openxmlformats.org/drawingml/2006/main" prst="roundRect">
            <a:avLst>
              <a:gd name="adj" fmla="val 10348"/>
            </a:avLst>
          </a:prstGeom>
          <a:solidFill xmlns:a="http://schemas.openxmlformats.org/drawingml/2006/main">
            <a:srgbClr val="F8FBFF"/>
          </a:solidFill>
          <a:ln xmlns:a="http://schemas.openxmlformats.org/drawingml/2006/main" w="9525">
            <a:solidFill>
              <a:srgbClr val="DCE7F4"/>
            </a:solidFill>
            <a:prstDash val="solid"/>
          </a:ln>
        </p:spPr>
      </p:sp>
      <p:sp>
        <p:nvSpPr>
          <p:cNvPr id="22" name="">
            <a:extLst xmlns:a="http://schemas.openxmlformats.org/drawingml/2006/main">
              <a:ext uri="{FF2B5EF4-FFF2-40B4-BE49-F238E27FC236}">
                <a16:creationId xmlns:a16="http://schemas.microsoft.com/office/drawing/2014/main" id="{CBC827A0-6C4E-418A-9A43-6C073DEE09D6}"/>
              </a:ext>
            </a:extLst>
          </p:cNvPr>
          <p:cNvSpPr>
            <a:spLocks xmlns:a="http://schemas.openxmlformats.org/drawingml/2006/main" noGrp="1"/>
          </p:cNvSpPr>
          <p:nvPr/>
        </p:nvSpPr>
        <p:spPr>
          <a:xfrm xmlns:a="http://schemas.openxmlformats.org/drawingml/2006/main">
            <a:off x="8172450" y="2439543"/>
            <a:ext cx="133350" cy="133350"/>
          </a:xfrm>
          <a:prstGeom xmlns:a="http://schemas.openxmlformats.org/drawingml/2006/main" prst="ellipse">
            <a:avLst/>
          </a:prstGeom>
          <a:solidFill xmlns:a="http://schemas.openxmlformats.org/drawingml/2006/main">
            <a:srgbClr val="2F7CC0"/>
          </a:solidFill>
        </p:spPr>
      </p:sp>
      <p:sp>
        <p:nvSpPr>
          <p:cNvPr id="23" name="">
            <a:extLst xmlns:a="http://schemas.openxmlformats.org/drawingml/2006/main">
              <a:ext uri="{FF2B5EF4-FFF2-40B4-BE49-F238E27FC236}">
                <a16:creationId xmlns:a16="http://schemas.microsoft.com/office/drawing/2014/main" id="{B6FCAB08-78E9-497B-8E7E-187A96100E81}"/>
              </a:ext>
            </a:extLst>
          </p:cNvPr>
          <p:cNvSpPr>
            <a:spLocks xmlns:a="http://schemas.openxmlformats.org/drawingml/2006/main" noGrp="1"/>
          </p:cNvSpPr>
          <p:nvPr/>
        </p:nvSpPr>
        <p:spPr>
          <a:xfrm xmlns:a="http://schemas.openxmlformats.org/drawingml/2006/main">
            <a:off x="8401050" y="2439543"/>
            <a:ext cx="2857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Student/result level</a:t>
            </a:r>
          </a:p>
        </p:txBody>
      </p:sp>
      <p:sp>
        <p:nvSpPr>
          <p:cNvPr id="24" name="">
            <a:extLst xmlns:a="http://schemas.openxmlformats.org/drawingml/2006/main">
              <a:ext uri="{FF2B5EF4-FFF2-40B4-BE49-F238E27FC236}">
                <a16:creationId xmlns:a16="http://schemas.microsoft.com/office/drawing/2014/main" id="{D59CFFC7-9029-4AC2-A46F-64DF11D72F53}"/>
              </a:ext>
            </a:extLst>
          </p:cNvPr>
          <p:cNvSpPr>
            <a:spLocks xmlns:a="http://schemas.openxmlformats.org/drawingml/2006/main" noGrp="1"/>
          </p:cNvSpPr>
          <p:nvPr/>
        </p:nvSpPr>
        <p:spPr>
          <a:xfrm xmlns:a="http://schemas.openxmlformats.org/drawingml/2006/main">
            <a:off x="8172450" y="2800731"/>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student_subject_enrollments</a:t>
            </a:r>
          </a:p>
        </p:txBody>
      </p:sp>
      <p:sp>
        <p:nvSpPr>
          <p:cNvPr id="25" name="">
            <a:extLst xmlns:a="http://schemas.openxmlformats.org/drawingml/2006/main">
              <a:ext uri="{FF2B5EF4-FFF2-40B4-BE49-F238E27FC236}">
                <a16:creationId xmlns:a16="http://schemas.microsoft.com/office/drawing/2014/main" id="{9359F1D5-F4F3-4630-8927-F2D5535E4B64}"/>
              </a:ext>
            </a:extLst>
          </p:cNvPr>
          <p:cNvSpPr>
            <a:spLocks xmlns:a="http://schemas.openxmlformats.org/drawingml/2006/main" noGrp="1"/>
          </p:cNvSpPr>
          <p:nvPr/>
        </p:nvSpPr>
        <p:spPr>
          <a:xfrm xmlns:a="http://schemas.openxmlformats.org/drawingml/2006/main">
            <a:off x="8172450" y="3137383"/>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lab_assignments</a:t>
            </a:r>
          </a:p>
        </p:txBody>
      </p:sp>
      <p:sp>
        <p:nvSpPr>
          <p:cNvPr id="26" name="">
            <a:extLst xmlns:a="http://schemas.openxmlformats.org/drawingml/2006/main">
              <a:ext uri="{FF2B5EF4-FFF2-40B4-BE49-F238E27FC236}">
                <a16:creationId xmlns:a16="http://schemas.microsoft.com/office/drawing/2014/main" id="{C5D024F1-CB02-425C-8EE9-2DBA9068305E}"/>
              </a:ext>
            </a:extLst>
          </p:cNvPr>
          <p:cNvSpPr>
            <a:spLocks xmlns:a="http://schemas.openxmlformats.org/drawingml/2006/main" noGrp="1"/>
          </p:cNvSpPr>
          <p:nvPr/>
        </p:nvSpPr>
        <p:spPr>
          <a:xfrm xmlns:a="http://schemas.openxmlformats.org/drawingml/2006/main">
            <a:off x="8172450" y="3474034"/>
            <a:ext cx="3086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student_lab_results</a:t>
            </a:r>
          </a:p>
        </p:txBody>
      </p:sp>
      <p:sp>
        <p:nvSpPr>
          <p:cNvPr id="27" name="">
            <a:extLst xmlns:a="http://schemas.openxmlformats.org/drawingml/2006/main">
              <a:ext uri="{FF2B5EF4-FFF2-40B4-BE49-F238E27FC236}">
                <a16:creationId xmlns:a16="http://schemas.microsoft.com/office/drawing/2014/main" id="{26B03C57-E4A0-449C-AAF8-14A8FD21C832}"/>
              </a:ext>
            </a:extLst>
          </p:cNvPr>
          <p:cNvSpPr>
            <a:spLocks xmlns:a="http://schemas.openxmlformats.org/drawingml/2006/main" noGrp="1"/>
          </p:cNvSpPr>
          <p:nvPr/>
        </p:nvSpPr>
        <p:spPr>
          <a:xfrm xmlns:a="http://schemas.openxmlformats.org/drawingml/2006/main">
            <a:off x="742950" y="4077386"/>
            <a:ext cx="10706100" cy="1320241"/>
          </a:xfrm>
          <a:prstGeom xmlns:a="http://schemas.openxmlformats.org/drawingml/2006/main" prst="roundRect">
            <a:avLst>
              <a:gd name="adj" fmla="val 12986"/>
            </a:avLst>
          </a:prstGeom>
          <a:solidFill xmlns:a="http://schemas.openxmlformats.org/drawingml/2006/main">
            <a:srgbClr val="EDF5FF"/>
          </a:solidFill>
          <a:ln xmlns:a="http://schemas.openxmlformats.org/drawingml/2006/main" w="9525">
            <a:solidFill>
              <a:srgbClr val="DCE7F4"/>
            </a:solidFill>
            <a:prstDash val="solid"/>
          </a:ln>
        </p:spPr>
      </p:sp>
      <p:sp>
        <p:nvSpPr>
          <p:cNvPr id="28" name="">
            <a:extLst xmlns:a="http://schemas.openxmlformats.org/drawingml/2006/main">
              <a:ext uri="{FF2B5EF4-FFF2-40B4-BE49-F238E27FC236}">
                <a16:creationId xmlns:a16="http://schemas.microsoft.com/office/drawing/2014/main" id="{087022F9-F228-4D3D-B648-77F14D4F773B}"/>
              </a:ext>
            </a:extLst>
          </p:cNvPr>
          <p:cNvSpPr>
            <a:spLocks xmlns:a="http://schemas.openxmlformats.org/drawingml/2006/main" noGrp="1"/>
          </p:cNvSpPr>
          <p:nvPr/>
        </p:nvSpPr>
        <p:spPr>
          <a:xfrm xmlns:a="http://schemas.openxmlformats.org/drawingml/2006/main">
            <a:off x="933450" y="4267886"/>
            <a:ext cx="133350" cy="133350"/>
          </a:xfrm>
          <a:prstGeom xmlns:a="http://schemas.openxmlformats.org/drawingml/2006/main" prst="ellipse">
            <a:avLst/>
          </a:prstGeom>
          <a:solidFill xmlns:a="http://schemas.openxmlformats.org/drawingml/2006/main">
            <a:srgbClr val="0F4C81"/>
          </a:solidFill>
        </p:spPr>
      </p:sp>
      <p:sp>
        <p:nvSpPr>
          <p:cNvPr id="29" name="">
            <a:extLst xmlns:a="http://schemas.openxmlformats.org/drawingml/2006/main">
              <a:ext uri="{FF2B5EF4-FFF2-40B4-BE49-F238E27FC236}">
                <a16:creationId xmlns:a16="http://schemas.microsoft.com/office/drawing/2014/main" id="{4CD3EDFB-D5CD-41CA-A885-E2C6481B423E}"/>
              </a:ext>
            </a:extLst>
          </p:cNvPr>
          <p:cNvSpPr>
            <a:spLocks xmlns:a="http://schemas.openxmlformats.org/drawingml/2006/main" noGrp="1"/>
          </p:cNvSpPr>
          <p:nvPr/>
        </p:nvSpPr>
        <p:spPr>
          <a:xfrm xmlns:a="http://schemas.openxmlformats.org/drawingml/2006/main">
            <a:off x="1162050" y="4267886"/>
            <a:ext cx="1009650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Ինչու են այս մակարդակները տարանջատված</a:t>
            </a:r>
          </a:p>
        </p:txBody>
      </p:sp>
      <p:sp>
        <p:nvSpPr>
          <p:cNvPr id="30" name="">
            <a:extLst xmlns:a="http://schemas.openxmlformats.org/drawingml/2006/main">
              <a:ext uri="{FF2B5EF4-FFF2-40B4-BE49-F238E27FC236}">
                <a16:creationId xmlns:a16="http://schemas.microsoft.com/office/drawing/2014/main" id="{11F71A4F-BE58-4829-B1C6-D4E27610F8A6}"/>
              </a:ext>
            </a:extLst>
          </p:cNvPr>
          <p:cNvSpPr>
            <a:spLocks xmlns:a="http://schemas.openxmlformats.org/drawingml/2006/main" noGrp="1"/>
          </p:cNvSpPr>
          <p:nvPr/>
        </p:nvSpPr>
        <p:spPr>
          <a:xfrm xmlns:a="http://schemas.openxmlformats.org/drawingml/2006/main">
            <a:off x="933450" y="4629074"/>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Որովհետև «առարկա կա»-ն, «առարկան անցկացվում է»-ն և «ուսանողը կատարեց լաբորատորը»-ն նույն բիզնես փաստը չեն</a:t>
            </a:r>
          </a:p>
        </p:txBody>
      </p:sp>
      <p:sp>
        <p:nvSpPr>
          <p:cNvPr id="31" name="">
            <a:extLst xmlns:a="http://schemas.openxmlformats.org/drawingml/2006/main">
              <a:ext uri="{FF2B5EF4-FFF2-40B4-BE49-F238E27FC236}">
                <a16:creationId xmlns:a16="http://schemas.microsoft.com/office/drawing/2014/main" id="{707D6463-D5D3-4D62-A8C2-B31FE0D9D131}"/>
              </a:ext>
            </a:extLst>
          </p:cNvPr>
          <p:cNvSpPr>
            <a:spLocks xmlns:a="http://schemas.openxmlformats.org/drawingml/2006/main" noGrp="1"/>
          </p:cNvSpPr>
          <p:nvPr/>
        </p:nvSpPr>
        <p:spPr>
          <a:xfrm xmlns:a="http://schemas.openxmlformats.org/drawingml/2006/main">
            <a:off x="933450" y="4965725"/>
            <a:ext cx="1032510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Յուրաքանչյուր մակարդակ պահվում է իր առանձին աղյուսակում, որպեսզի մոդելը մաքուր և ճշգրիտ լինի</a:t>
            </a:r>
          </a:p>
        </p:txBody>
      </p:sp>
      <p:sp>
        <p:nvSpPr>
          <p:cNvPr id="32" name="">
            <a:extLst xmlns:a="http://schemas.openxmlformats.org/drawingml/2006/main">
              <a:ext uri="{FF2B5EF4-FFF2-40B4-BE49-F238E27FC236}">
                <a16:creationId xmlns:a16="http://schemas.microsoft.com/office/drawing/2014/main" id="{E01F2C13-15C5-409C-A643-52F15F687BC4}"/>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33" name="">
            <a:extLst xmlns:a="http://schemas.openxmlformats.org/drawingml/2006/main">
              <a:ext uri="{FF2B5EF4-FFF2-40B4-BE49-F238E27FC236}">
                <a16:creationId xmlns:a16="http://schemas.microsoft.com/office/drawing/2014/main" id="{88D8C0FC-EA97-4DE7-82B6-27BAECFCF5F7}"/>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17</a:t>
            </a:r>
          </a:p>
        </p:txBody>
      </p:sp>
    </p:spTree>
    <p:extLst>
      <p:ext uri="{BB962C8B-B14F-4D97-AF65-F5344CB8AC3E}">
        <p14:creationId xmlns:p14="http://schemas.microsoft.com/office/powerpoint/2010/main" val="8207189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CCD51B-5B95-435E-92CF-05B2B0AB87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9530D3A1-4400-40F8-92F7-095E167526E2}"/>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65FC3CAF-98DF-4DD9-A8A4-C705762113AE}"/>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AD3421BC-C7E6-4268-8063-C99817FEDB52}"/>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23CE249D-A195-49B1-8CB2-4F11354DB86F}"/>
              </a:ext>
            </a:extLst>
          </p:cNvPr>
          <p:cNvSpPr>
            <a:spLocks xmlns:a="http://schemas.openxmlformats.org/drawingml/2006/main" noGrp="1"/>
          </p:cNvSpPr>
          <p:nvPr/>
        </p:nvSpPr>
        <p:spPr>
          <a:xfrm xmlns:a="http://schemas.openxmlformats.org/drawingml/2006/main">
            <a:off x="819150" y="952500"/>
            <a:ext cx="894779"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Placeholder-ներ</a:t>
            </a:r>
          </a:p>
        </p:txBody>
      </p:sp>
      <p:sp>
        <p:nvSpPr>
          <p:cNvPr id="6" name="">
            <a:extLst xmlns:a="http://schemas.openxmlformats.org/drawingml/2006/main">
              <a:ext uri="{FF2B5EF4-FFF2-40B4-BE49-F238E27FC236}">
                <a16:creationId xmlns:a16="http://schemas.microsoft.com/office/drawing/2014/main" id="{8F9D3EC1-F641-4E84-9F4F-8DFC505A4F7E}"/>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Որտեղ ավելացնել screenshot-ներ և table-to-table դիագրամներ</a:t>
            </a:r>
          </a:p>
        </p:txBody>
      </p:sp>
      <p:sp>
        <p:nvSpPr>
          <p:cNvPr id="7" name="">
            <a:extLst xmlns:a="http://schemas.openxmlformats.org/drawingml/2006/main">
              <a:ext uri="{FF2B5EF4-FFF2-40B4-BE49-F238E27FC236}">
                <a16:creationId xmlns:a16="http://schemas.microsoft.com/office/drawing/2014/main" id="{AE3FE2B7-1884-4C97-9BBB-24302E15263C}"/>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Այս սլայդում նշված տեղերը կարելի է փոխարինել քո իրական schema screenshot-ներով</a:t>
            </a:r>
          </a:p>
        </p:txBody>
      </p:sp>
      <p:sp>
        <p:nvSpPr>
          <p:cNvPr id="8" name="">
            <a:extLst xmlns:a="http://schemas.openxmlformats.org/drawingml/2006/main">
              <a:ext uri="{FF2B5EF4-FFF2-40B4-BE49-F238E27FC236}">
                <a16:creationId xmlns:a16="http://schemas.microsoft.com/office/drawing/2014/main" id="{0FDC2EBE-29A1-4F14-BB4A-F1B071AFFA5A}"/>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AA80C89C-1551-49D4-AD93-382BB3EC766D}"/>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18</a:t>
            </a:r>
          </a:p>
        </p:txBody>
      </p:sp>
      <p:sp>
        <p:nvSpPr>
          <p:cNvPr id="10" name="">
            <a:extLst xmlns:a="http://schemas.openxmlformats.org/drawingml/2006/main">
              <a:ext uri="{FF2B5EF4-FFF2-40B4-BE49-F238E27FC236}">
                <a16:creationId xmlns:a16="http://schemas.microsoft.com/office/drawing/2014/main" id="{D193D941-25AD-4E94-A894-826BA0B22D9C}"/>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54729CD7-BC77-417D-B81C-3613D6A84602}"/>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36404A09-DAA7-4B9F-88BE-1735B81C85D9}"/>
              </a:ext>
            </a:extLst>
          </p:cNvPr>
          <p:cNvSpPr>
            <a:spLocks xmlns:a="http://schemas.openxmlformats.org/drawingml/2006/main" noGrp="1"/>
          </p:cNvSpPr>
          <p:nvPr/>
        </p:nvSpPr>
        <p:spPr>
          <a:xfrm xmlns:a="http://schemas.openxmlformats.org/drawingml/2006/main">
            <a:off x="742950" y="2249043"/>
            <a:ext cx="5267325" cy="2254758"/>
          </a:xfrm>
          <a:prstGeom xmlns:a="http://schemas.openxmlformats.org/drawingml/2006/main" prst="roundRect">
            <a:avLst>
              <a:gd name="adj" fmla="val 7604"/>
            </a:avLst>
          </a:prstGeom>
          <a:solidFill xmlns:a="http://schemas.openxmlformats.org/drawingml/2006/main">
            <a:srgbClr val="EDF5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DC80A1DE-73F6-4A50-9587-9794F8BD349D}"/>
              </a:ext>
            </a:extLst>
          </p:cNvPr>
          <p:cNvSpPr>
            <a:spLocks xmlns:a="http://schemas.openxmlformats.org/drawingml/2006/main" noGrp="1"/>
          </p:cNvSpPr>
          <p:nvPr/>
        </p:nvSpPr>
        <p:spPr>
          <a:xfrm xmlns:a="http://schemas.openxmlformats.org/drawingml/2006/main">
            <a:off x="933450" y="24395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58914C95-1A68-498E-9DF7-37ACB5BE3E73}"/>
              </a:ext>
            </a:extLst>
          </p:cNvPr>
          <p:cNvSpPr>
            <a:spLocks xmlns:a="http://schemas.openxmlformats.org/drawingml/2006/main" noGrp="1"/>
          </p:cNvSpPr>
          <p:nvPr/>
        </p:nvSpPr>
        <p:spPr>
          <a:xfrm xmlns:a="http://schemas.openxmlformats.org/drawingml/2006/main">
            <a:off x="1162050" y="2439543"/>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Առաջարկվող screenshot-ներ</a:t>
            </a:r>
          </a:p>
        </p:txBody>
      </p:sp>
      <p:sp>
        <p:nvSpPr>
          <p:cNvPr id="15" name="">
            <a:extLst xmlns:a="http://schemas.openxmlformats.org/drawingml/2006/main">
              <a:ext uri="{FF2B5EF4-FFF2-40B4-BE49-F238E27FC236}">
                <a16:creationId xmlns:a16="http://schemas.microsoft.com/office/drawing/2014/main" id="{E118A41E-EC32-4709-B247-B7FFE6776E7D}"/>
              </a:ext>
            </a:extLst>
          </p:cNvPr>
          <p:cNvSpPr>
            <a:spLocks xmlns:a="http://schemas.openxmlformats.org/drawingml/2006/main" noGrp="1"/>
          </p:cNvSpPr>
          <p:nvPr/>
        </p:nvSpPr>
        <p:spPr>
          <a:xfrm xmlns:a="http://schemas.openxmlformats.org/drawingml/2006/main">
            <a:off x="933450" y="2800731"/>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put user_accounts - admins/teachers/students</a:t>
            </a:r>
          </a:p>
        </p:txBody>
      </p:sp>
      <p:sp>
        <p:nvSpPr>
          <p:cNvPr id="16" name="">
            <a:extLst xmlns:a="http://schemas.openxmlformats.org/drawingml/2006/main">
              <a:ext uri="{FF2B5EF4-FFF2-40B4-BE49-F238E27FC236}">
                <a16:creationId xmlns:a16="http://schemas.microsoft.com/office/drawing/2014/main" id="{F869C554-0E7E-4FE7-8CAD-D3699E2271A8}"/>
              </a:ext>
            </a:extLst>
          </p:cNvPr>
          <p:cNvSpPr>
            <a:spLocks xmlns:a="http://schemas.openxmlformats.org/drawingml/2006/main" noGrp="1"/>
          </p:cNvSpPr>
          <p:nvPr/>
        </p:nvSpPr>
        <p:spPr>
          <a:xfrm xmlns:a="http://schemas.openxmlformats.org/drawingml/2006/main">
            <a:off x="933450" y="3122295"/>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put academic_units - specializations - academic_groups - lab_groups</a:t>
            </a:r>
          </a:p>
        </p:txBody>
      </p:sp>
      <p:sp>
        <p:nvSpPr>
          <p:cNvPr id="17" name="">
            <a:extLst xmlns:a="http://schemas.openxmlformats.org/drawingml/2006/main">
              <a:ext uri="{FF2B5EF4-FFF2-40B4-BE49-F238E27FC236}">
                <a16:creationId xmlns:a16="http://schemas.microsoft.com/office/drawing/2014/main" id="{94E918B6-D6D9-4D8F-B475-59E54EFF840C}"/>
              </a:ext>
            </a:extLst>
          </p:cNvPr>
          <p:cNvSpPr>
            <a:spLocks xmlns:a="http://schemas.openxmlformats.org/drawingml/2006/main" noGrp="1"/>
          </p:cNvSpPr>
          <p:nvPr/>
        </p:nvSpPr>
        <p:spPr>
          <a:xfrm xmlns:a="http://schemas.openxmlformats.org/drawingml/2006/main">
            <a:off x="933450" y="3443859"/>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put subjects - subject_group_offerings</a:t>
            </a:r>
          </a:p>
        </p:txBody>
      </p:sp>
      <p:sp>
        <p:nvSpPr>
          <p:cNvPr id="18" name="">
            <a:extLst xmlns:a="http://schemas.openxmlformats.org/drawingml/2006/main">
              <a:ext uri="{FF2B5EF4-FFF2-40B4-BE49-F238E27FC236}">
                <a16:creationId xmlns:a16="http://schemas.microsoft.com/office/drawing/2014/main" id="{9A16B985-2ECF-403F-AEDF-4AD376C1DEFC}"/>
              </a:ext>
            </a:extLst>
          </p:cNvPr>
          <p:cNvSpPr>
            <a:spLocks xmlns:a="http://schemas.openxmlformats.org/drawingml/2006/main" noGrp="1"/>
          </p:cNvSpPr>
          <p:nvPr/>
        </p:nvSpPr>
        <p:spPr>
          <a:xfrm xmlns:a="http://schemas.openxmlformats.org/drawingml/2006/main">
            <a:off x="933450" y="3765423"/>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put teacher_subject_assignments - lab_groups</a:t>
            </a:r>
          </a:p>
        </p:txBody>
      </p:sp>
      <p:sp>
        <p:nvSpPr>
          <p:cNvPr id="19" name="">
            <a:extLst xmlns:a="http://schemas.openxmlformats.org/drawingml/2006/main">
              <a:ext uri="{FF2B5EF4-FFF2-40B4-BE49-F238E27FC236}">
                <a16:creationId xmlns:a16="http://schemas.microsoft.com/office/drawing/2014/main" id="{5A13194D-9C15-4579-B043-C208EF5446CF}"/>
              </a:ext>
            </a:extLst>
          </p:cNvPr>
          <p:cNvSpPr>
            <a:spLocks xmlns:a="http://schemas.openxmlformats.org/drawingml/2006/main" noGrp="1"/>
          </p:cNvSpPr>
          <p:nvPr/>
        </p:nvSpPr>
        <p:spPr>
          <a:xfrm xmlns:a="http://schemas.openxmlformats.org/drawingml/2006/main">
            <a:off x="933450" y="4086987"/>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put student_subject_enrollments - student_lab_results - lab_assignments</a:t>
            </a:r>
          </a:p>
        </p:txBody>
      </p:sp>
      <p:sp>
        <p:nvSpPr>
          <p:cNvPr id="20" name="">
            <a:extLst xmlns:a="http://schemas.openxmlformats.org/drawingml/2006/main">
              <a:ext uri="{FF2B5EF4-FFF2-40B4-BE49-F238E27FC236}">
                <a16:creationId xmlns:a16="http://schemas.microsoft.com/office/drawing/2014/main" id="{3B5E1C6D-5221-4687-A15A-4F5FEA2BF51C}"/>
              </a:ext>
            </a:extLst>
          </p:cNvPr>
          <p:cNvSpPr>
            <a:spLocks xmlns:a="http://schemas.openxmlformats.org/drawingml/2006/main" noGrp="1"/>
          </p:cNvSpPr>
          <p:nvPr/>
        </p:nvSpPr>
        <p:spPr>
          <a:xfrm xmlns:a="http://schemas.openxmlformats.org/drawingml/2006/main">
            <a:off x="6181725" y="2249043"/>
            <a:ext cx="5267325" cy="2254758"/>
          </a:xfrm>
          <a:prstGeom xmlns:a="http://schemas.openxmlformats.org/drawingml/2006/main" prst="roundRect">
            <a:avLst>
              <a:gd name="adj" fmla="val 7604"/>
            </a:avLst>
          </a:prstGeom>
          <a:solidFill xmlns:a="http://schemas.openxmlformats.org/drawingml/2006/main">
            <a:srgbClr val="F8FB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DDFBB8D4-6FCF-46CC-8749-2490F693D3C9}"/>
              </a:ext>
            </a:extLst>
          </p:cNvPr>
          <p:cNvSpPr>
            <a:spLocks xmlns:a="http://schemas.openxmlformats.org/drawingml/2006/main" noGrp="1"/>
          </p:cNvSpPr>
          <p:nvPr/>
        </p:nvSpPr>
        <p:spPr>
          <a:xfrm xmlns:a="http://schemas.openxmlformats.org/drawingml/2006/main">
            <a:off x="6372225" y="2439543"/>
            <a:ext cx="133350" cy="133350"/>
          </a:xfrm>
          <a:prstGeom xmlns:a="http://schemas.openxmlformats.org/drawingml/2006/main" prst="ellipse">
            <a:avLst/>
          </a:prstGeom>
          <a:solidFill xmlns:a="http://schemas.openxmlformats.org/drawingml/2006/main">
            <a:srgbClr val="2F8F69"/>
          </a:solidFill>
        </p:spPr>
      </p:sp>
      <p:sp>
        <p:nvSpPr>
          <p:cNvPr id="22" name="">
            <a:extLst xmlns:a="http://schemas.openxmlformats.org/drawingml/2006/main">
              <a:ext uri="{FF2B5EF4-FFF2-40B4-BE49-F238E27FC236}">
                <a16:creationId xmlns:a16="http://schemas.microsoft.com/office/drawing/2014/main" id="{732D23AD-C6BD-4203-8141-3D445531C9DC}"/>
              </a:ext>
            </a:extLst>
          </p:cNvPr>
          <p:cNvSpPr>
            <a:spLocks xmlns:a="http://schemas.openxmlformats.org/drawingml/2006/main" noGrp="1"/>
          </p:cNvSpPr>
          <p:nvPr/>
        </p:nvSpPr>
        <p:spPr>
          <a:xfrm xmlns:a="http://schemas.openxmlformats.org/drawingml/2006/main">
            <a:off x="6600825" y="2439543"/>
            <a:ext cx="4657725"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Ինչի համար են պետք</a:t>
            </a:r>
          </a:p>
        </p:txBody>
      </p:sp>
      <p:sp>
        <p:nvSpPr>
          <p:cNvPr id="23" name="">
            <a:extLst xmlns:a="http://schemas.openxmlformats.org/drawingml/2006/main">
              <a:ext uri="{FF2B5EF4-FFF2-40B4-BE49-F238E27FC236}">
                <a16:creationId xmlns:a16="http://schemas.microsoft.com/office/drawing/2014/main" id="{18DC559B-F6EB-4254-A200-2A76C4BABDEB}"/>
              </a:ext>
            </a:extLst>
          </p:cNvPr>
          <p:cNvSpPr>
            <a:spLocks xmlns:a="http://schemas.openxmlformats.org/drawingml/2006/main" noGrp="1"/>
          </p:cNvSpPr>
          <p:nvPr/>
        </p:nvSpPr>
        <p:spPr>
          <a:xfrm xmlns:a="http://schemas.openxmlformats.org/drawingml/2006/main">
            <a:off x="6372225" y="2800731"/>
            <a:ext cx="4886325" cy="22631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Որպեսզի դու ներկայացման մեջ ցույց տաս հենց իրական schema-ն</a:t>
            </a:r>
          </a:p>
        </p:txBody>
      </p:sp>
      <p:sp>
        <p:nvSpPr>
          <p:cNvPr id="24" name="">
            <a:extLst xmlns:a="http://schemas.openxmlformats.org/drawingml/2006/main">
              <a:ext uri="{FF2B5EF4-FFF2-40B4-BE49-F238E27FC236}">
                <a16:creationId xmlns:a16="http://schemas.microsoft.com/office/drawing/2014/main" id="{6E724693-9ADC-4FAB-ACD8-97FDC93BE326}"/>
              </a:ext>
            </a:extLst>
          </p:cNvPr>
          <p:cNvSpPr>
            <a:spLocks xmlns:a="http://schemas.openxmlformats.org/drawingml/2006/main" noGrp="1"/>
          </p:cNvSpPr>
          <p:nvPr/>
        </p:nvSpPr>
        <p:spPr>
          <a:xfrm xmlns:a="http://schemas.openxmlformats.org/drawingml/2006/main">
            <a:off x="6372225" y="3122295"/>
            <a:ext cx="4886325" cy="45262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16324D"/>
                </a:solidFill>
                <a:latin typeface="Arian AMU"/>
                <a:ea typeface="Arian AMU"/>
                <a:cs typeface="Arian AMU"/>
              </a:defRPr>
            </a:pPr>
            <a:r>
              <a:t>• Եվ բանավոր բացատրես ոչ թե տեխնիկական constraints-ը, այլ տվյալ կապի բիզնես իմաստը</a:t>
            </a:r>
          </a:p>
        </p:txBody>
      </p:sp>
      <p:sp>
        <p:nvSpPr>
          <p:cNvPr id="25" name="">
            <a:extLst xmlns:a="http://schemas.openxmlformats.org/drawingml/2006/main">
              <a:ext uri="{FF2B5EF4-FFF2-40B4-BE49-F238E27FC236}">
                <a16:creationId xmlns:a16="http://schemas.microsoft.com/office/drawing/2014/main" id="{00B207C4-AA78-492C-82F2-4A794188ACB4}"/>
              </a:ext>
            </a:extLst>
          </p:cNvPr>
          <p:cNvSpPr>
            <a:spLocks xmlns:a="http://schemas.openxmlformats.org/drawingml/2006/main" noGrp="1"/>
          </p:cNvSpPr>
          <p:nvPr/>
        </p:nvSpPr>
        <p:spPr>
          <a:xfrm xmlns:a="http://schemas.openxmlformats.org/drawingml/2006/main">
            <a:off x="742950" y="5950458"/>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26" name="">
            <a:extLst xmlns:a="http://schemas.openxmlformats.org/drawingml/2006/main">
              <a:ext uri="{FF2B5EF4-FFF2-40B4-BE49-F238E27FC236}">
                <a16:creationId xmlns:a16="http://schemas.microsoft.com/office/drawing/2014/main" id="{86AA4E68-5AC7-4313-99FC-B6E7E2CAB65A}"/>
              </a:ext>
            </a:extLst>
          </p:cNvPr>
          <p:cNvSpPr>
            <a:spLocks xmlns:a="http://schemas.openxmlformats.org/drawingml/2006/main" noGrp="1"/>
          </p:cNvSpPr>
          <p:nvPr/>
        </p:nvSpPr>
        <p:spPr>
          <a:xfrm xmlns:a="http://schemas.openxmlformats.org/drawingml/2006/main">
            <a:off x="10306050" y="5950458"/>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18</a:t>
            </a:r>
          </a:p>
        </p:txBody>
      </p:sp>
    </p:spTree>
    <p:extLst>
      <p:ext uri="{BB962C8B-B14F-4D97-AF65-F5344CB8AC3E}">
        <p14:creationId xmlns:p14="http://schemas.microsoft.com/office/powerpoint/2010/main" val="35690584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E68CC5-7333-46DF-A75D-001A357C1C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B7EFD33E-0DEC-45FF-ADDC-4C3D9BFB0026}"/>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29B42998-81BD-469D-9936-038D95D42E16}"/>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96D78EE1-1717-4A9A-91D4-00848CE53BFE}"/>
              </a:ext>
            </a:extLst>
          </p:cNvPr>
          <p:cNvSpPr>
            <a:spLocks xmlns:a="http://schemas.openxmlformats.org/drawingml/2006/main" noGrp="1"/>
          </p:cNvSpPr>
          <p:nvPr/>
        </p:nvSpPr>
        <p:spPr>
          <a:xfrm xmlns:a="http://schemas.openxmlformats.org/drawingml/2006/main">
            <a:off x="742950" y="876300"/>
            <a:ext cx="1428750" cy="781812"/>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CD26F629-9B25-4425-9868-9A4D77443554}"/>
              </a:ext>
            </a:extLst>
          </p:cNvPr>
          <p:cNvSpPr>
            <a:spLocks xmlns:a="http://schemas.openxmlformats.org/drawingml/2006/main" noGrp="1"/>
          </p:cNvSpPr>
          <p:nvPr/>
        </p:nvSpPr>
        <p:spPr>
          <a:xfrm xmlns:a="http://schemas.openxmlformats.org/drawingml/2006/main">
            <a:off x="819150" y="952500"/>
            <a:ext cx="596360" cy="27432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Կանոններ</a:t>
            </a:r>
          </a:p>
        </p:txBody>
      </p:sp>
      <p:sp>
        <p:nvSpPr>
          <p:cNvPr id="6" name="">
            <a:extLst xmlns:a="http://schemas.openxmlformats.org/drawingml/2006/main">
              <a:ext uri="{FF2B5EF4-FFF2-40B4-BE49-F238E27FC236}">
                <a16:creationId xmlns:a16="http://schemas.microsoft.com/office/drawing/2014/main" id="{49F25FF2-3D4E-442C-A11C-8B9D7A8D7B9E}"/>
              </a:ext>
            </a:extLst>
          </p:cNvPr>
          <p:cNvSpPr>
            <a:spLocks xmlns:a="http://schemas.openxmlformats.org/drawingml/2006/main" noGrp="1"/>
          </p:cNvSpPr>
          <p:nvPr/>
        </p:nvSpPr>
        <p:spPr>
          <a:xfrm xmlns:a="http://schemas.openxmlformats.org/drawingml/2006/main">
            <a:off x="2286000" y="876300"/>
            <a:ext cx="7524750" cy="78181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Հիմնական բիզնես կանոնները կառուցվածքի մակարդակում</a:t>
            </a:r>
          </a:p>
        </p:txBody>
      </p:sp>
      <p:sp>
        <p:nvSpPr>
          <p:cNvPr id="7" name="">
            <a:extLst xmlns:a="http://schemas.openxmlformats.org/drawingml/2006/main">
              <a:ext uri="{FF2B5EF4-FFF2-40B4-BE49-F238E27FC236}">
                <a16:creationId xmlns:a16="http://schemas.microsoft.com/office/drawing/2014/main" id="{74C60C24-A2EC-4CB5-8EE2-ECED7401BC91}"/>
              </a:ext>
            </a:extLst>
          </p:cNvPr>
          <p:cNvSpPr>
            <a:spLocks xmlns:a="http://schemas.openxmlformats.org/drawingml/2006/main" noGrp="1"/>
          </p:cNvSpPr>
          <p:nvPr/>
        </p:nvSpPr>
        <p:spPr>
          <a:xfrm xmlns:a="http://schemas.openxmlformats.org/drawingml/2006/main">
            <a:off x="742950" y="1734312"/>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Մոդելի իմաստը հենց այն է, որ այն նկարագրում է իրական ուսումնական կազմակերպումը</a:t>
            </a:r>
          </a:p>
        </p:txBody>
      </p:sp>
      <p:sp>
        <p:nvSpPr>
          <p:cNvPr id="8" name="">
            <a:extLst xmlns:a="http://schemas.openxmlformats.org/drawingml/2006/main">
              <a:ext uri="{FF2B5EF4-FFF2-40B4-BE49-F238E27FC236}">
                <a16:creationId xmlns:a16="http://schemas.microsoft.com/office/drawing/2014/main" id="{1D819A73-B5E4-4206-A7AA-7A71B7A37203}"/>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D23D0229-6847-48A5-AFC7-3CE4ACA6E125}"/>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19</a:t>
            </a:r>
          </a:p>
        </p:txBody>
      </p:sp>
      <p:sp>
        <p:nvSpPr>
          <p:cNvPr id="10" name="">
            <a:extLst xmlns:a="http://schemas.openxmlformats.org/drawingml/2006/main">
              <a:ext uri="{FF2B5EF4-FFF2-40B4-BE49-F238E27FC236}">
                <a16:creationId xmlns:a16="http://schemas.microsoft.com/office/drawing/2014/main" id="{A38554A2-BAFE-4185-8E70-713DE75941CB}"/>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542C421A-8ED1-4109-B5CE-9C34E56CE3E0}"/>
              </a:ext>
            </a:extLst>
          </p:cNvPr>
          <p:cNvSpPr>
            <a:spLocks xmlns:a="http://schemas.openxmlformats.org/drawingml/2006/main" noGrp="1"/>
          </p:cNvSpPr>
          <p:nvPr/>
        </p:nvSpPr>
        <p:spPr>
          <a:xfrm xmlns:a="http://schemas.openxmlformats.org/drawingml/2006/main">
            <a:off x="742950" y="2068068"/>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7512CC6B-06AD-4094-B481-210FDF5B43A0}"/>
              </a:ext>
            </a:extLst>
          </p:cNvPr>
          <p:cNvSpPr>
            <a:spLocks xmlns:a="http://schemas.openxmlformats.org/drawingml/2006/main" noGrp="1"/>
          </p:cNvSpPr>
          <p:nvPr/>
        </p:nvSpPr>
        <p:spPr>
          <a:xfrm xmlns:a="http://schemas.openxmlformats.org/drawingml/2006/main">
            <a:off x="742950" y="2249043"/>
            <a:ext cx="5276850" cy="1224991"/>
          </a:xfrm>
          <a:prstGeom xmlns:a="http://schemas.openxmlformats.org/drawingml/2006/main" prst="roundRect">
            <a:avLst>
              <a:gd name="adj" fmla="val 13996"/>
            </a:avLst>
          </a:prstGeom>
          <a:solidFill xmlns:a="http://schemas.openxmlformats.org/drawingml/2006/main">
            <a:srgbClr val="F8FBFF"/>
          </a:solidFill>
          <a:ln xmlns:a="http://schemas.openxmlformats.org/drawingml/2006/main" w="9525">
            <a:solidFill>
              <a:srgbClr val="DCE7F4"/>
            </a:solidFill>
            <a:prstDash val="solid"/>
          </a:ln>
        </p:spPr>
      </p:sp>
      <p:sp>
        <p:nvSpPr>
          <p:cNvPr id="13" name="">
            <a:extLst xmlns:a="http://schemas.openxmlformats.org/drawingml/2006/main">
              <a:ext uri="{FF2B5EF4-FFF2-40B4-BE49-F238E27FC236}">
                <a16:creationId xmlns:a16="http://schemas.microsoft.com/office/drawing/2014/main" id="{6218762B-6A58-4A24-AE51-54A16E288B76}"/>
              </a:ext>
            </a:extLst>
          </p:cNvPr>
          <p:cNvSpPr>
            <a:spLocks xmlns:a="http://schemas.openxmlformats.org/drawingml/2006/main" noGrp="1"/>
          </p:cNvSpPr>
          <p:nvPr/>
        </p:nvSpPr>
        <p:spPr>
          <a:xfrm xmlns:a="http://schemas.openxmlformats.org/drawingml/2006/main">
            <a:off x="933450" y="2439543"/>
            <a:ext cx="133350" cy="133350"/>
          </a:xfrm>
          <a:prstGeom xmlns:a="http://schemas.openxmlformats.org/drawingml/2006/main" prst="ellipse">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1FDC6C28-5F40-476D-B724-3D0888CA3CC3}"/>
              </a:ext>
            </a:extLst>
          </p:cNvPr>
          <p:cNvSpPr>
            <a:spLocks xmlns:a="http://schemas.openxmlformats.org/drawingml/2006/main" noGrp="1"/>
          </p:cNvSpPr>
          <p:nvPr/>
        </p:nvSpPr>
        <p:spPr>
          <a:xfrm xmlns:a="http://schemas.openxmlformats.org/drawingml/2006/main">
            <a:off x="1162050" y="2439543"/>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Հիմնական կանոն 1</a:t>
            </a:r>
          </a:p>
        </p:txBody>
      </p:sp>
      <p:sp>
        <p:nvSpPr>
          <p:cNvPr id="15" name="">
            <a:extLst xmlns:a="http://schemas.openxmlformats.org/drawingml/2006/main">
              <a:ext uri="{FF2B5EF4-FFF2-40B4-BE49-F238E27FC236}">
                <a16:creationId xmlns:a16="http://schemas.microsoft.com/office/drawing/2014/main" id="{9755D5BE-F3A2-4B23-985B-2DE1437B4499}"/>
              </a:ext>
            </a:extLst>
          </p:cNvPr>
          <p:cNvSpPr>
            <a:spLocks xmlns:a="http://schemas.openxmlformats.org/drawingml/2006/main" noGrp="1"/>
          </p:cNvSpPr>
          <p:nvPr/>
        </p:nvSpPr>
        <p:spPr>
          <a:xfrm xmlns:a="http://schemas.openxmlformats.org/drawingml/2006/main">
            <a:off x="933450" y="2800731"/>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Յուրաքանչյուր մարդ նախ ունի հաշիվ, հետո միայն դառնում է ադմին, դասախոս կամ ուսանող</a:t>
            </a:r>
          </a:p>
        </p:txBody>
      </p:sp>
      <p:sp>
        <p:nvSpPr>
          <p:cNvPr id="16" name="">
            <a:extLst xmlns:a="http://schemas.openxmlformats.org/drawingml/2006/main">
              <a:ext uri="{FF2B5EF4-FFF2-40B4-BE49-F238E27FC236}">
                <a16:creationId xmlns:a16="http://schemas.microsoft.com/office/drawing/2014/main" id="{28827C42-D947-4829-B4B8-E0DC313FFC7A}"/>
              </a:ext>
            </a:extLst>
          </p:cNvPr>
          <p:cNvSpPr>
            <a:spLocks xmlns:a="http://schemas.openxmlformats.org/drawingml/2006/main" noGrp="1"/>
          </p:cNvSpPr>
          <p:nvPr/>
        </p:nvSpPr>
        <p:spPr>
          <a:xfrm xmlns:a="http://schemas.openxmlformats.org/drawingml/2006/main">
            <a:off x="6172200" y="2249043"/>
            <a:ext cx="5276850" cy="1224991"/>
          </a:xfrm>
          <a:prstGeom xmlns:a="http://schemas.openxmlformats.org/drawingml/2006/main" prst="roundRect">
            <a:avLst>
              <a:gd name="adj" fmla="val 13996"/>
            </a:avLst>
          </a:prstGeom>
          <a:solidFill xmlns:a="http://schemas.openxmlformats.org/drawingml/2006/main">
            <a:srgbClr val="F8FBFF"/>
          </a:solidFill>
          <a:ln xmlns:a="http://schemas.openxmlformats.org/drawingml/2006/main" w="9525">
            <a:solidFill>
              <a:srgbClr val="DCE7F4"/>
            </a:solidFill>
            <a:prstDash val="solid"/>
          </a:ln>
        </p:spPr>
      </p:sp>
      <p:sp>
        <p:nvSpPr>
          <p:cNvPr id="17" name="">
            <a:extLst xmlns:a="http://schemas.openxmlformats.org/drawingml/2006/main">
              <a:ext uri="{FF2B5EF4-FFF2-40B4-BE49-F238E27FC236}">
                <a16:creationId xmlns:a16="http://schemas.microsoft.com/office/drawing/2014/main" id="{C0A36C1C-8A13-4336-A155-A0F800D7BACF}"/>
              </a:ext>
            </a:extLst>
          </p:cNvPr>
          <p:cNvSpPr>
            <a:spLocks xmlns:a="http://schemas.openxmlformats.org/drawingml/2006/main" noGrp="1"/>
          </p:cNvSpPr>
          <p:nvPr/>
        </p:nvSpPr>
        <p:spPr>
          <a:xfrm xmlns:a="http://schemas.openxmlformats.org/drawingml/2006/main">
            <a:off x="6362700" y="2439543"/>
            <a:ext cx="133350" cy="133350"/>
          </a:xfrm>
          <a:prstGeom xmlns:a="http://schemas.openxmlformats.org/drawingml/2006/main" prst="ellipse">
            <a:avLst/>
          </a:prstGeom>
          <a:solidFill xmlns:a="http://schemas.openxmlformats.org/drawingml/2006/main">
            <a:srgbClr val="2F8F69"/>
          </a:solidFill>
        </p:spPr>
      </p:sp>
      <p:sp>
        <p:nvSpPr>
          <p:cNvPr id="18" name="">
            <a:extLst xmlns:a="http://schemas.openxmlformats.org/drawingml/2006/main">
              <a:ext uri="{FF2B5EF4-FFF2-40B4-BE49-F238E27FC236}">
                <a16:creationId xmlns:a16="http://schemas.microsoft.com/office/drawing/2014/main" id="{62619059-8817-41AD-81F1-8C34FDB3C23A}"/>
              </a:ext>
            </a:extLst>
          </p:cNvPr>
          <p:cNvSpPr>
            <a:spLocks xmlns:a="http://schemas.openxmlformats.org/drawingml/2006/main" noGrp="1"/>
          </p:cNvSpPr>
          <p:nvPr/>
        </p:nvSpPr>
        <p:spPr>
          <a:xfrm xmlns:a="http://schemas.openxmlformats.org/drawingml/2006/main">
            <a:off x="6591300" y="2439543"/>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Հիմնական կանոն 2</a:t>
            </a:r>
          </a:p>
        </p:txBody>
      </p:sp>
      <p:sp>
        <p:nvSpPr>
          <p:cNvPr id="19" name="">
            <a:extLst xmlns:a="http://schemas.openxmlformats.org/drawingml/2006/main">
              <a:ext uri="{FF2B5EF4-FFF2-40B4-BE49-F238E27FC236}">
                <a16:creationId xmlns:a16="http://schemas.microsoft.com/office/drawing/2014/main" id="{D6CBFD28-CD8B-404D-BA9D-A184961DC434}"/>
              </a:ext>
            </a:extLst>
          </p:cNvPr>
          <p:cNvSpPr>
            <a:spLocks xmlns:a="http://schemas.openxmlformats.org/drawingml/2006/main" noGrp="1"/>
          </p:cNvSpPr>
          <p:nvPr/>
        </p:nvSpPr>
        <p:spPr>
          <a:xfrm xmlns:a="http://schemas.openxmlformats.org/drawingml/2006/main">
            <a:off x="6362700" y="2800731"/>
            <a:ext cx="4895850" cy="24140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Academic group-ը կարող է բաժանվել մի քանի lab group-ների</a:t>
            </a:r>
          </a:p>
        </p:txBody>
      </p:sp>
      <p:sp>
        <p:nvSpPr>
          <p:cNvPr id="20" name="">
            <a:extLst xmlns:a="http://schemas.openxmlformats.org/drawingml/2006/main">
              <a:ext uri="{FF2B5EF4-FFF2-40B4-BE49-F238E27FC236}">
                <a16:creationId xmlns:a16="http://schemas.microsoft.com/office/drawing/2014/main" id="{03D50772-4C8E-498E-8440-1F23350C6033}"/>
              </a:ext>
            </a:extLst>
          </p:cNvPr>
          <p:cNvSpPr>
            <a:spLocks xmlns:a="http://schemas.openxmlformats.org/drawingml/2006/main" noGrp="1"/>
          </p:cNvSpPr>
          <p:nvPr/>
        </p:nvSpPr>
        <p:spPr>
          <a:xfrm xmlns:a="http://schemas.openxmlformats.org/drawingml/2006/main">
            <a:off x="742950" y="3474034"/>
            <a:ext cx="5276850" cy="1224991"/>
          </a:xfrm>
          <a:prstGeom xmlns:a="http://schemas.openxmlformats.org/drawingml/2006/main" prst="roundRect">
            <a:avLst>
              <a:gd name="adj" fmla="val 13996"/>
            </a:avLst>
          </a:prstGeom>
          <a:solidFill xmlns:a="http://schemas.openxmlformats.org/drawingml/2006/main">
            <a:srgbClr val="F8FBFF"/>
          </a:solidFill>
          <a:ln xmlns:a="http://schemas.openxmlformats.org/drawingml/2006/main" w="9525">
            <a:solidFill>
              <a:srgbClr val="DCE7F4"/>
            </a:solidFill>
            <a:prstDash val="solid"/>
          </a:ln>
        </p:spPr>
      </p:sp>
      <p:sp>
        <p:nvSpPr>
          <p:cNvPr id="21" name="">
            <a:extLst xmlns:a="http://schemas.openxmlformats.org/drawingml/2006/main">
              <a:ext uri="{FF2B5EF4-FFF2-40B4-BE49-F238E27FC236}">
                <a16:creationId xmlns:a16="http://schemas.microsoft.com/office/drawing/2014/main" id="{ED7B05E0-4196-48A9-8AF9-A9126B250703}"/>
              </a:ext>
            </a:extLst>
          </p:cNvPr>
          <p:cNvSpPr>
            <a:spLocks xmlns:a="http://schemas.openxmlformats.org/drawingml/2006/main" noGrp="1"/>
          </p:cNvSpPr>
          <p:nvPr/>
        </p:nvSpPr>
        <p:spPr>
          <a:xfrm xmlns:a="http://schemas.openxmlformats.org/drawingml/2006/main">
            <a:off x="933450" y="3664534"/>
            <a:ext cx="133350" cy="133350"/>
          </a:xfrm>
          <a:prstGeom xmlns:a="http://schemas.openxmlformats.org/drawingml/2006/main" prst="ellipse">
            <a:avLst/>
          </a:prstGeom>
          <a:solidFill xmlns:a="http://schemas.openxmlformats.org/drawingml/2006/main">
            <a:srgbClr val="2F7CC0"/>
          </a:solidFill>
        </p:spPr>
      </p:sp>
      <p:sp>
        <p:nvSpPr>
          <p:cNvPr id="22" name="">
            <a:extLst xmlns:a="http://schemas.openxmlformats.org/drawingml/2006/main">
              <a:ext uri="{FF2B5EF4-FFF2-40B4-BE49-F238E27FC236}">
                <a16:creationId xmlns:a16="http://schemas.microsoft.com/office/drawing/2014/main" id="{C9362F86-23AA-415F-8E64-731EC49AE28D}"/>
              </a:ext>
            </a:extLst>
          </p:cNvPr>
          <p:cNvSpPr>
            <a:spLocks xmlns:a="http://schemas.openxmlformats.org/drawingml/2006/main" noGrp="1"/>
          </p:cNvSpPr>
          <p:nvPr/>
        </p:nvSpPr>
        <p:spPr>
          <a:xfrm xmlns:a="http://schemas.openxmlformats.org/drawingml/2006/main">
            <a:off x="1162050" y="366453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Հիմնական կանոն 3</a:t>
            </a:r>
          </a:p>
        </p:txBody>
      </p:sp>
      <p:sp>
        <p:nvSpPr>
          <p:cNvPr id="23" name="">
            <a:extLst xmlns:a="http://schemas.openxmlformats.org/drawingml/2006/main">
              <a:ext uri="{FF2B5EF4-FFF2-40B4-BE49-F238E27FC236}">
                <a16:creationId xmlns:a16="http://schemas.microsoft.com/office/drawing/2014/main" id="{430196B1-A0F1-4742-8450-D4495B46D67B}"/>
              </a:ext>
            </a:extLst>
          </p:cNvPr>
          <p:cNvSpPr>
            <a:spLocks xmlns:a="http://schemas.openxmlformats.org/drawingml/2006/main" noGrp="1"/>
          </p:cNvSpPr>
          <p:nvPr/>
        </p:nvSpPr>
        <p:spPr>
          <a:xfrm xmlns:a="http://schemas.openxmlformats.org/drawingml/2006/main">
            <a:off x="933450" y="4025722"/>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Նույն offering-ի տարբեր lab group-ները կարող են ունենալ տարբեր դասախոսներ</a:t>
            </a:r>
          </a:p>
        </p:txBody>
      </p:sp>
      <p:sp>
        <p:nvSpPr>
          <p:cNvPr id="24" name="">
            <a:extLst xmlns:a="http://schemas.openxmlformats.org/drawingml/2006/main">
              <a:ext uri="{FF2B5EF4-FFF2-40B4-BE49-F238E27FC236}">
                <a16:creationId xmlns:a16="http://schemas.microsoft.com/office/drawing/2014/main" id="{05089EEC-1DDD-4821-AB53-F92970322BE5}"/>
              </a:ext>
            </a:extLst>
          </p:cNvPr>
          <p:cNvSpPr>
            <a:spLocks xmlns:a="http://schemas.openxmlformats.org/drawingml/2006/main" noGrp="1"/>
          </p:cNvSpPr>
          <p:nvPr/>
        </p:nvSpPr>
        <p:spPr>
          <a:xfrm xmlns:a="http://schemas.openxmlformats.org/drawingml/2006/main">
            <a:off x="6172200" y="3474034"/>
            <a:ext cx="5276850" cy="1224991"/>
          </a:xfrm>
          <a:prstGeom xmlns:a="http://schemas.openxmlformats.org/drawingml/2006/main" prst="roundRect">
            <a:avLst>
              <a:gd name="adj" fmla="val 13996"/>
            </a:avLst>
          </a:prstGeom>
          <a:solidFill xmlns:a="http://schemas.openxmlformats.org/drawingml/2006/main">
            <a:srgbClr val="F8FBFF"/>
          </a:solidFill>
          <a:ln xmlns:a="http://schemas.openxmlformats.org/drawingml/2006/main" w="9525">
            <a:solidFill>
              <a:srgbClr val="DCE7F4"/>
            </a:solidFill>
            <a:prstDash val="solid"/>
          </a:ln>
        </p:spPr>
      </p:sp>
      <p:sp>
        <p:nvSpPr>
          <p:cNvPr id="25" name="">
            <a:extLst xmlns:a="http://schemas.openxmlformats.org/drawingml/2006/main">
              <a:ext uri="{FF2B5EF4-FFF2-40B4-BE49-F238E27FC236}">
                <a16:creationId xmlns:a16="http://schemas.microsoft.com/office/drawing/2014/main" id="{0A23DB1F-C244-441C-9784-F1922E10F68D}"/>
              </a:ext>
            </a:extLst>
          </p:cNvPr>
          <p:cNvSpPr>
            <a:spLocks xmlns:a="http://schemas.openxmlformats.org/drawingml/2006/main" noGrp="1"/>
          </p:cNvSpPr>
          <p:nvPr/>
        </p:nvSpPr>
        <p:spPr>
          <a:xfrm xmlns:a="http://schemas.openxmlformats.org/drawingml/2006/main">
            <a:off x="6362700" y="3664534"/>
            <a:ext cx="133350" cy="133350"/>
          </a:xfrm>
          <a:prstGeom xmlns:a="http://schemas.openxmlformats.org/drawingml/2006/main" prst="ellipse">
            <a:avLst/>
          </a:prstGeom>
          <a:solidFill xmlns:a="http://schemas.openxmlformats.org/drawingml/2006/main">
            <a:srgbClr val="5FA2DA"/>
          </a:solidFill>
        </p:spPr>
      </p:sp>
      <p:sp>
        <p:nvSpPr>
          <p:cNvPr id="26" name="">
            <a:extLst xmlns:a="http://schemas.openxmlformats.org/drawingml/2006/main">
              <a:ext uri="{FF2B5EF4-FFF2-40B4-BE49-F238E27FC236}">
                <a16:creationId xmlns:a16="http://schemas.microsoft.com/office/drawing/2014/main" id="{1A284CC7-1339-46B3-A1A3-3CC4F56A1529}"/>
              </a:ext>
            </a:extLst>
          </p:cNvPr>
          <p:cNvSpPr>
            <a:spLocks xmlns:a="http://schemas.openxmlformats.org/drawingml/2006/main" noGrp="1"/>
          </p:cNvSpPr>
          <p:nvPr/>
        </p:nvSpPr>
        <p:spPr>
          <a:xfrm xmlns:a="http://schemas.openxmlformats.org/drawingml/2006/main">
            <a:off x="6591300" y="3664534"/>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Հիմնական կանոն 4</a:t>
            </a:r>
          </a:p>
        </p:txBody>
      </p:sp>
      <p:sp>
        <p:nvSpPr>
          <p:cNvPr id="27" name="">
            <a:extLst xmlns:a="http://schemas.openxmlformats.org/drawingml/2006/main">
              <a:ext uri="{FF2B5EF4-FFF2-40B4-BE49-F238E27FC236}">
                <a16:creationId xmlns:a16="http://schemas.microsoft.com/office/drawing/2014/main" id="{369F47F2-C7C0-4B03-A1F4-5819D5DC2B22}"/>
              </a:ext>
            </a:extLst>
          </p:cNvPr>
          <p:cNvSpPr>
            <a:spLocks xmlns:a="http://schemas.openxmlformats.org/drawingml/2006/main" noGrp="1"/>
          </p:cNvSpPr>
          <p:nvPr/>
        </p:nvSpPr>
        <p:spPr>
          <a:xfrm xmlns:a="http://schemas.openxmlformats.org/drawingml/2006/main">
            <a:off x="6362700" y="4025722"/>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Ուսանողի ճիշտ լաբորատորներն ու արդյունքները որոշվում են իր enrollment-ով</a:t>
            </a:r>
          </a:p>
        </p:txBody>
      </p:sp>
      <p:sp>
        <p:nvSpPr>
          <p:cNvPr id="28" name="">
            <a:extLst xmlns:a="http://schemas.openxmlformats.org/drawingml/2006/main">
              <a:ext uri="{FF2B5EF4-FFF2-40B4-BE49-F238E27FC236}">
                <a16:creationId xmlns:a16="http://schemas.microsoft.com/office/drawing/2014/main" id="{84DC6147-800D-4559-85A9-AF93C573E93E}"/>
              </a:ext>
            </a:extLst>
          </p:cNvPr>
          <p:cNvSpPr>
            <a:spLocks xmlns:a="http://schemas.openxmlformats.org/drawingml/2006/main" noGrp="1"/>
          </p:cNvSpPr>
          <p:nvPr/>
        </p:nvSpPr>
        <p:spPr>
          <a:xfrm xmlns:a="http://schemas.openxmlformats.org/drawingml/2006/main">
            <a:off x="742950" y="4699025"/>
            <a:ext cx="5276850" cy="1224991"/>
          </a:xfrm>
          <a:prstGeom xmlns:a="http://schemas.openxmlformats.org/drawingml/2006/main" prst="roundRect">
            <a:avLst>
              <a:gd name="adj" fmla="val 13996"/>
            </a:avLst>
          </a:prstGeom>
          <a:solidFill xmlns:a="http://schemas.openxmlformats.org/drawingml/2006/main">
            <a:srgbClr val="FFFAF3"/>
          </a:solidFill>
          <a:ln xmlns:a="http://schemas.openxmlformats.org/drawingml/2006/main" w="9525">
            <a:solidFill>
              <a:srgbClr val="DCE7F4"/>
            </a:solidFill>
            <a:prstDash val="solid"/>
          </a:ln>
        </p:spPr>
      </p:sp>
      <p:sp>
        <p:nvSpPr>
          <p:cNvPr id="29" name="">
            <a:extLst xmlns:a="http://schemas.openxmlformats.org/drawingml/2006/main">
              <a:ext uri="{FF2B5EF4-FFF2-40B4-BE49-F238E27FC236}">
                <a16:creationId xmlns:a16="http://schemas.microsoft.com/office/drawing/2014/main" id="{F3B210BC-AB01-44D0-AB0D-D069D81A3444}"/>
              </a:ext>
            </a:extLst>
          </p:cNvPr>
          <p:cNvSpPr>
            <a:spLocks xmlns:a="http://schemas.openxmlformats.org/drawingml/2006/main" noGrp="1"/>
          </p:cNvSpPr>
          <p:nvPr/>
        </p:nvSpPr>
        <p:spPr>
          <a:xfrm xmlns:a="http://schemas.openxmlformats.org/drawingml/2006/main">
            <a:off x="933450" y="4889525"/>
            <a:ext cx="133350" cy="133350"/>
          </a:xfrm>
          <a:prstGeom xmlns:a="http://schemas.openxmlformats.org/drawingml/2006/main" prst="ellipse">
            <a:avLst/>
          </a:prstGeom>
          <a:solidFill xmlns:a="http://schemas.openxmlformats.org/drawingml/2006/main">
            <a:srgbClr val="D98F2B"/>
          </a:solidFill>
        </p:spPr>
      </p:sp>
      <p:sp>
        <p:nvSpPr>
          <p:cNvPr id="30" name="">
            <a:extLst xmlns:a="http://schemas.openxmlformats.org/drawingml/2006/main">
              <a:ext uri="{FF2B5EF4-FFF2-40B4-BE49-F238E27FC236}">
                <a16:creationId xmlns:a16="http://schemas.microsoft.com/office/drawing/2014/main" id="{CB49EA27-655E-4C9C-8992-34D342631D9B}"/>
              </a:ext>
            </a:extLst>
          </p:cNvPr>
          <p:cNvSpPr>
            <a:spLocks xmlns:a="http://schemas.openxmlformats.org/drawingml/2006/main" noGrp="1"/>
          </p:cNvSpPr>
          <p:nvPr/>
        </p:nvSpPr>
        <p:spPr>
          <a:xfrm xmlns:a="http://schemas.openxmlformats.org/drawingml/2006/main">
            <a:off x="1162050" y="4889525"/>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Հիմնական կանոն 5</a:t>
            </a:r>
          </a:p>
        </p:txBody>
      </p:sp>
      <p:sp>
        <p:nvSpPr>
          <p:cNvPr id="31" name="">
            <a:extLst xmlns:a="http://schemas.openxmlformats.org/drawingml/2006/main">
              <a:ext uri="{FF2B5EF4-FFF2-40B4-BE49-F238E27FC236}">
                <a16:creationId xmlns:a16="http://schemas.microsoft.com/office/drawing/2014/main" id="{43257995-8413-463A-9764-A5632D3FCC31}"/>
              </a:ext>
            </a:extLst>
          </p:cNvPr>
          <p:cNvSpPr>
            <a:spLocks xmlns:a="http://schemas.openxmlformats.org/drawingml/2006/main" noGrp="1"/>
          </p:cNvSpPr>
          <p:nvPr/>
        </p:nvSpPr>
        <p:spPr>
          <a:xfrm xmlns:a="http://schemas.openxmlformats.org/drawingml/2006/main">
            <a:off x="933450" y="5250713"/>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Առարկան որպես կատալոգային միավոր տարբեր է նրա կոնկրետ կիսամյակային անցկացման փաստից</a:t>
            </a:r>
          </a:p>
        </p:txBody>
      </p:sp>
      <p:sp>
        <p:nvSpPr>
          <p:cNvPr id="32" name="">
            <a:extLst xmlns:a="http://schemas.openxmlformats.org/drawingml/2006/main">
              <a:ext uri="{FF2B5EF4-FFF2-40B4-BE49-F238E27FC236}">
                <a16:creationId xmlns:a16="http://schemas.microsoft.com/office/drawing/2014/main" id="{2D9C094F-8978-4FD2-9E9F-511CC558C3CF}"/>
              </a:ext>
            </a:extLst>
          </p:cNvPr>
          <p:cNvSpPr>
            <a:spLocks xmlns:a="http://schemas.openxmlformats.org/drawingml/2006/main" noGrp="1"/>
          </p:cNvSpPr>
          <p:nvPr/>
        </p:nvSpPr>
        <p:spPr>
          <a:xfrm xmlns:a="http://schemas.openxmlformats.org/drawingml/2006/main">
            <a:off x="6172200" y="4699025"/>
            <a:ext cx="5276850" cy="1224991"/>
          </a:xfrm>
          <a:prstGeom xmlns:a="http://schemas.openxmlformats.org/drawingml/2006/main" prst="roundRect">
            <a:avLst>
              <a:gd name="adj" fmla="val 13996"/>
            </a:avLst>
          </a:prstGeom>
          <a:solidFill xmlns:a="http://schemas.openxmlformats.org/drawingml/2006/main">
            <a:srgbClr val="FFF8F8"/>
          </a:solidFill>
          <a:ln xmlns:a="http://schemas.openxmlformats.org/drawingml/2006/main" w="9525">
            <a:solidFill>
              <a:srgbClr val="DCE7F4"/>
            </a:solidFill>
            <a:prstDash val="solid"/>
          </a:ln>
        </p:spPr>
      </p:sp>
      <p:sp>
        <p:nvSpPr>
          <p:cNvPr id="33" name="">
            <a:extLst xmlns:a="http://schemas.openxmlformats.org/drawingml/2006/main">
              <a:ext uri="{FF2B5EF4-FFF2-40B4-BE49-F238E27FC236}">
                <a16:creationId xmlns:a16="http://schemas.microsoft.com/office/drawing/2014/main" id="{FDC7A87A-B5EF-4D08-A333-4969FE6A20A3}"/>
              </a:ext>
            </a:extLst>
          </p:cNvPr>
          <p:cNvSpPr>
            <a:spLocks xmlns:a="http://schemas.openxmlformats.org/drawingml/2006/main" noGrp="1"/>
          </p:cNvSpPr>
          <p:nvPr/>
        </p:nvSpPr>
        <p:spPr>
          <a:xfrm xmlns:a="http://schemas.openxmlformats.org/drawingml/2006/main">
            <a:off x="6362700" y="4889525"/>
            <a:ext cx="133350" cy="133350"/>
          </a:xfrm>
          <a:prstGeom xmlns:a="http://schemas.openxmlformats.org/drawingml/2006/main" prst="ellipse">
            <a:avLst/>
          </a:prstGeom>
          <a:solidFill xmlns:a="http://schemas.openxmlformats.org/drawingml/2006/main">
            <a:srgbClr val="C64F4F"/>
          </a:solidFill>
        </p:spPr>
      </p:sp>
      <p:sp>
        <p:nvSpPr>
          <p:cNvPr id="34" name="">
            <a:extLst xmlns:a="http://schemas.openxmlformats.org/drawingml/2006/main">
              <a:ext uri="{FF2B5EF4-FFF2-40B4-BE49-F238E27FC236}">
                <a16:creationId xmlns:a16="http://schemas.microsoft.com/office/drawing/2014/main" id="{347F493C-CB85-45D5-9317-64F79E74D81C}"/>
              </a:ext>
            </a:extLst>
          </p:cNvPr>
          <p:cNvSpPr>
            <a:spLocks xmlns:a="http://schemas.openxmlformats.org/drawingml/2006/main" noGrp="1"/>
          </p:cNvSpPr>
          <p:nvPr/>
        </p:nvSpPr>
        <p:spPr>
          <a:xfrm xmlns:a="http://schemas.openxmlformats.org/drawingml/2006/main">
            <a:off x="6591300" y="4889525"/>
            <a:ext cx="4667250" cy="246888"/>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6324D"/>
                </a:solidFill>
                <a:latin typeface="Arian AMU"/>
                <a:ea typeface="Arian AMU"/>
                <a:cs typeface="Arian AMU"/>
              </a:defRPr>
            </a:pPr>
            <a:r>
              <a:t>Հիմնական կանոն 6</a:t>
            </a:r>
          </a:p>
        </p:txBody>
      </p:sp>
      <p:sp>
        <p:nvSpPr>
          <p:cNvPr id="35" name="">
            <a:extLst xmlns:a="http://schemas.openxmlformats.org/drawingml/2006/main">
              <a:ext uri="{FF2B5EF4-FFF2-40B4-BE49-F238E27FC236}">
                <a16:creationId xmlns:a16="http://schemas.microsoft.com/office/drawing/2014/main" id="{AD1AF082-66F3-418B-9E56-1E496421D63E}"/>
              </a:ext>
            </a:extLst>
          </p:cNvPr>
          <p:cNvSpPr>
            <a:spLocks xmlns:a="http://schemas.openxmlformats.org/drawingml/2006/main" noGrp="1"/>
          </p:cNvSpPr>
          <p:nvPr/>
        </p:nvSpPr>
        <p:spPr>
          <a:xfrm xmlns:a="http://schemas.openxmlformats.org/drawingml/2006/main">
            <a:off x="6362700" y="5250713"/>
            <a:ext cx="4895850" cy="48280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0">
                <a:solidFill>
                  <a:srgbClr val="16324D"/>
                </a:solidFill>
                <a:latin typeface="Arian AMU"/>
                <a:ea typeface="Arian AMU"/>
                <a:cs typeface="Arian AMU"/>
              </a:defRPr>
            </a:pPr>
            <a:r>
              <a:t>• Գնահատականը պահվում է կոնկրետ լաբորատոր աշխատանքի մակարդակով</a:t>
            </a:r>
          </a:p>
        </p:txBody>
      </p:sp>
      <p:sp>
        <p:nvSpPr>
          <p:cNvPr id="36" name="">
            <a:extLst xmlns:a="http://schemas.openxmlformats.org/drawingml/2006/main">
              <a:ext uri="{FF2B5EF4-FFF2-40B4-BE49-F238E27FC236}">
                <a16:creationId xmlns:a16="http://schemas.microsoft.com/office/drawing/2014/main" id="{EF5E33CA-7E23-462A-A125-6DBF24534F6D}"/>
              </a:ext>
            </a:extLst>
          </p:cNvPr>
          <p:cNvSpPr>
            <a:spLocks xmlns:a="http://schemas.openxmlformats.org/drawingml/2006/main" noGrp="1"/>
          </p:cNvSpPr>
          <p:nvPr/>
        </p:nvSpPr>
        <p:spPr>
          <a:xfrm xmlns:a="http://schemas.openxmlformats.org/drawingml/2006/main">
            <a:off x="742950" y="6095467"/>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37" name="">
            <a:extLst xmlns:a="http://schemas.openxmlformats.org/drawingml/2006/main">
              <a:ext uri="{FF2B5EF4-FFF2-40B4-BE49-F238E27FC236}">
                <a16:creationId xmlns:a16="http://schemas.microsoft.com/office/drawing/2014/main" id="{BB39D382-CC4E-4495-AE35-2E4BD37C9A62}"/>
              </a:ext>
            </a:extLst>
          </p:cNvPr>
          <p:cNvSpPr>
            <a:spLocks xmlns:a="http://schemas.openxmlformats.org/drawingml/2006/main" noGrp="1"/>
          </p:cNvSpPr>
          <p:nvPr/>
        </p:nvSpPr>
        <p:spPr>
          <a:xfrm xmlns:a="http://schemas.openxmlformats.org/drawingml/2006/main">
            <a:off x="10306050" y="6095467"/>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19</a:t>
            </a:r>
          </a:p>
        </p:txBody>
      </p:sp>
    </p:spTree>
    <p:extLst>
      <p:ext uri="{BB962C8B-B14F-4D97-AF65-F5344CB8AC3E}">
        <p14:creationId xmlns:p14="http://schemas.microsoft.com/office/powerpoint/2010/main" val="134135342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D8B4E1-05A4-4333-94FC-FB3D22CEDD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4F9FF"/>
              </a:gs>
              <a:gs pos="100000">
                <a:srgbClr val="E6F0FB"/>
              </a:gs>
            </a:gsLst>
            <a:lin ang="10800000"/>
          </a:gradFill>
        </p:spPr>
      </p:sp>
      <p:sp>
        <p:nvSpPr>
          <p:cNvPr id="2" name="">
            <a:extLst xmlns:a="http://schemas.openxmlformats.org/drawingml/2006/main">
              <a:ext uri="{FF2B5EF4-FFF2-40B4-BE49-F238E27FC236}">
                <a16:creationId xmlns:a16="http://schemas.microsoft.com/office/drawing/2014/main" id="{1B4714B9-DC5A-40B1-99A1-4120FD7BB8F1}"/>
              </a:ext>
            </a:extLst>
          </p:cNvPr>
          <p:cNvSpPr>
            <a:spLocks xmlns:a="http://schemas.openxmlformats.org/drawingml/2006/main" noGrp="1"/>
          </p:cNvSpPr>
          <p:nvPr/>
        </p:nvSpPr>
        <p:spPr>
          <a:xfrm xmlns:a="http://schemas.openxmlformats.org/drawingml/2006/main">
            <a:off x="457200" y="457200"/>
            <a:ext cx="11277600" cy="5943600"/>
          </a:xfrm>
          <a:prstGeom xmlns:a="http://schemas.openxmlformats.org/drawingml/2006/main" prst="roundRect">
            <a:avLst>
              <a:gd name="adj" fmla="val 4487"/>
            </a:avLst>
          </a:prstGeom>
          <a:solidFill xmlns:a="http://schemas.openxmlformats.org/drawingml/2006/main">
            <a:srgbClr val="FFFFFF"/>
          </a:solidFill>
          <a:ln xmlns:a="http://schemas.openxmlformats.org/drawingml/2006/main" w="9525">
            <a:solidFill>
              <a:srgbClr val="C8D8EB"/>
            </a:solidFill>
            <a:prstDash val="solid"/>
          </a:ln>
        </p:spPr>
      </p:sp>
      <p:sp>
        <p:nvSpPr>
          <p:cNvPr id="3" name="">
            <a:extLst xmlns:a="http://schemas.openxmlformats.org/drawingml/2006/main">
              <a:ext uri="{FF2B5EF4-FFF2-40B4-BE49-F238E27FC236}">
                <a16:creationId xmlns:a16="http://schemas.microsoft.com/office/drawing/2014/main" id="{53BC3E73-1AD9-481B-916A-746C8CF3CD1C}"/>
              </a:ext>
            </a:extLst>
          </p:cNvPr>
          <p:cNvSpPr>
            <a:spLocks xmlns:a="http://schemas.openxmlformats.org/drawingml/2006/main" noGrp="1"/>
          </p:cNvSpPr>
          <p:nvPr/>
        </p:nvSpPr>
        <p:spPr>
          <a:xfrm xmlns:a="http://schemas.openxmlformats.org/drawingml/2006/main">
            <a:off x="742950" y="742950"/>
            <a:ext cx="1257300" cy="57150"/>
          </a:xfrm>
          <a:prstGeom xmlns:a="http://schemas.openxmlformats.org/drawingml/2006/main" prst="roundRect">
            <a:avLst>
              <a:gd name="adj" fmla="val 50000"/>
            </a:avLst>
          </a:prstGeom>
          <a:solidFill xmlns:a="http://schemas.openxmlformats.org/drawingml/2006/main">
            <a:srgbClr val="0F4C81"/>
          </a:solidFill>
        </p:spPr>
      </p:sp>
      <p:sp>
        <p:nvSpPr>
          <p:cNvPr id="4" name="">
            <a:extLst xmlns:a="http://schemas.openxmlformats.org/drawingml/2006/main">
              <a:ext uri="{FF2B5EF4-FFF2-40B4-BE49-F238E27FC236}">
                <a16:creationId xmlns:a16="http://schemas.microsoft.com/office/drawing/2014/main" id="{E331C1DB-9F9E-49FC-9C1C-A11D48D1DAAC}"/>
              </a:ext>
            </a:extLst>
          </p:cNvPr>
          <p:cNvSpPr>
            <a:spLocks xmlns:a="http://schemas.openxmlformats.org/drawingml/2006/main" noGrp="1"/>
          </p:cNvSpPr>
          <p:nvPr/>
        </p:nvSpPr>
        <p:spPr>
          <a:xfrm xmlns:a="http://schemas.openxmlformats.org/drawingml/2006/main">
            <a:off x="742950" y="876300"/>
            <a:ext cx="1428750" cy="390906"/>
          </a:xfrm>
          <a:prstGeom xmlns:a="http://schemas.openxmlformats.org/drawingml/2006/main" prst="roundRect">
            <a:avLst>
              <a:gd name="adj" fmla="val 50000"/>
            </a:avLst>
          </a:prstGeom>
          <a:solidFill xmlns:a="http://schemas.openxmlformats.org/drawingml/2006/main">
            <a:srgbClr val="EDF5FF"/>
          </a:solidFill>
        </p:spPr>
      </p:sp>
      <p:sp>
        <p:nvSpPr>
          <p:cNvPr id="5" name="">
            <a:extLst xmlns:a="http://schemas.openxmlformats.org/drawingml/2006/main">
              <a:ext uri="{FF2B5EF4-FFF2-40B4-BE49-F238E27FC236}">
                <a16:creationId xmlns:a16="http://schemas.microsoft.com/office/drawing/2014/main" id="{B6CAB7F9-EC07-4D58-9EA6-C312BFAE9BEF}"/>
              </a:ext>
            </a:extLst>
          </p:cNvPr>
          <p:cNvSpPr>
            <a:spLocks xmlns:a="http://schemas.openxmlformats.org/drawingml/2006/main" noGrp="1"/>
          </p:cNvSpPr>
          <p:nvPr/>
        </p:nvSpPr>
        <p:spPr>
          <a:xfrm xmlns:a="http://schemas.openxmlformats.org/drawingml/2006/main">
            <a:off x="819150" y="952500"/>
            <a:ext cx="437198" cy="13716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4C81"/>
                </a:solidFill>
                <a:latin typeface="Arian AMU"/>
                <a:ea typeface="Arian AMU"/>
                <a:cs typeface="Arian AMU"/>
              </a:defRPr>
            </a:pPr>
            <a:r>
              <a:t>Փակում</a:t>
            </a:r>
          </a:p>
        </p:txBody>
      </p:sp>
      <p:sp>
        <p:nvSpPr>
          <p:cNvPr id="6" name="">
            <a:extLst xmlns:a="http://schemas.openxmlformats.org/drawingml/2006/main">
              <a:ext uri="{FF2B5EF4-FFF2-40B4-BE49-F238E27FC236}">
                <a16:creationId xmlns:a16="http://schemas.microsoft.com/office/drawing/2014/main" id="{3E873441-27BA-44CD-A25D-44EAE33C2A50}"/>
              </a:ext>
            </a:extLst>
          </p:cNvPr>
          <p:cNvSpPr>
            <a:spLocks xmlns:a="http://schemas.openxmlformats.org/drawingml/2006/main" noGrp="1"/>
          </p:cNvSpPr>
          <p:nvPr/>
        </p:nvSpPr>
        <p:spPr>
          <a:xfrm xmlns:a="http://schemas.openxmlformats.org/drawingml/2006/main">
            <a:off x="2286000" y="876300"/>
            <a:ext cx="7524750" cy="39090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6324D"/>
                </a:solidFill>
                <a:latin typeface="Arian AMU"/>
                <a:ea typeface="Arian AMU"/>
                <a:cs typeface="Arian AMU"/>
              </a:defRPr>
            </a:pPr>
            <a:r>
              <a:t>Շնորհակալություն ուշադրության համար</a:t>
            </a:r>
          </a:p>
        </p:txBody>
      </p:sp>
      <p:sp>
        <p:nvSpPr>
          <p:cNvPr id="7" name="">
            <a:extLst xmlns:a="http://schemas.openxmlformats.org/drawingml/2006/main">
              <a:ext uri="{FF2B5EF4-FFF2-40B4-BE49-F238E27FC236}">
                <a16:creationId xmlns:a16="http://schemas.microsoft.com/office/drawing/2014/main" id="{440FE424-18FD-4D94-BD2E-78BEE16EED46}"/>
              </a:ext>
            </a:extLst>
          </p:cNvPr>
          <p:cNvSpPr>
            <a:spLocks xmlns:a="http://schemas.openxmlformats.org/drawingml/2006/main" noGrp="1"/>
          </p:cNvSpPr>
          <p:nvPr/>
        </p:nvSpPr>
        <p:spPr>
          <a:xfrm xmlns:a="http://schemas.openxmlformats.org/drawingml/2006/main">
            <a:off x="742950" y="1343406"/>
            <a:ext cx="9067800" cy="21945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a:solidFill>
                  <a:srgbClr val="53697F"/>
                </a:solidFill>
                <a:latin typeface="Arian AMU"/>
                <a:ea typeface="Arian AMU"/>
                <a:cs typeface="Arian AMU"/>
              </a:defRPr>
            </a:pPr>
            <a:r>
              <a:t>Հարցեր և քննարկում տվյալների բազայի կառուցվածքի շուրջ</a:t>
            </a:r>
          </a:p>
        </p:txBody>
      </p:sp>
      <p:sp>
        <p:nvSpPr>
          <p:cNvPr id="8" name="">
            <a:extLst xmlns:a="http://schemas.openxmlformats.org/drawingml/2006/main">
              <a:ext uri="{FF2B5EF4-FFF2-40B4-BE49-F238E27FC236}">
                <a16:creationId xmlns:a16="http://schemas.microsoft.com/office/drawing/2014/main" id="{DCEA92BA-5556-4776-9AD7-08501670BFA6}"/>
              </a:ext>
            </a:extLst>
          </p:cNvPr>
          <p:cNvSpPr>
            <a:spLocks xmlns:a="http://schemas.openxmlformats.org/drawingml/2006/main" noGrp="1"/>
          </p:cNvSpPr>
          <p:nvPr/>
        </p:nvSpPr>
        <p:spPr>
          <a:xfrm xmlns:a="http://schemas.openxmlformats.org/drawingml/2006/main">
            <a:off x="10001250" y="742950"/>
            <a:ext cx="1447800" cy="1026414"/>
          </a:xfrm>
          <a:prstGeom xmlns:a="http://schemas.openxmlformats.org/drawingml/2006/main" prst="roundRect">
            <a:avLst>
              <a:gd name="adj" fmla="val 16704"/>
            </a:avLst>
          </a:prstGeom>
          <a:solidFill xmlns:a="http://schemas.openxmlformats.org/drawingml/2006/main">
            <a:srgbClr val="F5FAFF"/>
          </a:solidFill>
          <a:ln xmlns:a="http://schemas.openxmlformats.org/drawingml/2006/main" w="9525">
            <a:solidFill>
              <a:srgbClr val="DCE7F4"/>
            </a:solidFill>
            <a:prstDash val="solid"/>
          </a:ln>
        </p:spPr>
      </p:sp>
      <p:sp>
        <p:nvSpPr>
          <p:cNvPr id="9" name="">
            <a:extLst xmlns:a="http://schemas.openxmlformats.org/drawingml/2006/main">
              <a:ext uri="{FF2B5EF4-FFF2-40B4-BE49-F238E27FC236}">
                <a16:creationId xmlns:a16="http://schemas.microsoft.com/office/drawing/2014/main" id="{06C89A35-C4F2-4DD9-B159-87B369AF3CDB}"/>
              </a:ext>
            </a:extLst>
          </p:cNvPr>
          <p:cNvSpPr>
            <a:spLocks xmlns:a="http://schemas.openxmlformats.org/drawingml/2006/main" noGrp="1"/>
          </p:cNvSpPr>
          <p:nvPr/>
        </p:nvSpPr>
        <p:spPr>
          <a:xfrm xmlns:a="http://schemas.openxmlformats.org/drawingml/2006/main">
            <a:off x="10172700" y="914400"/>
            <a:ext cx="275368"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4C81"/>
                </a:solidFill>
                <a:latin typeface="Arian AMU"/>
                <a:ea typeface="Arian AMU"/>
                <a:cs typeface="Arian AMU"/>
              </a:defRPr>
            </a:pPr>
            <a:r>
              <a:t>20</a:t>
            </a:r>
          </a:p>
        </p:txBody>
      </p:sp>
      <p:sp>
        <p:nvSpPr>
          <p:cNvPr id="10" name="">
            <a:extLst xmlns:a="http://schemas.openxmlformats.org/drawingml/2006/main">
              <a:ext uri="{FF2B5EF4-FFF2-40B4-BE49-F238E27FC236}">
                <a16:creationId xmlns:a16="http://schemas.microsoft.com/office/drawing/2014/main" id="{AA351069-94D4-4580-BAE9-C7BC31E8E4FC}"/>
              </a:ext>
            </a:extLst>
          </p:cNvPr>
          <p:cNvSpPr>
            <a:spLocks xmlns:a="http://schemas.openxmlformats.org/drawingml/2006/main" noGrp="1"/>
          </p:cNvSpPr>
          <p:nvPr/>
        </p:nvSpPr>
        <p:spPr>
          <a:xfrm xmlns:a="http://schemas.openxmlformats.org/drawingml/2006/main">
            <a:off x="10172700" y="1268730"/>
            <a:ext cx="275368" cy="329184"/>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53697F"/>
                </a:solidFill>
                <a:latin typeface="Arian AMU"/>
                <a:ea typeface="Arian AMU"/>
                <a:cs typeface="Arian AMU"/>
              </a:defRPr>
            </a:pPr>
            <a:r>
              <a:t>սլայդ</a:t>
            </a:r>
          </a:p>
        </p:txBody>
      </p:sp>
      <p:sp>
        <p:nvSpPr>
          <p:cNvPr id="11" name="">
            <a:extLst xmlns:a="http://schemas.openxmlformats.org/drawingml/2006/main">
              <a:ext uri="{FF2B5EF4-FFF2-40B4-BE49-F238E27FC236}">
                <a16:creationId xmlns:a16="http://schemas.microsoft.com/office/drawing/2014/main" id="{27291199-07DE-403B-8181-F3C1A35DC9FB}"/>
              </a:ext>
            </a:extLst>
          </p:cNvPr>
          <p:cNvSpPr>
            <a:spLocks xmlns:a="http://schemas.openxmlformats.org/drawingml/2006/main" noGrp="1"/>
          </p:cNvSpPr>
          <p:nvPr/>
        </p:nvSpPr>
        <p:spPr>
          <a:xfrm xmlns:a="http://schemas.openxmlformats.org/drawingml/2006/main">
            <a:off x="742950" y="1883664"/>
            <a:ext cx="10706100" cy="9525"/>
          </a:xfrm>
          <a:prstGeom xmlns:a="http://schemas.openxmlformats.org/drawingml/2006/main" prst="rect">
            <a:avLst/>
          </a:prstGeom>
          <a:solidFill xmlns:a="http://schemas.openxmlformats.org/drawingml/2006/main">
            <a:srgbClr val="DCE7F4"/>
          </a:solidFill>
          <a:ln xmlns:a="http://schemas.openxmlformats.org/drawingml/2006/main" w="0">
            <a:solidFill>
              <a:srgbClr val="DCE7F4"/>
            </a:solidFill>
            <a:prstDash val="solid"/>
          </a:ln>
        </p:spPr>
      </p:sp>
      <p:sp>
        <p:nvSpPr>
          <p:cNvPr id="12" name="">
            <a:extLst xmlns:a="http://schemas.openxmlformats.org/drawingml/2006/main">
              <a:ext uri="{FF2B5EF4-FFF2-40B4-BE49-F238E27FC236}">
                <a16:creationId xmlns:a16="http://schemas.microsoft.com/office/drawing/2014/main" id="{CA17BB42-CC0C-42E1-A9CF-8B7E7566A155}"/>
              </a:ext>
            </a:extLst>
          </p:cNvPr>
          <p:cNvSpPr>
            <a:spLocks xmlns:a="http://schemas.openxmlformats.org/drawingml/2006/main" noGrp="1"/>
          </p:cNvSpPr>
          <p:nvPr/>
        </p:nvSpPr>
        <p:spPr>
          <a:xfrm xmlns:a="http://schemas.openxmlformats.org/drawingml/2006/main">
            <a:off x="742950" y="2064639"/>
            <a:ext cx="10706100" cy="5174742"/>
          </a:xfrm>
          <a:prstGeom xmlns:a="http://schemas.openxmlformats.org/drawingml/2006/main" prst="roundRect">
            <a:avLst>
              <a:gd name="adj" fmla="val 4418"/>
            </a:avLst>
          </a:prstGeom>
          <a:gradFill xmlns:a="http://schemas.openxmlformats.org/drawingml/2006/main">
            <a:gsLst>
              <a:gs pos="0">
                <a:srgbClr val="F7FBFF"/>
              </a:gs>
              <a:gs pos="100000">
                <a:srgbClr val="E6F0FB"/>
              </a:gs>
            </a:gsLst>
            <a:lin ang="10800000"/>
          </a:gradFill>
        </p:spPr>
      </p:sp>
      <p:sp>
        <p:nvSpPr>
          <p:cNvPr id="13" name="">
            <a:extLst xmlns:a="http://schemas.openxmlformats.org/drawingml/2006/main">
              <a:ext uri="{FF2B5EF4-FFF2-40B4-BE49-F238E27FC236}">
                <a16:creationId xmlns:a16="http://schemas.microsoft.com/office/drawing/2014/main" id="{203F945F-C611-4D85-87D4-BA047D4843A5}"/>
              </a:ext>
            </a:extLst>
          </p:cNvPr>
          <p:cNvSpPr>
            <a:spLocks xmlns:a="http://schemas.openxmlformats.org/drawingml/2006/main" noGrp="1"/>
          </p:cNvSpPr>
          <p:nvPr/>
        </p:nvSpPr>
        <p:spPr>
          <a:xfrm xmlns:a="http://schemas.openxmlformats.org/drawingml/2006/main">
            <a:off x="1066800" y="2388489"/>
            <a:ext cx="1714500" cy="57150"/>
          </a:xfrm>
          <a:prstGeom xmlns:a="http://schemas.openxmlformats.org/drawingml/2006/main" prst="roundRect">
            <a:avLst>
              <a:gd name="adj" fmla="val 50000"/>
            </a:avLst>
          </a:prstGeom>
          <a:solidFill xmlns:a="http://schemas.openxmlformats.org/drawingml/2006/main">
            <a:srgbClr val="0F4C81"/>
          </a:solidFill>
        </p:spPr>
      </p:sp>
      <p:sp>
        <p:nvSpPr>
          <p:cNvPr id="14" name="">
            <a:extLst xmlns:a="http://schemas.openxmlformats.org/drawingml/2006/main">
              <a:ext uri="{FF2B5EF4-FFF2-40B4-BE49-F238E27FC236}">
                <a16:creationId xmlns:a16="http://schemas.microsoft.com/office/drawing/2014/main" id="{56C617BD-7281-43C2-9939-69C7CFE91D33}"/>
              </a:ext>
            </a:extLst>
          </p:cNvPr>
          <p:cNvSpPr>
            <a:spLocks xmlns:a="http://schemas.openxmlformats.org/drawingml/2006/main" noGrp="1"/>
          </p:cNvSpPr>
          <p:nvPr/>
        </p:nvSpPr>
        <p:spPr>
          <a:xfrm xmlns:a="http://schemas.openxmlformats.org/drawingml/2006/main">
            <a:off x="1066800" y="2636139"/>
            <a:ext cx="1714500" cy="217627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550" b="1">
                <a:solidFill>
                  <a:srgbClr val="16324D"/>
                </a:solidFill>
                <a:latin typeface="Arian AMU"/>
                <a:ea typeface="Arian AMU"/>
                <a:cs typeface="Arian AMU"/>
              </a:defRPr>
            </a:pPr>
            <a:r>
              <a:t>Շնորհակալություն ուշադրության համար</a:t>
            </a:r>
          </a:p>
        </p:txBody>
      </p:sp>
      <p:sp>
        <p:nvSpPr>
          <p:cNvPr id="15" name="">
            <a:extLst xmlns:a="http://schemas.openxmlformats.org/drawingml/2006/main">
              <a:ext uri="{FF2B5EF4-FFF2-40B4-BE49-F238E27FC236}">
                <a16:creationId xmlns:a16="http://schemas.microsoft.com/office/drawing/2014/main" id="{27CC78F1-3EBB-49DA-B22D-8A9207C0BBF2}"/>
              </a:ext>
            </a:extLst>
          </p:cNvPr>
          <p:cNvSpPr>
            <a:spLocks xmlns:a="http://schemas.openxmlformats.org/drawingml/2006/main" noGrp="1"/>
          </p:cNvSpPr>
          <p:nvPr/>
        </p:nvSpPr>
        <p:spPr>
          <a:xfrm xmlns:a="http://schemas.openxmlformats.org/drawingml/2006/main">
            <a:off x="1066800" y="5002911"/>
            <a:ext cx="1714500" cy="123444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0">
                <a:solidFill>
                  <a:srgbClr val="53697F"/>
                </a:solidFill>
                <a:latin typeface="Arian AMU"/>
                <a:ea typeface="Arian AMU"/>
                <a:cs typeface="Arian AMU"/>
              </a:defRPr>
            </a:pPr>
            <a:r>
              <a:t>Հարցեր տվյալների բազայի կառուցվածքի և բիզնես տրամաբանության շուրջ</a:t>
            </a:r>
          </a:p>
        </p:txBody>
      </p:sp>
      <p:sp>
        <p:nvSpPr>
          <p:cNvPr id="16" name="">
            <a:extLst xmlns:a="http://schemas.openxmlformats.org/drawingml/2006/main">
              <a:ext uri="{FF2B5EF4-FFF2-40B4-BE49-F238E27FC236}">
                <a16:creationId xmlns:a16="http://schemas.microsoft.com/office/drawing/2014/main" id="{8B003380-DC94-431E-B6EB-9DA2BD831FB3}"/>
              </a:ext>
            </a:extLst>
          </p:cNvPr>
          <p:cNvSpPr>
            <a:spLocks xmlns:a="http://schemas.openxmlformats.org/drawingml/2006/main" noGrp="1"/>
          </p:cNvSpPr>
          <p:nvPr/>
        </p:nvSpPr>
        <p:spPr>
          <a:xfrm xmlns:a="http://schemas.openxmlformats.org/drawingml/2006/main">
            <a:off x="1066800" y="6427851"/>
            <a:ext cx="495300" cy="487680"/>
          </a:xfrm>
          <a:prstGeom xmlns:a="http://schemas.openxmlformats.org/drawingml/2006/main" prst="roundRect">
            <a:avLst>
              <a:gd name="adj" fmla="val 50000"/>
            </a:avLst>
          </a:prstGeom>
          <a:solidFill xmlns:a="http://schemas.openxmlformats.org/drawingml/2006/main">
            <a:srgbClr val="DFEEFF"/>
          </a:solidFill>
        </p:spPr>
      </p:sp>
      <p:sp>
        <p:nvSpPr>
          <p:cNvPr id="17" name="">
            <a:extLst xmlns:a="http://schemas.openxmlformats.org/drawingml/2006/main">
              <a:ext uri="{FF2B5EF4-FFF2-40B4-BE49-F238E27FC236}">
                <a16:creationId xmlns:a16="http://schemas.microsoft.com/office/drawing/2014/main" id="{3352612F-A270-48BB-9EF2-75BB68C6311F}"/>
              </a:ext>
            </a:extLst>
          </p:cNvPr>
          <p:cNvSpPr>
            <a:spLocks xmlns:a="http://schemas.openxmlformats.org/drawingml/2006/main" noGrp="1"/>
          </p:cNvSpPr>
          <p:nvPr/>
        </p:nvSpPr>
        <p:spPr>
          <a:xfrm xmlns:a="http://schemas.openxmlformats.org/drawingml/2006/main">
            <a:off x="1162050" y="6523101"/>
            <a:ext cx="550831" cy="14859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0F4C81"/>
                </a:solidFill>
                <a:latin typeface="Arian AMU"/>
                <a:ea typeface="Arian AMU"/>
                <a:cs typeface="Arian AMU"/>
              </a:defRPr>
            </a:pPr>
            <a:r>
              <a:t>Structure</a:t>
            </a:r>
          </a:p>
        </p:txBody>
      </p:sp>
      <p:sp>
        <p:nvSpPr>
          <p:cNvPr id="18" name="">
            <a:extLst xmlns:a="http://schemas.openxmlformats.org/drawingml/2006/main">
              <a:ext uri="{FF2B5EF4-FFF2-40B4-BE49-F238E27FC236}">
                <a16:creationId xmlns:a16="http://schemas.microsoft.com/office/drawing/2014/main" id="{2FA5251B-BC83-4A3E-9069-F1027949E3FA}"/>
              </a:ext>
            </a:extLst>
          </p:cNvPr>
          <p:cNvSpPr>
            <a:spLocks xmlns:a="http://schemas.openxmlformats.org/drawingml/2006/main" noGrp="1"/>
          </p:cNvSpPr>
          <p:nvPr/>
        </p:nvSpPr>
        <p:spPr>
          <a:xfrm xmlns:a="http://schemas.openxmlformats.org/drawingml/2006/main">
            <a:off x="1676400" y="6427851"/>
            <a:ext cx="495300" cy="487680"/>
          </a:xfrm>
          <a:prstGeom xmlns:a="http://schemas.openxmlformats.org/drawingml/2006/main" prst="roundRect">
            <a:avLst>
              <a:gd name="adj" fmla="val 50000"/>
            </a:avLst>
          </a:prstGeom>
          <a:solidFill xmlns:a="http://schemas.openxmlformats.org/drawingml/2006/main">
            <a:srgbClr val="FFFFFF"/>
          </a:solidFill>
        </p:spPr>
      </p:sp>
      <p:sp>
        <p:nvSpPr>
          <p:cNvPr id="19" name="">
            <a:extLst xmlns:a="http://schemas.openxmlformats.org/drawingml/2006/main">
              <a:ext uri="{FF2B5EF4-FFF2-40B4-BE49-F238E27FC236}">
                <a16:creationId xmlns:a16="http://schemas.microsoft.com/office/drawing/2014/main" id="{DEA76887-A5FA-4ECC-9A93-D21FC0B32CD7}"/>
              </a:ext>
            </a:extLst>
          </p:cNvPr>
          <p:cNvSpPr>
            <a:spLocks xmlns:a="http://schemas.openxmlformats.org/drawingml/2006/main" noGrp="1"/>
          </p:cNvSpPr>
          <p:nvPr/>
        </p:nvSpPr>
        <p:spPr>
          <a:xfrm xmlns:a="http://schemas.openxmlformats.org/drawingml/2006/main">
            <a:off x="1771650" y="6523101"/>
            <a:ext cx="89877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2F7CC0"/>
                </a:solidFill>
                <a:latin typeface="Arian AMU"/>
                <a:ea typeface="Arian AMU"/>
                <a:cs typeface="Arian AMU"/>
              </a:defRPr>
            </a:pPr>
            <a:r>
              <a:t>Business Logic</a:t>
            </a:r>
          </a:p>
        </p:txBody>
      </p:sp>
      <p:sp>
        <p:nvSpPr>
          <p:cNvPr id="20" name="">
            <a:extLst xmlns:a="http://schemas.openxmlformats.org/drawingml/2006/main">
              <a:ext uri="{FF2B5EF4-FFF2-40B4-BE49-F238E27FC236}">
                <a16:creationId xmlns:a16="http://schemas.microsoft.com/office/drawing/2014/main" id="{67132327-3F7A-4A82-89A7-EC04A14C5DE9}"/>
              </a:ext>
            </a:extLst>
          </p:cNvPr>
          <p:cNvSpPr>
            <a:spLocks xmlns:a="http://schemas.openxmlformats.org/drawingml/2006/main" noGrp="1"/>
          </p:cNvSpPr>
          <p:nvPr/>
        </p:nvSpPr>
        <p:spPr>
          <a:xfrm xmlns:a="http://schemas.openxmlformats.org/drawingml/2006/main">
            <a:off x="2286000" y="6427851"/>
            <a:ext cx="495300" cy="487680"/>
          </a:xfrm>
          <a:prstGeom xmlns:a="http://schemas.openxmlformats.org/drawingml/2006/main" prst="roundRect">
            <a:avLst>
              <a:gd name="adj" fmla="val 50000"/>
            </a:avLst>
          </a:prstGeom>
          <a:solidFill xmlns:a="http://schemas.openxmlformats.org/drawingml/2006/main">
            <a:srgbClr val="FFFFFF"/>
          </a:solidFill>
        </p:spPr>
      </p:sp>
      <p:sp>
        <p:nvSpPr>
          <p:cNvPr id="21" name="">
            <a:extLst xmlns:a="http://schemas.openxmlformats.org/drawingml/2006/main">
              <a:ext uri="{FF2B5EF4-FFF2-40B4-BE49-F238E27FC236}">
                <a16:creationId xmlns:a16="http://schemas.microsoft.com/office/drawing/2014/main" id="{F9A36D14-77C3-44FC-84D9-5F551C348942}"/>
              </a:ext>
            </a:extLst>
          </p:cNvPr>
          <p:cNvSpPr>
            <a:spLocks xmlns:a="http://schemas.openxmlformats.org/drawingml/2006/main" noGrp="1"/>
          </p:cNvSpPr>
          <p:nvPr/>
        </p:nvSpPr>
        <p:spPr>
          <a:xfrm xmlns:a="http://schemas.openxmlformats.org/drawingml/2006/main">
            <a:off x="2381250" y="6523101"/>
            <a:ext cx="811339" cy="29718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2F8F69"/>
                </a:solidFill>
                <a:latin typeface="Arian AMU"/>
                <a:ea typeface="Arian AMU"/>
                <a:cs typeface="Arian AMU"/>
              </a:defRPr>
            </a:pPr>
            <a:r>
              <a:t>Lab Workflow</a:t>
            </a:r>
          </a:p>
        </p:txBody>
      </p:sp>
      <p:sp>
        <p:nvSpPr>
          <p:cNvPr id="22" name="">
            <a:extLst xmlns:a="http://schemas.openxmlformats.org/drawingml/2006/main">
              <a:ext uri="{FF2B5EF4-FFF2-40B4-BE49-F238E27FC236}">
                <a16:creationId xmlns:a16="http://schemas.microsoft.com/office/drawing/2014/main" id="{9E274D83-1789-4977-9510-5202B28E4AB6}"/>
              </a:ext>
            </a:extLst>
          </p:cNvPr>
          <p:cNvSpPr>
            <a:spLocks xmlns:a="http://schemas.openxmlformats.org/drawingml/2006/main" noGrp="1"/>
          </p:cNvSpPr>
          <p:nvPr/>
        </p:nvSpPr>
        <p:spPr>
          <a:xfrm xmlns:a="http://schemas.openxmlformats.org/drawingml/2006/main">
            <a:off x="742950" y="7410831"/>
            <a:ext cx="93726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1">
                <a:solidFill>
                  <a:srgbClr val="8AA0B8"/>
                </a:solidFill>
                <a:latin typeface="Arian AMU"/>
                <a:ea typeface="Arian AMU"/>
                <a:cs typeface="Arian AMU"/>
              </a:defRPr>
            </a:pPr>
            <a:r>
              <a:t>LabCheck • MySQL schema • Armenian defense deck</a:t>
            </a:r>
          </a:p>
        </p:txBody>
      </p:sp>
      <p:sp>
        <p:nvSpPr>
          <p:cNvPr id="23" name="">
            <a:extLst xmlns:a="http://schemas.openxmlformats.org/drawingml/2006/main">
              <a:ext uri="{FF2B5EF4-FFF2-40B4-BE49-F238E27FC236}">
                <a16:creationId xmlns:a16="http://schemas.microsoft.com/office/drawing/2014/main" id="{EC58CEC4-44C0-445C-955B-3B8AE6947E1D}"/>
              </a:ext>
            </a:extLst>
          </p:cNvPr>
          <p:cNvSpPr>
            <a:spLocks xmlns:a="http://schemas.openxmlformats.org/drawingml/2006/main" noGrp="1"/>
          </p:cNvSpPr>
          <p:nvPr/>
        </p:nvSpPr>
        <p:spPr>
          <a:xfrm xmlns:a="http://schemas.openxmlformats.org/drawingml/2006/main">
            <a:off x="10306050" y="7410831"/>
            <a:ext cx="1143000" cy="16459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00" b="1">
                <a:solidFill>
                  <a:srgbClr val="0F4C81"/>
                </a:solidFill>
                <a:latin typeface="Arian AMU"/>
                <a:ea typeface="Arian AMU"/>
                <a:cs typeface="Arian AMU"/>
              </a:defRPr>
            </a:pPr>
            <a:r>
              <a:t>20</a:t>
            </a:r>
          </a:p>
        </p:txBody>
      </p:sp>
    </p:spTree>
    <p:extLst>
      <p:ext uri="{BB962C8B-B14F-4D97-AF65-F5344CB8AC3E}">
        <p14:creationId xmlns:p14="http://schemas.microsoft.com/office/powerpoint/2010/main" val="1234232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2026-06-02T10:27:33.4420000Z</dcterms:created>
  <dcterms:modified xsi:type="dcterms:W3CDTF">2026-06-02T10:27:33.4420000Z</dcterms:modified>
</coreProperties>
</file>